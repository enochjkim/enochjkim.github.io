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60" r:id="rId4"/>
    <p:sldMasterId id="2147483672" r:id="rId5"/>
  </p:sldMasterIdLst>
  <p:notesMasterIdLst>
    <p:notesMasterId r:id="rId25"/>
  </p:notesMasterIdLst>
  <p:sldIdLst>
    <p:sldId id="546" r:id="rId6"/>
    <p:sldId id="550" r:id="rId7"/>
    <p:sldId id="547" r:id="rId8"/>
    <p:sldId id="548" r:id="rId9"/>
    <p:sldId id="715" r:id="rId10"/>
    <p:sldId id="560" r:id="rId11"/>
    <p:sldId id="562" r:id="rId12"/>
    <p:sldId id="558" r:id="rId13"/>
    <p:sldId id="559" r:id="rId14"/>
    <p:sldId id="723" r:id="rId15"/>
    <p:sldId id="728" r:id="rId16"/>
    <p:sldId id="554" r:id="rId17"/>
    <p:sldId id="693" r:id="rId18"/>
    <p:sldId id="716" r:id="rId19"/>
    <p:sldId id="722" r:id="rId20"/>
    <p:sldId id="727" r:id="rId21"/>
    <p:sldId id="549" r:id="rId22"/>
    <p:sldId id="552" r:id="rId23"/>
    <p:sldId id="55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4F8BE6B-24BD-B38C-8119-6305200DD014}" name="Chu" initials="SC" userId="Chu"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FEC208"/>
    <a:srgbClr val="D4EFF8"/>
    <a:srgbClr val="0033CC"/>
    <a:srgbClr val="3763B1"/>
    <a:srgbClr val="AB8100"/>
    <a:srgbClr val="F0EA00"/>
    <a:srgbClr val="E8D9F3"/>
    <a:srgbClr val="9E0000"/>
    <a:srgbClr val="C1B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142004-2998-45C7-A04A-B0B1B955F14E}" v="87" dt="2025-05-14T14:10:49.928"/>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8" autoAdjust="0"/>
    <p:restoredTop sz="83014" autoAdjust="0"/>
  </p:normalViewPr>
  <p:slideViewPr>
    <p:cSldViewPr snapToGrid="0">
      <p:cViewPr varScale="1">
        <p:scale>
          <a:sx n="73" d="100"/>
          <a:sy n="73" d="100"/>
        </p:scale>
        <p:origin x="208" y="768"/>
      </p:cViewPr>
      <p:guideLst/>
    </p:cSldViewPr>
  </p:slideViewPr>
  <p:notesTextViewPr>
    <p:cViewPr>
      <p:scale>
        <a:sx n="1" d="1"/>
        <a:sy n="1" d="1"/>
      </p:scale>
      <p:origin x="0" y="0"/>
    </p:cViewPr>
  </p:notesTextViewPr>
  <p:notesViewPr>
    <p:cSldViewPr snapToGrid="0">
      <p:cViewPr varScale="1">
        <p:scale>
          <a:sx n="98" d="100"/>
          <a:sy n="98" d="100"/>
        </p:scale>
        <p:origin x="265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 Enoch (LaRC-D307)[Intern]" userId="2b7baeb3-33ab-43b8-914e-289a2ea40329" providerId="ADAL" clId="{9F142004-2998-45C7-A04A-B0B1B955F14E}"/>
    <pc:docChg chg="undo custSel addSld delSld modSld">
      <pc:chgData name="Kim, Enoch (LaRC-D307)[Intern]" userId="2b7baeb3-33ab-43b8-914e-289a2ea40329" providerId="ADAL" clId="{9F142004-2998-45C7-A04A-B0B1B955F14E}" dt="2025-05-14T17:59:43.973" v="802" actId="20577"/>
      <pc:docMkLst>
        <pc:docMk/>
      </pc:docMkLst>
      <pc:sldChg chg="modSp mod">
        <pc:chgData name="Kim, Enoch (LaRC-D307)[Intern]" userId="2b7baeb3-33ab-43b8-914e-289a2ea40329" providerId="ADAL" clId="{9F142004-2998-45C7-A04A-B0B1B955F14E}" dt="2025-05-14T13:43:09.731" v="331" actId="20577"/>
        <pc:sldMkLst>
          <pc:docMk/>
          <pc:sldMk cId="3491332831" sldId="546"/>
        </pc:sldMkLst>
        <pc:spChg chg="mod">
          <ac:chgData name="Kim, Enoch (LaRC-D307)[Intern]" userId="2b7baeb3-33ab-43b8-914e-289a2ea40329" providerId="ADAL" clId="{9F142004-2998-45C7-A04A-B0B1B955F14E}" dt="2025-05-14T13:43:09.731" v="331" actId="20577"/>
          <ac:spMkLst>
            <pc:docMk/>
            <pc:sldMk cId="3491332831" sldId="546"/>
            <ac:spMk id="2" creationId="{00000000-0000-0000-0000-000000000000}"/>
          </ac:spMkLst>
        </pc:spChg>
      </pc:sldChg>
      <pc:sldChg chg="modNotesTx">
        <pc:chgData name="Kim, Enoch (LaRC-D307)[Intern]" userId="2b7baeb3-33ab-43b8-914e-289a2ea40329" providerId="ADAL" clId="{9F142004-2998-45C7-A04A-B0B1B955F14E}" dt="2025-05-14T14:13:18.983" v="502" actId="20577"/>
        <pc:sldMkLst>
          <pc:docMk/>
          <pc:sldMk cId="2527404826" sldId="547"/>
        </pc:sldMkLst>
      </pc:sldChg>
      <pc:sldChg chg="modNotesTx">
        <pc:chgData name="Kim, Enoch (LaRC-D307)[Intern]" userId="2b7baeb3-33ab-43b8-914e-289a2ea40329" providerId="ADAL" clId="{9F142004-2998-45C7-A04A-B0B1B955F14E}" dt="2025-05-14T14:21:44.736" v="616" actId="20577"/>
        <pc:sldMkLst>
          <pc:docMk/>
          <pc:sldMk cId="62649620" sldId="548"/>
        </pc:sldMkLst>
      </pc:sldChg>
      <pc:sldChg chg="modNotesTx">
        <pc:chgData name="Kim, Enoch (LaRC-D307)[Intern]" userId="2b7baeb3-33ab-43b8-914e-289a2ea40329" providerId="ADAL" clId="{9F142004-2998-45C7-A04A-B0B1B955F14E}" dt="2025-05-14T14:40:11.788" v="753" actId="20577"/>
        <pc:sldMkLst>
          <pc:docMk/>
          <pc:sldMk cId="1226043817" sldId="550"/>
        </pc:sldMkLst>
      </pc:sldChg>
      <pc:sldChg chg="addSp delSp modSp mod modNotesTx">
        <pc:chgData name="Kim, Enoch (LaRC-D307)[Intern]" userId="2b7baeb3-33ab-43b8-914e-289a2ea40329" providerId="ADAL" clId="{9F142004-2998-45C7-A04A-B0B1B955F14E}" dt="2025-05-14T17:59:43.973" v="802" actId="20577"/>
        <pc:sldMkLst>
          <pc:docMk/>
          <pc:sldMk cId="3395995446" sldId="553"/>
        </pc:sldMkLst>
        <pc:spChg chg="mod">
          <ac:chgData name="Kim, Enoch (LaRC-D307)[Intern]" userId="2b7baeb3-33ab-43b8-914e-289a2ea40329" providerId="ADAL" clId="{9F142004-2998-45C7-A04A-B0B1B955F14E}" dt="2025-05-14T14:10:44.431" v="440" actId="20577"/>
          <ac:spMkLst>
            <pc:docMk/>
            <pc:sldMk cId="3395995446" sldId="553"/>
            <ac:spMk id="3" creationId="{00000000-0000-0000-0000-000000000000}"/>
          </ac:spMkLst>
        </pc:spChg>
        <pc:picChg chg="del">
          <ac:chgData name="Kim, Enoch (LaRC-D307)[Intern]" userId="2b7baeb3-33ab-43b8-914e-289a2ea40329" providerId="ADAL" clId="{9F142004-2998-45C7-A04A-B0B1B955F14E}" dt="2025-05-14T13:39:49.016" v="254" actId="478"/>
          <ac:picMkLst>
            <pc:docMk/>
            <pc:sldMk cId="3395995446" sldId="553"/>
            <ac:picMk id="6" creationId="{318C8238-34BA-900B-C483-81218963842C}"/>
          </ac:picMkLst>
        </pc:picChg>
        <pc:picChg chg="mod">
          <ac:chgData name="Kim, Enoch (LaRC-D307)[Intern]" userId="2b7baeb3-33ab-43b8-914e-289a2ea40329" providerId="ADAL" clId="{9F142004-2998-45C7-A04A-B0B1B955F14E}" dt="2025-05-14T13:40:40.453" v="314" actId="1036"/>
          <ac:picMkLst>
            <pc:docMk/>
            <pc:sldMk cId="3395995446" sldId="553"/>
            <ac:picMk id="7" creationId="{1D366538-0BAA-D19B-7EA6-76389DB608AF}"/>
          </ac:picMkLst>
        </pc:picChg>
        <pc:picChg chg="add mod">
          <ac:chgData name="Kim, Enoch (LaRC-D307)[Intern]" userId="2b7baeb3-33ab-43b8-914e-289a2ea40329" providerId="ADAL" clId="{9F142004-2998-45C7-A04A-B0B1B955F14E}" dt="2025-05-14T13:40:40.453" v="314" actId="1036"/>
          <ac:picMkLst>
            <pc:docMk/>
            <pc:sldMk cId="3395995446" sldId="553"/>
            <ac:picMk id="8" creationId="{7BC6C4CA-018F-97EC-87CE-2742589566E3}"/>
          </ac:picMkLst>
        </pc:picChg>
        <pc:picChg chg="add mod">
          <ac:chgData name="Kim, Enoch (LaRC-D307)[Intern]" userId="2b7baeb3-33ab-43b8-914e-289a2ea40329" providerId="ADAL" clId="{9F142004-2998-45C7-A04A-B0B1B955F14E}" dt="2025-05-14T14:09:44.386" v="438"/>
          <ac:picMkLst>
            <pc:docMk/>
            <pc:sldMk cId="3395995446" sldId="553"/>
            <ac:picMk id="2050" creationId="{2C4E5968-1B63-E351-E6C9-072A0572095E}"/>
          </ac:picMkLst>
        </pc:picChg>
        <pc:picChg chg="add mod">
          <ac:chgData name="Kim, Enoch (LaRC-D307)[Intern]" userId="2b7baeb3-33ab-43b8-914e-289a2ea40329" providerId="ADAL" clId="{9F142004-2998-45C7-A04A-B0B1B955F14E}" dt="2025-05-14T14:09:34.876" v="436"/>
          <ac:picMkLst>
            <pc:docMk/>
            <pc:sldMk cId="3395995446" sldId="553"/>
            <ac:picMk id="2051" creationId="{9BFD2ECD-EE06-5830-C1A6-F1052BA46DEF}"/>
          </ac:picMkLst>
        </pc:picChg>
      </pc:sldChg>
      <pc:sldChg chg="modSp mod">
        <pc:chgData name="Kim, Enoch (LaRC-D307)[Intern]" userId="2b7baeb3-33ab-43b8-914e-289a2ea40329" providerId="ADAL" clId="{9F142004-2998-45C7-A04A-B0B1B955F14E}" dt="2025-05-14T13:44:49.648" v="348" actId="20577"/>
        <pc:sldMkLst>
          <pc:docMk/>
          <pc:sldMk cId="424083308" sldId="559"/>
        </pc:sldMkLst>
        <pc:spChg chg="mod">
          <ac:chgData name="Kim, Enoch (LaRC-D307)[Intern]" userId="2b7baeb3-33ab-43b8-914e-289a2ea40329" providerId="ADAL" clId="{9F142004-2998-45C7-A04A-B0B1B955F14E}" dt="2025-05-14T13:44:49.648" v="348" actId="20577"/>
          <ac:spMkLst>
            <pc:docMk/>
            <pc:sldMk cId="424083308" sldId="559"/>
            <ac:spMk id="12" creationId="{6A845FFE-B58C-FEFE-8D1F-A25A41F7271E}"/>
          </ac:spMkLst>
        </pc:spChg>
      </pc:sldChg>
      <pc:sldChg chg="modNotesTx">
        <pc:chgData name="Kim, Enoch (LaRC-D307)[Intern]" userId="2b7baeb3-33ab-43b8-914e-289a2ea40329" providerId="ADAL" clId="{9F142004-2998-45C7-A04A-B0B1B955F14E}" dt="2025-05-14T14:22:14.203" v="720" actId="20577"/>
        <pc:sldMkLst>
          <pc:docMk/>
          <pc:sldMk cId="3649702395" sldId="560"/>
        </pc:sldMkLst>
      </pc:sldChg>
      <pc:sldChg chg="modSp mod">
        <pc:chgData name="Kim, Enoch (LaRC-D307)[Intern]" userId="2b7baeb3-33ab-43b8-914e-289a2ea40329" providerId="ADAL" clId="{9F142004-2998-45C7-A04A-B0B1B955F14E}" dt="2025-05-14T13:19:46.067" v="10" actId="20577"/>
        <pc:sldMkLst>
          <pc:docMk/>
          <pc:sldMk cId="648415046" sldId="722"/>
        </pc:sldMkLst>
        <pc:spChg chg="mod">
          <ac:chgData name="Kim, Enoch (LaRC-D307)[Intern]" userId="2b7baeb3-33ab-43b8-914e-289a2ea40329" providerId="ADAL" clId="{9F142004-2998-45C7-A04A-B0B1B955F14E}" dt="2025-05-14T13:19:46.067" v="10" actId="20577"/>
          <ac:spMkLst>
            <pc:docMk/>
            <pc:sldMk cId="648415046" sldId="722"/>
            <ac:spMk id="2" creationId="{2A4372DE-4166-051D-78CE-97AF8E464C7B}"/>
          </ac:spMkLst>
        </pc:spChg>
      </pc:sldChg>
      <pc:sldChg chg="modSp mod">
        <pc:chgData name="Kim, Enoch (LaRC-D307)[Intern]" userId="2b7baeb3-33ab-43b8-914e-289a2ea40329" providerId="ADAL" clId="{9F142004-2998-45C7-A04A-B0B1B955F14E}" dt="2025-05-14T13:44:20.714" v="337" actId="20577"/>
        <pc:sldMkLst>
          <pc:docMk/>
          <pc:sldMk cId="4135762254" sldId="723"/>
        </pc:sldMkLst>
        <pc:graphicFrameChg chg="modGraphic">
          <ac:chgData name="Kim, Enoch (LaRC-D307)[Intern]" userId="2b7baeb3-33ab-43b8-914e-289a2ea40329" providerId="ADAL" clId="{9F142004-2998-45C7-A04A-B0B1B955F14E}" dt="2025-05-14T13:44:20.714" v="337" actId="20577"/>
          <ac:graphicFrameMkLst>
            <pc:docMk/>
            <pc:sldMk cId="4135762254" sldId="723"/>
            <ac:graphicFrameMk id="3" creationId="{992F5E3F-CEF9-ABB9-3B39-C468080ABA68}"/>
          </ac:graphicFrameMkLst>
        </pc:graphicFrameChg>
        <pc:graphicFrameChg chg="modGraphic">
          <ac:chgData name="Kim, Enoch (LaRC-D307)[Intern]" userId="2b7baeb3-33ab-43b8-914e-289a2ea40329" providerId="ADAL" clId="{9F142004-2998-45C7-A04A-B0B1B955F14E}" dt="2025-05-14T13:43:56.678" v="333" actId="20577"/>
          <ac:graphicFrameMkLst>
            <pc:docMk/>
            <pc:sldMk cId="4135762254" sldId="723"/>
            <ac:graphicFrameMk id="5" creationId="{09BF60F9-A23F-9025-EEEC-F20B4D952AA7}"/>
          </ac:graphicFrameMkLst>
        </pc:graphicFrameChg>
      </pc:sldChg>
      <pc:sldChg chg="del">
        <pc:chgData name="Kim, Enoch (LaRC-D307)[Intern]" userId="2b7baeb3-33ab-43b8-914e-289a2ea40329" providerId="ADAL" clId="{9F142004-2998-45C7-A04A-B0B1B955F14E}" dt="2025-05-14T13:44:41.054" v="340" actId="47"/>
        <pc:sldMkLst>
          <pc:docMk/>
          <pc:sldMk cId="219920451" sldId="726"/>
        </pc:sldMkLst>
      </pc:sldChg>
      <pc:sldChg chg="modSp mod">
        <pc:chgData name="Kim, Enoch (LaRC-D307)[Intern]" userId="2b7baeb3-33ab-43b8-914e-289a2ea40329" providerId="ADAL" clId="{9F142004-2998-45C7-A04A-B0B1B955F14E}" dt="2025-05-14T14:40:38.229" v="771" actId="1035"/>
        <pc:sldMkLst>
          <pc:docMk/>
          <pc:sldMk cId="2508249685" sldId="727"/>
        </pc:sldMkLst>
        <pc:picChg chg="mod">
          <ac:chgData name="Kim, Enoch (LaRC-D307)[Intern]" userId="2b7baeb3-33ab-43b8-914e-289a2ea40329" providerId="ADAL" clId="{9F142004-2998-45C7-A04A-B0B1B955F14E}" dt="2025-05-14T14:40:38.229" v="771" actId="1035"/>
          <ac:picMkLst>
            <pc:docMk/>
            <pc:sldMk cId="2508249685" sldId="727"/>
            <ac:picMk id="6" creationId="{1B283C60-EF88-F63E-4AEA-74BBA2B7C983}"/>
          </ac:picMkLst>
        </pc:picChg>
        <pc:picChg chg="mod">
          <ac:chgData name="Kim, Enoch (LaRC-D307)[Intern]" userId="2b7baeb3-33ab-43b8-914e-289a2ea40329" providerId="ADAL" clId="{9F142004-2998-45C7-A04A-B0B1B955F14E}" dt="2025-05-14T14:40:38.229" v="771" actId="1035"/>
          <ac:picMkLst>
            <pc:docMk/>
            <pc:sldMk cId="2508249685" sldId="727"/>
            <ac:picMk id="7" creationId="{81F3A6D9-B96D-2425-8E24-EC0729165BE4}"/>
          </ac:picMkLst>
        </pc:picChg>
      </pc:sldChg>
      <pc:sldChg chg="addSp modSp add">
        <pc:chgData name="Kim, Enoch (LaRC-D307)[Intern]" userId="2b7baeb3-33ab-43b8-914e-289a2ea40329" providerId="ADAL" clId="{9F142004-2998-45C7-A04A-B0B1B955F14E}" dt="2025-05-14T13:44:38.569" v="339"/>
        <pc:sldMkLst>
          <pc:docMk/>
          <pc:sldMk cId="3039633803" sldId="728"/>
        </pc:sldMkLst>
        <pc:spChg chg="add mod">
          <ac:chgData name="Kim, Enoch (LaRC-D307)[Intern]" userId="2b7baeb3-33ab-43b8-914e-289a2ea40329" providerId="ADAL" clId="{9F142004-2998-45C7-A04A-B0B1B955F14E}" dt="2025-05-14T13:44:38.569" v="339"/>
          <ac:spMkLst>
            <pc:docMk/>
            <pc:sldMk cId="3039633803" sldId="728"/>
            <ac:spMk id="8" creationId="{8E7BBBA0-251F-071A-EA3B-93350680DB2D}"/>
          </ac:spMkLst>
        </pc:spChg>
        <pc:spChg chg="add mod">
          <ac:chgData name="Kim, Enoch (LaRC-D307)[Intern]" userId="2b7baeb3-33ab-43b8-914e-289a2ea40329" providerId="ADAL" clId="{9F142004-2998-45C7-A04A-B0B1B955F14E}" dt="2025-05-14T13:44:38.569" v="339"/>
          <ac:spMkLst>
            <pc:docMk/>
            <pc:sldMk cId="3039633803" sldId="728"/>
            <ac:spMk id="10" creationId="{98561585-BE0D-2F90-346B-E0A3BC2265A9}"/>
          </ac:spMkLst>
        </pc:spChg>
        <pc:spChg chg="add mod">
          <ac:chgData name="Kim, Enoch (LaRC-D307)[Intern]" userId="2b7baeb3-33ab-43b8-914e-289a2ea40329" providerId="ADAL" clId="{9F142004-2998-45C7-A04A-B0B1B955F14E}" dt="2025-05-14T13:44:38.569" v="339"/>
          <ac:spMkLst>
            <pc:docMk/>
            <pc:sldMk cId="3039633803" sldId="728"/>
            <ac:spMk id="14" creationId="{C08D83F6-5E34-3B88-0E7F-BFF8EE8EFD78}"/>
          </ac:spMkLst>
        </pc:spChg>
      </pc:sldChg>
    </pc:docChg>
  </pc:docChgLst>
</pc:chgInfo>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https://nasa-my.sharepoint.com/personal/ekim18_ndc_nasa_gov/Documents/Documents/Data/EXCEL/FiberDiameters.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'Hemp 1 Individual'!$B$2:$F$2</cx:f>
        <cx:lvl ptCount="5" formatCode="General">
          <cx:pt idx="0">24.609999999999999</cx:pt>
          <cx:pt idx="1">21.742000000000001</cx:pt>
          <cx:pt idx="2">20.274999999999999</cx:pt>
          <cx:pt idx="3">18.922999999999998</cx:pt>
          <cx:pt idx="4">13.516</cx:pt>
        </cx:lvl>
      </cx:numDim>
    </cx:data>
    <cx:data id="1">
      <cx:numDim type="val">
        <cx:f>'Hemp 1 Individual'!$B$3:$F$3</cx:f>
        <cx:lvl ptCount="5" formatCode="General">
          <cx:pt idx="0">21.911000000000001</cx:pt>
          <cx:pt idx="1">19.024999999999999</cx:pt>
          <cx:pt idx="2">25.056000000000001</cx:pt>
          <cx:pt idx="3">24.609999999999999</cx:pt>
          <cx:pt idx="4">21.911000000000001</cx:pt>
        </cx:lvl>
      </cx:numDim>
    </cx:data>
    <cx:data id="2">
      <cx:numDim type="val">
        <cx:f>'Hemp 1 Individual'!$B$4:$F$4</cx:f>
        <cx:lvl ptCount="5" formatCode="General">
          <cx:pt idx="0">30.385000000000002</cx:pt>
          <cx:pt idx="1">27.716000000000001</cx:pt>
          <cx:pt idx="2">33.616999999999997</cx:pt>
          <cx:pt idx="3">29.27</cx:pt>
          <cx:pt idx="4">24.460000000000001</cx:pt>
        </cx:lvl>
      </cx:numDim>
    </cx:data>
    <cx:data id="3">
      <cx:numDim type="val">
        <cx:f>'Hemp 1 Individual'!$B$5:$F$5</cx:f>
        <cx:lvl ptCount="5" formatCode="General">
          <cx:pt idx="0">30.018999999999998</cx:pt>
          <cx:pt idx="1">24.367000000000001</cx:pt>
          <cx:pt idx="2">16.276</cx:pt>
          <cx:pt idx="3">19.352</cx:pt>
          <cx:pt idx="4">17.138999999999999</cx:pt>
        </cx:lvl>
      </cx:numDim>
    </cx:data>
    <cx:data id="4">
      <cx:numDim type="val">
        <cx:f>'Hemp 1 Individual'!$B$6:$F$6</cx:f>
        <cx:lvl ptCount="5" formatCode="General">
          <cx:pt idx="0">24.097000000000001</cx:pt>
          <cx:pt idx="1">16.603000000000002</cx:pt>
          <cx:pt idx="2">22.597000000000001</cx:pt>
          <cx:pt idx="3">27.43</cx:pt>
          <cx:pt idx="4">33.375</cx:pt>
        </cx:lvl>
      </cx:numDim>
    </cx:data>
    <cx:data id="5">
      <cx:numDim type="val">
        <cx:f>'Hemp 1 Individual'!$B$7:$F$7</cx:f>
        <cx:lvl ptCount="5" formatCode="General">
          <cx:pt idx="0">12.025</cx:pt>
          <cx:pt idx="1">16.535</cx:pt>
          <cx:pt idx="2">15.106</cx:pt>
          <cx:pt idx="3">21.657</cx:pt>
          <cx:pt idx="4">25.809999999999999</cx:pt>
        </cx:lvl>
      </cx:numDim>
    </cx:data>
    <cx:data id="6">
      <cx:numDim type="val">
        <cx:f>'Hemp 1 Individual'!$B$8:$F$8</cx:f>
        <cx:lvl ptCount="5" formatCode="General">
          <cx:pt idx="0">26.609999999999999</cx:pt>
          <cx:pt idx="1">28.370000000000001</cx:pt>
          <cx:pt idx="2">27.321000000000002</cx:pt>
          <cx:pt idx="3">18.913</cx:pt>
          <cx:pt idx="4">22.966000000000001</cx:pt>
        </cx:lvl>
      </cx:numDim>
    </cx:data>
    <cx:data id="7">
      <cx:numDim type="val">
        <cx:f>'Hemp 1 Individual'!$B$9:$F$9</cx:f>
        <cx:lvl ptCount="5" formatCode="General">
          <cx:pt idx="0">15.103999999999999</cx:pt>
          <cx:pt idx="1">20.443000000000001</cx:pt>
          <cx:pt idx="2">21.992000000000001</cx:pt>
          <cx:pt idx="3">28.658000000000001</cx:pt>
          <cx:pt idx="4">20.082999999999998</cx:pt>
        </cx:lvl>
      </cx:numDim>
    </cx:data>
    <cx:data id="8">
      <cx:numDim type="val">
        <cx:f>'Hemp 1 Individual'!$B$10:$F$10</cx:f>
        <cx:lvl ptCount="5" formatCode="General">
          <cx:pt idx="0">12.233000000000001</cx:pt>
          <cx:pt idx="1">12.157999999999999</cx:pt>
          <cx:pt idx="2">20.972000000000001</cx:pt>
          <cx:pt idx="3">23.593</cx:pt>
          <cx:pt idx="4">13.577</cx:pt>
        </cx:lvl>
      </cx:numDim>
    </cx:data>
  </cx:chartData>
  <cx:chart>
    <cx:title pos="t" align="ctr" overlay="0">
      <cx:tx>
        <cx:rich>
          <a:bodyPr spcFirstLastPara="1" vertOverflow="ellipsis" horzOverflow="overflow" wrap="square" lIns="0" tIns="0" rIns="0" bIns="0" anchor="ctr" anchorCtr="1"/>
          <a:lstStyle/>
          <a:p>
            <a:pPr rtl="0"/>
            <a:r>
              <a:rPr lang="en-US" sz="1800" b="1" i="0" cap="all" baseline="0" dirty="0">
                <a:solidFill>
                  <a:schemeClr val="tx1">
                    <a:lumMod val="50000"/>
                    <a:lumOff val="50000"/>
                  </a:schemeClr>
                </a:solidFill>
                <a:effectLst/>
                <a:latin typeface="Aptos" panose="020B0004020202020204" pitchFamily="34" charset="0"/>
              </a:rPr>
              <a:t>Hemp 1 Individual Fiber Diameter From Optical Microscope</a:t>
            </a:r>
            <a:endParaRPr lang="en-US" sz="1400" dirty="0">
              <a:solidFill>
                <a:schemeClr val="tx1">
                  <a:lumMod val="50000"/>
                  <a:lumOff val="50000"/>
                </a:schemeClr>
              </a:solidFill>
              <a:effectLst/>
              <a:latin typeface="Aptos" panose="020B0004020202020204" pitchFamily="34" charset="0"/>
            </a:endParaRPr>
          </a:p>
        </cx:rich>
      </cx:tx>
    </cx:title>
    <cx:plotArea>
      <cx:plotAreaRegion>
        <cx:series layoutId="boxWhisker" uniqueId="{7BF58D24-E56F-476B-AEA6-1D08B770275F}">
          <cx:tx>
            <cx:txData>
              <cx:f>'Hemp 1 Individual'!$A$2</cx:f>
              <cx:v>Fiber 1</cx:v>
            </cx:txData>
          </cx:tx>
          <cx:dataId val="0"/>
          <cx:layoutPr>
            <cx:visibility meanLine="1" meanMarker="1"/>
            <cx:statistics quartileMethod="exclusive"/>
          </cx:layoutPr>
        </cx:series>
        <cx:series layoutId="boxWhisker" uniqueId="{207D7030-4560-4B8C-8ADC-571C2728C73E}">
          <cx:tx>
            <cx:txData>
              <cx:f>'Hemp 1 Individual'!$A$3</cx:f>
              <cx:v>Fiber 2</cx:v>
            </cx:txData>
          </cx:tx>
          <cx:dataId val="1"/>
          <cx:layoutPr>
            <cx:visibility meanLine="1" meanMarker="1"/>
            <cx:statistics quartileMethod="exclusive"/>
          </cx:layoutPr>
        </cx:series>
        <cx:series layoutId="boxWhisker" uniqueId="{A4A1097E-A161-4B3F-B1DA-E572E6EA97E6}">
          <cx:tx>
            <cx:txData>
              <cx:f>'Hemp 1 Individual'!$A$4</cx:f>
              <cx:v>Fiber 3</cx:v>
            </cx:txData>
          </cx:tx>
          <cx:dataId val="2"/>
          <cx:layoutPr>
            <cx:visibility meanLine="1" meanMarker="1"/>
            <cx:statistics quartileMethod="exclusive"/>
          </cx:layoutPr>
        </cx:series>
        <cx:series layoutId="boxWhisker" uniqueId="{2C130A37-85CF-49B9-8C0D-5D614A6F0050}">
          <cx:tx>
            <cx:txData>
              <cx:f>'Hemp 1 Individual'!$A$5</cx:f>
              <cx:v>Fiber 4</cx:v>
            </cx:txData>
          </cx:tx>
          <cx:dataId val="3"/>
          <cx:layoutPr>
            <cx:visibility meanLine="1" meanMarker="1"/>
            <cx:statistics quartileMethod="exclusive"/>
          </cx:layoutPr>
        </cx:series>
        <cx:series layoutId="boxWhisker" uniqueId="{70EAD313-16A0-4A33-B44F-7D088C1009BD}">
          <cx:tx>
            <cx:txData>
              <cx:f>'Hemp 1 Individual'!$A$6</cx:f>
              <cx:v>Fiber 5</cx:v>
            </cx:txData>
          </cx:tx>
          <cx:dataId val="4"/>
          <cx:layoutPr>
            <cx:visibility meanLine="1" meanMarker="1"/>
            <cx:statistics quartileMethod="exclusive"/>
          </cx:layoutPr>
        </cx:series>
        <cx:series layoutId="boxWhisker" uniqueId="{9B97EAEA-AABD-4D57-AB29-6E78C037C869}">
          <cx:tx>
            <cx:txData>
              <cx:f>'Hemp 1 Individual'!$A$7</cx:f>
              <cx:v>Fiber 6</cx:v>
            </cx:txData>
          </cx:tx>
          <cx:dataId val="5"/>
          <cx:layoutPr>
            <cx:visibility meanLine="1" meanMarker="1"/>
            <cx:statistics quartileMethod="exclusive"/>
          </cx:layoutPr>
        </cx:series>
        <cx:series layoutId="boxWhisker" uniqueId="{50D5F576-2D18-46A6-B772-8AEC151B4895}">
          <cx:tx>
            <cx:txData>
              <cx:f>'Hemp 1 Individual'!$A$8</cx:f>
              <cx:v>Fiber 7</cx:v>
            </cx:txData>
          </cx:tx>
          <cx:dataId val="6"/>
          <cx:layoutPr>
            <cx:visibility meanLine="1" meanMarker="1"/>
            <cx:statistics quartileMethod="exclusive"/>
          </cx:layoutPr>
        </cx:series>
        <cx:series layoutId="boxWhisker" uniqueId="{E6C56208-1303-4D40-946C-8ED7697D659F}">
          <cx:tx>
            <cx:txData>
              <cx:f>'Hemp 1 Individual'!$A$9</cx:f>
              <cx:v>Fiber 8</cx:v>
            </cx:txData>
          </cx:tx>
          <cx:dataId val="7"/>
          <cx:layoutPr>
            <cx:visibility meanLine="1" meanMarker="1"/>
            <cx:statistics quartileMethod="exclusive"/>
          </cx:layoutPr>
        </cx:series>
        <cx:series layoutId="boxWhisker" uniqueId="{69A5B586-9D78-4E25-B12B-B8470E39F6A5}">
          <cx:tx>
            <cx:txData>
              <cx:f>'Hemp 1 Individual'!$A$10</cx:f>
              <cx:v>Fiber 9</cx:v>
            </cx:txData>
          </cx:tx>
          <cx:dataId val="8"/>
          <cx:layoutPr>
            <cx:visibility meanLine="1" meanMarker="1"/>
            <cx:statistics quartileMethod="exclusive"/>
          </cx:layoutPr>
        </cx:series>
      </cx:plotAreaRegion>
      <cx:axis id="0" hidden="1">
        <cx:catScaling gapWidth="1"/>
        <cx:tickLabels/>
        <cx:txPr>
          <a:bodyPr spcFirstLastPara="1" vertOverflow="ellipsis" horzOverflow="overflow" wrap="square" lIns="0" tIns="0" rIns="0" bIns="0" anchor="ctr" anchorCtr="1"/>
          <a:lstStyle/>
          <a:p>
            <a:pPr algn="ctr" rtl="0">
              <a:defRPr/>
            </a:pPr>
            <a:endParaRPr lang="en-US" sz="900" b="0" i="0" u="none" strike="noStrike" baseline="0">
              <a:solidFill>
                <a:sysClr val="windowText" lastClr="000000">
                  <a:lumMod val="65000"/>
                  <a:lumOff val="35000"/>
                </a:sysClr>
              </a:solidFill>
              <a:latin typeface="Calibri" panose="020F0502020204030204"/>
            </a:endParaRPr>
          </a:p>
        </cx:txPr>
      </cx:axis>
      <cx:axis id="1">
        <cx:valScaling/>
        <cx:title>
          <cx:tx>
            <cx:rich>
              <a:bodyPr spcFirstLastPara="1" vertOverflow="ellipsis" horzOverflow="overflow" wrap="square" lIns="0" tIns="0" rIns="0" bIns="0" anchor="ctr" anchorCtr="1"/>
              <a:lstStyle/>
              <a:p>
                <a:pPr rtl="0" eaLnBrk="1" fontAlgn="auto" latinLnBrk="0" hangingPunct="1"/>
                <a:r>
                  <a:rPr lang="en-US" sz="900" b="0" i="0" baseline="0" dirty="0">
                    <a:solidFill>
                      <a:schemeClr val="tx1">
                        <a:lumMod val="50000"/>
                        <a:lumOff val="50000"/>
                      </a:schemeClr>
                    </a:solidFill>
                    <a:effectLst/>
                    <a:latin typeface="Aptos" panose="020B0004020202020204" pitchFamily="34" charset="0"/>
                  </a:rPr>
                  <a:t>Diameter in µm</a:t>
                </a:r>
                <a:endParaRPr lang="en-US" sz="900" dirty="0">
                  <a:solidFill>
                    <a:schemeClr val="tx1">
                      <a:lumMod val="50000"/>
                      <a:lumOff val="50000"/>
                    </a:schemeClr>
                  </a:solidFill>
                  <a:effectLst/>
                  <a:latin typeface="Aptos" panose="020B0004020202020204" pitchFamily="34" charset="0"/>
                </a:endParaRPr>
              </a:p>
            </cx:rich>
          </cx:tx>
        </cx:title>
        <cx:majorGridlines/>
        <cx:tickLabels/>
      </cx:axis>
    </cx:plotArea>
    <cx:legend pos="b" align="ctr" overlay="0">
      <cx:txPr>
        <a:bodyPr spcFirstLastPara="1" vertOverflow="ellipsis" horzOverflow="overflow" wrap="square" lIns="0" tIns="0" rIns="0" bIns="0" anchor="ctr" anchorCtr="1"/>
        <a:lstStyle/>
        <a:p>
          <a:pPr algn="ctr" rtl="0">
            <a:defRPr>
              <a:latin typeface="Aptos" panose="020B0004020202020204" pitchFamily="34" charset="0"/>
              <a:ea typeface="Aptos" panose="020B0004020202020204" pitchFamily="34" charset="0"/>
              <a:cs typeface="Aptos" panose="020B0004020202020204" pitchFamily="34" charset="0"/>
            </a:defRPr>
          </a:pPr>
          <a:endParaRPr lang="en-US" sz="900" b="0" i="0" u="none" strike="noStrike" baseline="0">
            <a:solidFill>
              <a:prstClr val="black">
                <a:lumMod val="65000"/>
                <a:lumOff val="35000"/>
              </a:prstClr>
            </a:solidFill>
            <a:latin typeface="Aptos" panose="020B0004020202020204" pitchFamily="34" charset="0"/>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73">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B2BDF-65BD-40E4-AC32-7140E17DDCC8}" type="datetimeFigureOut">
              <a:rPr lang="en-US" smtClean="0"/>
              <a:t>8/4/25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57C9CB-75E8-4897-8DC3-F05D0F144F2D}" type="slidenum">
              <a:rPr lang="en-US" smtClean="0"/>
              <a:t>‹#›</a:t>
            </a:fld>
            <a:endParaRPr lang="en-US"/>
          </a:p>
        </p:txBody>
      </p:sp>
    </p:spTree>
    <p:extLst>
      <p:ext uri="{BB962C8B-B14F-4D97-AF65-F5344CB8AC3E}">
        <p14:creationId xmlns:p14="http://schemas.microsoft.com/office/powerpoint/2010/main" val="320587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Topographic_map"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Voyager </a:t>
            </a:r>
          </a:p>
          <a:p>
            <a:r>
              <a:rPr lang="en-US" dirty="0"/>
              <a:t>Pale blue dot, talk about it</a:t>
            </a:r>
          </a:p>
        </p:txBody>
      </p:sp>
      <p:sp>
        <p:nvSpPr>
          <p:cNvPr id="4" name="Slide Number Placeholder 3"/>
          <p:cNvSpPr>
            <a:spLocks noGrp="1"/>
          </p:cNvSpPr>
          <p:nvPr>
            <p:ph type="sldNum" sz="quarter" idx="5"/>
          </p:nvPr>
        </p:nvSpPr>
        <p:spPr/>
        <p:txBody>
          <a:bodyPr/>
          <a:lstStyle/>
          <a:p>
            <a:fld id="{D257C9CB-75E8-4897-8DC3-F05D0F144F2D}" type="slidenum">
              <a:rPr lang="en-US" smtClean="0"/>
              <a:t>2</a:t>
            </a:fld>
            <a:endParaRPr lang="en-US"/>
          </a:p>
        </p:txBody>
      </p:sp>
    </p:spTree>
    <p:extLst>
      <p:ext uri="{BB962C8B-B14F-4D97-AF65-F5344CB8AC3E}">
        <p14:creationId xmlns:p14="http://schemas.microsoft.com/office/powerpoint/2010/main" val="2081541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Sustainably Derived Thermoplastic Resin</a:t>
            </a:r>
          </a:p>
          <a:p>
            <a:r>
              <a:rPr lang="en-US" dirty="0"/>
              <a:t>Natural Fiber Reinforcement</a:t>
            </a:r>
          </a:p>
          <a:p>
            <a:r>
              <a:rPr lang="en-US" dirty="0"/>
              <a:t>Sustainable Manufacturing</a:t>
            </a:r>
          </a:p>
          <a:p>
            <a:r>
              <a:rPr lang="en-US" dirty="0"/>
              <a:t>Integrated Sensing for Material State Awareness</a:t>
            </a:r>
          </a:p>
          <a:p>
            <a:r>
              <a:rPr lang="en-US" dirty="0"/>
              <a:t>Computational Modeling for Optimization</a:t>
            </a:r>
          </a:p>
          <a:p>
            <a:r>
              <a:rPr lang="en-US" dirty="0"/>
              <a:t>Systems Analysis and Life Cycle Analysis</a:t>
            </a:r>
          </a:p>
          <a:p>
            <a:endParaRPr lang="en-US" dirty="0"/>
          </a:p>
          <a:p>
            <a:r>
              <a:rPr lang="en-US" dirty="0"/>
              <a:t>Sumac </a:t>
            </a:r>
            <a:r>
              <a:rPr lang="en-US" dirty="0">
                <a:sym typeface="Wingdings" panose="05000000000000000000" pitchFamily="2" charset="2"/>
              </a:rPr>
              <a:t> AAM  eventually </a:t>
            </a:r>
            <a:r>
              <a:rPr lang="en-US" dirty="0" err="1">
                <a:sym typeface="Wingdings" panose="05000000000000000000" pitchFamily="2" charset="2"/>
              </a:rPr>
              <a:t>commmerical</a:t>
            </a:r>
            <a:r>
              <a:rPr lang="en-US" dirty="0">
                <a:sym typeface="Wingdings" panose="05000000000000000000" pitchFamily="2" charset="2"/>
              </a:rPr>
              <a:t> aircraft</a:t>
            </a:r>
            <a:endParaRPr lang="en-US" dirty="0"/>
          </a:p>
          <a:p>
            <a:endParaRPr lang="en-US" dirty="0"/>
          </a:p>
        </p:txBody>
      </p:sp>
      <p:sp>
        <p:nvSpPr>
          <p:cNvPr id="4" name="Slide Number Placeholder 3"/>
          <p:cNvSpPr>
            <a:spLocks noGrp="1"/>
          </p:cNvSpPr>
          <p:nvPr>
            <p:ph type="sldNum" sz="quarter" idx="5"/>
          </p:nvPr>
        </p:nvSpPr>
        <p:spPr/>
        <p:txBody>
          <a:bodyPr/>
          <a:lstStyle/>
          <a:p>
            <a:fld id="{D257C9CB-75E8-4897-8DC3-F05D0F144F2D}" type="slidenum">
              <a:rPr lang="en-US" smtClean="0"/>
              <a:t>3</a:t>
            </a:fld>
            <a:endParaRPr lang="en-US"/>
          </a:p>
        </p:txBody>
      </p:sp>
    </p:spTree>
    <p:extLst>
      <p:ext uri="{BB962C8B-B14F-4D97-AF65-F5344CB8AC3E}">
        <p14:creationId xmlns:p14="http://schemas.microsoft.com/office/powerpoint/2010/main" val="1179523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 testing and develop a procedure for individual fibers</a:t>
            </a:r>
          </a:p>
          <a:p>
            <a:r>
              <a:rPr lang="en-US" dirty="0"/>
              <a:t>Image segmentation for computational modeling</a:t>
            </a:r>
          </a:p>
        </p:txBody>
      </p:sp>
      <p:sp>
        <p:nvSpPr>
          <p:cNvPr id="4" name="Slide Number Placeholder 3"/>
          <p:cNvSpPr>
            <a:spLocks noGrp="1"/>
          </p:cNvSpPr>
          <p:nvPr>
            <p:ph type="sldNum" sz="quarter" idx="5"/>
          </p:nvPr>
        </p:nvSpPr>
        <p:spPr/>
        <p:txBody>
          <a:bodyPr/>
          <a:lstStyle/>
          <a:p>
            <a:fld id="{D257C9CB-75E8-4897-8DC3-F05D0F144F2D}" type="slidenum">
              <a:rPr lang="en-US" smtClean="0"/>
              <a:t>4</a:t>
            </a:fld>
            <a:endParaRPr lang="en-US"/>
          </a:p>
        </p:txBody>
      </p:sp>
    </p:spTree>
    <p:extLst>
      <p:ext uri="{BB962C8B-B14F-4D97-AF65-F5344CB8AC3E}">
        <p14:creationId xmlns:p14="http://schemas.microsoft.com/office/powerpoint/2010/main" val="2556112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white object on the right is </a:t>
            </a:r>
            <a:r>
              <a:rPr lang="en-US" dirty="0" err="1"/>
              <a:t>Envirotextles</a:t>
            </a:r>
            <a:r>
              <a:rPr lang="en-US" dirty="0"/>
              <a:t> HEMP B608</a:t>
            </a:r>
          </a:p>
        </p:txBody>
      </p:sp>
      <p:sp>
        <p:nvSpPr>
          <p:cNvPr id="4" name="Slide Number Placeholder 3"/>
          <p:cNvSpPr>
            <a:spLocks noGrp="1"/>
          </p:cNvSpPr>
          <p:nvPr>
            <p:ph type="sldNum" sz="quarter" idx="5"/>
          </p:nvPr>
        </p:nvSpPr>
        <p:spPr/>
        <p:txBody>
          <a:bodyPr/>
          <a:lstStyle/>
          <a:p>
            <a:fld id="{D257C9CB-75E8-4897-8DC3-F05D0F144F2D}" type="slidenum">
              <a:rPr lang="en-US" smtClean="0"/>
              <a:t>6</a:t>
            </a:fld>
            <a:endParaRPr lang="en-US"/>
          </a:p>
        </p:txBody>
      </p:sp>
    </p:spTree>
    <p:extLst>
      <p:ext uri="{BB962C8B-B14F-4D97-AF65-F5344CB8AC3E}">
        <p14:creationId xmlns:p14="http://schemas.microsoft.com/office/powerpoint/2010/main" val="2102783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Composite sample, you can see the thermoplastic resin interfacing with the flax fibers</a:t>
            </a:r>
          </a:p>
          <a:p>
            <a:r>
              <a:rPr lang="en-US" dirty="0"/>
              <a:t>Warp and weft direction</a:t>
            </a:r>
          </a:p>
          <a:p>
            <a:r>
              <a:rPr lang="en-US" dirty="0"/>
              <a:t>Cross section images, you can see the bundle or fibers</a:t>
            </a:r>
          </a:p>
        </p:txBody>
      </p:sp>
      <p:sp>
        <p:nvSpPr>
          <p:cNvPr id="4" name="Slide Number Placeholder 3"/>
          <p:cNvSpPr>
            <a:spLocks noGrp="1"/>
          </p:cNvSpPr>
          <p:nvPr>
            <p:ph type="sldNum" sz="quarter" idx="5"/>
          </p:nvPr>
        </p:nvSpPr>
        <p:spPr/>
        <p:txBody>
          <a:bodyPr/>
          <a:lstStyle/>
          <a:p>
            <a:fld id="{D257C9CB-75E8-4897-8DC3-F05D0F144F2D}" type="slidenum">
              <a:rPr lang="en-US" smtClean="0"/>
              <a:t>8</a:t>
            </a:fld>
            <a:endParaRPr lang="en-US"/>
          </a:p>
        </p:txBody>
      </p:sp>
    </p:spTree>
    <p:extLst>
      <p:ext uri="{BB962C8B-B14F-4D97-AF65-F5344CB8AC3E}">
        <p14:creationId xmlns:p14="http://schemas.microsoft.com/office/powerpoint/2010/main" val="988506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57C9CB-75E8-4897-8DC3-F05D0F144F2D}" type="slidenum">
              <a:rPr lang="en-US" smtClean="0"/>
              <a:t>9</a:t>
            </a:fld>
            <a:endParaRPr lang="en-US"/>
          </a:p>
        </p:txBody>
      </p:sp>
    </p:spTree>
    <p:extLst>
      <p:ext uri="{BB962C8B-B14F-4D97-AF65-F5344CB8AC3E}">
        <p14:creationId xmlns:p14="http://schemas.microsoft.com/office/powerpoint/2010/main" val="2097385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57C9CB-75E8-4897-8DC3-F05D0F144F2D}" type="slidenum">
              <a:rPr lang="en-US" smtClean="0"/>
              <a:t>13</a:t>
            </a:fld>
            <a:endParaRPr lang="en-US"/>
          </a:p>
        </p:txBody>
      </p:sp>
    </p:spTree>
    <p:extLst>
      <p:ext uri="{BB962C8B-B14F-4D97-AF65-F5344CB8AC3E}">
        <p14:creationId xmlns:p14="http://schemas.microsoft.com/office/powerpoint/2010/main" val="1758475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The watershed transformation treats the image it operates upon like a </a:t>
            </a:r>
            <a:r>
              <a:rPr lang="en-US" b="0" i="0" u="none" strike="noStrike" dirty="0">
                <a:solidFill>
                  <a:srgbClr val="3366CC"/>
                </a:solidFill>
                <a:effectLst/>
                <a:latin typeface="Arial" panose="020B0604020202020204" pitchFamily="34" charset="0"/>
                <a:hlinkClick r:id="rId3" tooltip="Topographic map"/>
              </a:rPr>
              <a:t>topographic map</a:t>
            </a:r>
            <a:r>
              <a:rPr lang="en-US" b="0" i="0" dirty="0">
                <a:solidFill>
                  <a:srgbClr val="202122"/>
                </a:solidFill>
                <a:effectLst/>
                <a:latin typeface="Arial" panose="020B0604020202020204" pitchFamily="34" charset="0"/>
              </a:rPr>
              <a:t>, with the brightness of each point representing its height, and finds the lines that run along the tops of ridges.</a:t>
            </a:r>
          </a:p>
          <a:p>
            <a:endParaRPr lang="en-US" b="0" i="0" dirty="0">
              <a:solidFill>
                <a:srgbClr val="202122"/>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D257C9CB-75E8-4897-8DC3-F05D0F144F2D}" type="slidenum">
              <a:rPr lang="en-US" smtClean="0"/>
              <a:t>15</a:t>
            </a:fld>
            <a:endParaRPr lang="en-US"/>
          </a:p>
        </p:txBody>
      </p:sp>
    </p:spTree>
    <p:extLst>
      <p:ext uri="{BB962C8B-B14F-4D97-AF65-F5344CB8AC3E}">
        <p14:creationId xmlns:p14="http://schemas.microsoft.com/office/powerpoint/2010/main" val="2236302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57C9CB-75E8-4897-8DC3-F05D0F144F2D}" type="slidenum">
              <a:rPr lang="en-US" smtClean="0"/>
              <a:t>16</a:t>
            </a:fld>
            <a:endParaRPr lang="en-US"/>
          </a:p>
        </p:txBody>
      </p:sp>
    </p:spTree>
    <p:extLst>
      <p:ext uri="{BB962C8B-B14F-4D97-AF65-F5344CB8AC3E}">
        <p14:creationId xmlns:p14="http://schemas.microsoft.com/office/powerpoint/2010/main" val="4138484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57C9CB-75E8-4897-8DC3-F05D0F144F2D}" type="slidenum">
              <a:rPr lang="en-US" smtClean="0"/>
              <a:t>18</a:t>
            </a:fld>
            <a:endParaRPr lang="en-US"/>
          </a:p>
        </p:txBody>
      </p:sp>
    </p:spTree>
    <p:extLst>
      <p:ext uri="{BB962C8B-B14F-4D97-AF65-F5344CB8AC3E}">
        <p14:creationId xmlns:p14="http://schemas.microsoft.com/office/powerpoint/2010/main" val="3475147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a:t>
            </a:r>
          </a:p>
          <a:p>
            <a:endParaRPr lang="en-US" dirty="0"/>
          </a:p>
        </p:txBody>
      </p:sp>
      <p:sp>
        <p:nvSpPr>
          <p:cNvPr id="4" name="Slide Number Placeholder 3"/>
          <p:cNvSpPr>
            <a:spLocks noGrp="1"/>
          </p:cNvSpPr>
          <p:nvPr>
            <p:ph type="sldNum" sz="quarter" idx="5"/>
          </p:nvPr>
        </p:nvSpPr>
        <p:spPr/>
        <p:txBody>
          <a:bodyPr/>
          <a:lstStyle/>
          <a:p>
            <a:fld id="{D257C9CB-75E8-4897-8DC3-F05D0F144F2D}" type="slidenum">
              <a:rPr lang="en-US" smtClean="0"/>
              <a:t>19</a:t>
            </a:fld>
            <a:endParaRPr lang="en-US"/>
          </a:p>
        </p:txBody>
      </p:sp>
    </p:spTree>
    <p:extLst>
      <p:ext uri="{BB962C8B-B14F-4D97-AF65-F5344CB8AC3E}">
        <p14:creationId xmlns:p14="http://schemas.microsoft.com/office/powerpoint/2010/main" val="2684627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cxnSp>
        <p:nvCxnSpPr>
          <p:cNvPr id="14" name="Straight Connector 13"/>
          <p:cNvCxnSpPr/>
          <p:nvPr userDrawn="1"/>
        </p:nvCxnSpPr>
        <p:spPr>
          <a:xfrm>
            <a:off x="458724" y="3406100"/>
            <a:ext cx="11274552" cy="0"/>
          </a:xfrm>
          <a:prstGeom prst="line">
            <a:avLst/>
          </a:prstGeom>
          <a:ln w="187325" cap="rnd">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778715" y="1122363"/>
            <a:ext cx="10441858" cy="2387600"/>
          </a:xfrm>
        </p:spPr>
        <p:txBody>
          <a:bodyPr anchor="b"/>
          <a:lstStyle>
            <a:lvl1pPr algn="ctr">
              <a:defRPr sz="6000" b="1" i="0">
                <a:latin typeface="Aptos" panose="020B00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Aptos" panose="020B0004020202020204" pitchFamily="34" charset="0"/>
              </a:defRPr>
            </a:lvl1pPr>
          </a:lstStyle>
          <a:p>
            <a:fld id="{224C0C37-3CEC-4CB4-B902-37F94E20E969}" type="slidenum">
              <a:rPr lang="en-US" smtClean="0"/>
              <a:pPr/>
              <a:t>‹#›</a:t>
            </a:fld>
            <a:endParaRPr lang="en-US" dirty="0"/>
          </a:p>
        </p:txBody>
      </p:sp>
      <p:pic>
        <p:nvPicPr>
          <p:cNvPr id="9" name="Picture 2" descr="http://www.nasa.gov/sites/default/files/images/nasaLogo-570x450.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63726" y="12783"/>
            <a:ext cx="1688676" cy="13331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userDrawn="1"/>
        </p:nvCxnSpPr>
        <p:spPr>
          <a:xfrm>
            <a:off x="915924" y="3406100"/>
            <a:ext cx="10360152" cy="0"/>
          </a:xfrm>
          <a:prstGeom prst="line">
            <a:avLst/>
          </a:prstGeom>
          <a:ln w="10160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1373124" y="3406100"/>
            <a:ext cx="9445752" cy="0"/>
          </a:xfrm>
          <a:prstGeom prst="line">
            <a:avLst/>
          </a:prstGeom>
          <a:ln w="25400" cap="rnd">
            <a:solidFill>
              <a:srgbClr val="C00000"/>
            </a:solidFill>
          </a:ln>
        </p:spPr>
        <p:style>
          <a:lnRef idx="1">
            <a:schemeClr val="accent1"/>
          </a:lnRef>
          <a:fillRef idx="0">
            <a:schemeClr val="accent1"/>
          </a:fillRef>
          <a:effectRef idx="0">
            <a:schemeClr val="accent1"/>
          </a:effectRef>
          <a:fontRef idx="minor">
            <a:schemeClr val="tx1"/>
          </a:fontRef>
        </p:style>
      </p:cxnSp>
      <p:pic>
        <p:nvPicPr>
          <p:cNvPr id="15" name="Picture 14" descr="Logo&#10;&#10;Description automatically generated with low confidence">
            <a:extLst>
              <a:ext uri="{FF2B5EF4-FFF2-40B4-BE49-F238E27FC236}">
                <a16:creationId xmlns:a16="http://schemas.microsoft.com/office/drawing/2014/main" id="{A6E8F5FF-F700-44FF-9B8C-BB7E5F64CF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244" y="5905729"/>
            <a:ext cx="1484337" cy="568688"/>
          </a:xfrm>
          <a:prstGeom prst="rect">
            <a:avLst/>
          </a:prstGeom>
        </p:spPr>
      </p:pic>
      <p:sp>
        <p:nvSpPr>
          <p:cNvPr id="16" name="TextBox 15">
            <a:extLst>
              <a:ext uri="{FF2B5EF4-FFF2-40B4-BE49-F238E27FC236}">
                <a16:creationId xmlns:a16="http://schemas.microsoft.com/office/drawing/2014/main" id="{A9F00434-AFA4-4025-8172-72F26059BF39}"/>
              </a:ext>
            </a:extLst>
          </p:cNvPr>
          <p:cNvSpPr txBox="1"/>
          <p:nvPr userDrawn="1"/>
        </p:nvSpPr>
        <p:spPr>
          <a:xfrm>
            <a:off x="140128" y="6456626"/>
            <a:ext cx="1821332" cy="230832"/>
          </a:xfrm>
          <a:prstGeom prst="rect">
            <a:avLst/>
          </a:prstGeom>
          <a:noFill/>
        </p:spPr>
        <p:txBody>
          <a:bodyPr wrap="none" rtlCol="0">
            <a:spAutoFit/>
          </a:bodyPr>
          <a:lstStyle/>
          <a:p>
            <a:r>
              <a:rPr lang="en-US" sz="900" b="1" dirty="0">
                <a:solidFill>
                  <a:schemeClr val="tx1">
                    <a:lumMod val="65000"/>
                    <a:lumOff val="35000"/>
                  </a:schemeClr>
                </a:solidFill>
                <a:latin typeface="Aptos" panose="020B0004020202020204" pitchFamily="34" charset="0"/>
                <a:cs typeface="Times New Roman" panose="02020603050405020304" pitchFamily="18" charset="0"/>
              </a:rPr>
              <a:t>NASA Langley Research Center</a:t>
            </a:r>
          </a:p>
        </p:txBody>
      </p:sp>
    </p:spTree>
    <p:extLst>
      <p:ext uri="{BB962C8B-B14F-4D97-AF65-F5344CB8AC3E}">
        <p14:creationId xmlns:p14="http://schemas.microsoft.com/office/powerpoint/2010/main" val="29635107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i="0">
                <a:latin typeface="Aptos" panose="020B0004020202020204" pitchFamily="34" charset="0"/>
                <a:cs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marL="228600" indent="-228600">
              <a:buFont typeface="Wingdings" panose="05000000000000000000" pitchFamily="2" charset="2"/>
              <a:buChar char="v"/>
              <a:defRPr>
                <a:latin typeface="Aptos" panose="020B0004020202020204" pitchFamily="34" charset="0"/>
                <a:cs typeface="Times New Roman" panose="02020603050405020304" pitchFamily="18" charset="0"/>
              </a:defRPr>
            </a:lvl1pPr>
            <a:lvl2pPr marL="685800" indent="-228600">
              <a:buFont typeface="Wingdings" panose="05000000000000000000" pitchFamily="2" charset="2"/>
              <a:buChar char="v"/>
              <a:defRPr>
                <a:latin typeface="Aptos" panose="020B0004020202020204" pitchFamily="34" charset="0"/>
                <a:cs typeface="Times New Roman" panose="02020603050405020304" pitchFamily="18" charset="0"/>
              </a:defRPr>
            </a:lvl2pPr>
            <a:lvl3pPr marL="1143000" indent="-228600">
              <a:buFont typeface="Wingdings" panose="05000000000000000000" pitchFamily="2" charset="2"/>
              <a:buChar char="v"/>
              <a:defRPr>
                <a:latin typeface="Aptos" panose="020B0004020202020204" pitchFamily="34" charset="0"/>
                <a:cs typeface="Times New Roman" panose="02020603050405020304" pitchFamily="18" charset="0"/>
              </a:defRPr>
            </a:lvl3pPr>
            <a:lvl4pPr marL="1600200" indent="-228600">
              <a:buFont typeface="Wingdings" panose="05000000000000000000" pitchFamily="2" charset="2"/>
              <a:buChar char="v"/>
              <a:defRPr>
                <a:latin typeface="Aptos" panose="020B0004020202020204" pitchFamily="34" charset="0"/>
                <a:cs typeface="Times New Roman" panose="02020603050405020304" pitchFamily="18" charset="0"/>
              </a:defRPr>
            </a:lvl4pPr>
            <a:lvl5pPr marL="2057400" indent="-228600">
              <a:buFont typeface="Wingdings" panose="05000000000000000000" pitchFamily="2" charset="2"/>
              <a:buChar char="v"/>
              <a:defRPr>
                <a:latin typeface="Aptos" panose="020B0004020202020204"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96400" y="6299200"/>
            <a:ext cx="2743200" cy="365125"/>
          </a:xfrm>
        </p:spPr>
        <p:txBody>
          <a:bodyPr/>
          <a:lstStyle>
            <a:lvl1pPr>
              <a:defRPr sz="2000">
                <a:solidFill>
                  <a:schemeClr val="tx1"/>
                </a:solidFill>
                <a:latin typeface="Aptos" panose="020B0004020202020204" pitchFamily="34" charset="0"/>
                <a:cs typeface="Times New Roman" panose="02020603050405020304" pitchFamily="18" charset="0"/>
              </a:defRPr>
            </a:lvl1pPr>
          </a:lstStyle>
          <a:p>
            <a:fld id="{224C0C37-3CEC-4CB4-B902-37F94E20E969}" type="slidenum">
              <a:rPr lang="en-US" smtClean="0"/>
              <a:pPr/>
              <a:t>‹#›</a:t>
            </a:fld>
            <a:endParaRPr lang="en-US" dirty="0"/>
          </a:p>
        </p:txBody>
      </p:sp>
      <p:sp>
        <p:nvSpPr>
          <p:cNvPr id="15" name="Rectangle 14"/>
          <p:cNvSpPr/>
          <p:nvPr userDrawn="1"/>
        </p:nvSpPr>
        <p:spPr>
          <a:xfrm>
            <a:off x="12012851"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4010"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descr="http://www.nasa.gov/sites/default/files/images/nasaLogo-570x450.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061609" y="192726"/>
            <a:ext cx="974171" cy="76908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userDrawn="1"/>
        </p:nvSpPr>
        <p:spPr>
          <a:xfrm>
            <a:off x="-1" y="0"/>
            <a:ext cx="12188952"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0" y="6629571"/>
            <a:ext cx="12192000"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47244" y="6675291"/>
            <a:ext cx="12097512" cy="137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45719" y="45720"/>
            <a:ext cx="12097512"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12058710"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41849"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userDrawn="1"/>
        </p:nvCxnSpPr>
        <p:spPr>
          <a:xfrm>
            <a:off x="91439" y="91440"/>
            <a:ext cx="1200607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flipV="1">
            <a:off x="87569" y="81915"/>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V="1">
            <a:off x="12104430" y="81914"/>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userDrawn="1"/>
        </p:nvSpPr>
        <p:spPr>
          <a:xfrm>
            <a:off x="5071344" y="6615212"/>
            <a:ext cx="2040943" cy="261610"/>
          </a:xfrm>
          <a:prstGeom prst="rect">
            <a:avLst/>
          </a:prstGeom>
          <a:noFill/>
        </p:spPr>
        <p:txBody>
          <a:bodyPr wrap="none" rtlCol="0">
            <a:spAutoFit/>
          </a:bodyPr>
          <a:lstStyle/>
          <a:p>
            <a:pPr algn="ctr"/>
            <a:r>
              <a:rPr lang="en-US" sz="1100" dirty="0">
                <a:latin typeface="Aptos" panose="020B0004020202020204" pitchFamily="34" charset="0"/>
              </a:rPr>
              <a:t>2025 Spring Intern Symposium</a:t>
            </a:r>
          </a:p>
        </p:txBody>
      </p:sp>
      <p:cxnSp>
        <p:nvCxnSpPr>
          <p:cNvPr id="33" name="Straight Connector 32"/>
          <p:cNvCxnSpPr/>
          <p:nvPr userDrawn="1"/>
        </p:nvCxnSpPr>
        <p:spPr>
          <a:xfrm>
            <a:off x="76138"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userDrawn="1"/>
        </p:nvSpPr>
        <p:spPr>
          <a:xfrm>
            <a:off x="8275342" y="6615212"/>
            <a:ext cx="2816798" cy="261610"/>
          </a:xfrm>
          <a:prstGeom prst="rect">
            <a:avLst/>
          </a:prstGeom>
          <a:noFill/>
        </p:spPr>
        <p:txBody>
          <a:bodyPr wrap="none" rtlCol="0">
            <a:spAutoFit/>
          </a:bodyPr>
          <a:lstStyle/>
          <a:p>
            <a:pPr algn="r"/>
            <a:r>
              <a:rPr lang="en-US" sz="1100" dirty="0">
                <a:latin typeface="Aptos" panose="020B0004020202020204" pitchFamily="34" charset="0"/>
              </a:rPr>
              <a:t>Advanced Materials and Processing</a:t>
            </a:r>
            <a:r>
              <a:rPr lang="en-US" sz="1100" baseline="0" dirty="0">
                <a:latin typeface="Aptos" panose="020B0004020202020204" pitchFamily="34" charset="0"/>
              </a:rPr>
              <a:t> Branch</a:t>
            </a:r>
            <a:endParaRPr lang="en-US" sz="1100" dirty="0">
              <a:latin typeface="Aptos" panose="020B0004020202020204" pitchFamily="34" charset="0"/>
            </a:endParaRPr>
          </a:p>
        </p:txBody>
      </p:sp>
      <p:sp>
        <p:nvSpPr>
          <p:cNvPr id="36" name="TextBox 35"/>
          <p:cNvSpPr txBox="1"/>
          <p:nvPr userDrawn="1"/>
        </p:nvSpPr>
        <p:spPr>
          <a:xfrm>
            <a:off x="1441234" y="6615212"/>
            <a:ext cx="2076209" cy="261610"/>
          </a:xfrm>
          <a:prstGeom prst="rect">
            <a:avLst/>
          </a:prstGeom>
          <a:noFill/>
        </p:spPr>
        <p:txBody>
          <a:bodyPr wrap="none" rtlCol="0">
            <a:spAutoFit/>
          </a:bodyPr>
          <a:lstStyle/>
          <a:p>
            <a:pPr algn="l"/>
            <a:r>
              <a:rPr lang="en-US" sz="1100" dirty="0">
                <a:latin typeface="Aptos" panose="020B0004020202020204" pitchFamily="34" charset="0"/>
              </a:rPr>
              <a:t>NASA Langley Research Center</a:t>
            </a:r>
          </a:p>
        </p:txBody>
      </p:sp>
      <p:cxnSp>
        <p:nvCxnSpPr>
          <p:cNvPr id="37" name="Straight Connector 36"/>
          <p:cNvCxnSpPr/>
          <p:nvPr userDrawn="1"/>
        </p:nvCxnSpPr>
        <p:spPr>
          <a:xfrm>
            <a:off x="3614030"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userDrawn="1"/>
        </p:nvCxnSpPr>
        <p:spPr>
          <a:xfrm>
            <a:off x="7435653"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11323381"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27" name="Picture 26" descr="Logo&#10;&#10;Description automatically generated with low confidence">
            <a:extLst>
              <a:ext uri="{FF2B5EF4-FFF2-40B4-BE49-F238E27FC236}">
                <a16:creationId xmlns:a16="http://schemas.microsoft.com/office/drawing/2014/main" id="{86FC4A24-0622-4D1F-A12A-1DC36A0A6C4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244" y="5905729"/>
            <a:ext cx="1484337" cy="568688"/>
          </a:xfrm>
          <a:prstGeom prst="rect">
            <a:avLst/>
          </a:prstGeom>
        </p:spPr>
      </p:pic>
    </p:spTree>
    <p:extLst>
      <p:ext uri="{BB962C8B-B14F-4D97-AF65-F5344CB8AC3E}">
        <p14:creationId xmlns:p14="http://schemas.microsoft.com/office/powerpoint/2010/main" val="3984627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ptos" panose="020B0004020202020204" pitchFamily="34"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lvl1pPr>
              <a:defRPr>
                <a:latin typeface="Aptos" panose="020B0004020202020204" pitchFamily="34" charset="0"/>
              </a:defRPr>
            </a:lvl1pPr>
          </a:lstStyle>
          <a:p>
            <a:endParaRPr lang="en-US" dirty="0"/>
          </a:p>
        </p:txBody>
      </p:sp>
      <p:grpSp>
        <p:nvGrpSpPr>
          <p:cNvPr id="10" name="Group 9"/>
          <p:cNvGrpSpPr/>
          <p:nvPr userDrawn="1"/>
        </p:nvGrpSpPr>
        <p:grpSpPr>
          <a:xfrm>
            <a:off x="-4010" y="0"/>
            <a:ext cx="12200020" cy="6876822"/>
            <a:chOff x="-4010" y="0"/>
            <a:chExt cx="12200020" cy="6876822"/>
          </a:xfrm>
        </p:grpSpPr>
        <p:sp>
          <p:nvSpPr>
            <p:cNvPr id="11" name="Rectangle 10"/>
            <p:cNvSpPr/>
            <p:nvPr userDrawn="1"/>
          </p:nvSpPr>
          <p:spPr>
            <a:xfrm>
              <a:off x="12012851"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2" name="Rectangle 11"/>
            <p:cNvSpPr/>
            <p:nvPr userDrawn="1"/>
          </p:nvSpPr>
          <p:spPr>
            <a:xfrm>
              <a:off x="-4010"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pic>
          <p:nvPicPr>
            <p:cNvPr id="14" name="Picture 2" descr="http://www.nasa.gov/sites/default/files/images/nasaLogo-570x450.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061609" y="192726"/>
              <a:ext cx="974171" cy="76908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userDrawn="1"/>
          </p:nvSpPr>
          <p:spPr>
            <a:xfrm>
              <a:off x="-1" y="0"/>
              <a:ext cx="12188952"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 name="Rectangle 15"/>
            <p:cNvSpPr/>
            <p:nvPr userDrawn="1"/>
          </p:nvSpPr>
          <p:spPr>
            <a:xfrm>
              <a:off x="0" y="6629571"/>
              <a:ext cx="12192000"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7" name="Rectangle 16"/>
            <p:cNvSpPr/>
            <p:nvPr userDrawn="1"/>
          </p:nvSpPr>
          <p:spPr>
            <a:xfrm>
              <a:off x="47244" y="6675291"/>
              <a:ext cx="12097512" cy="137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8" name="Rectangle 17"/>
            <p:cNvSpPr/>
            <p:nvPr userDrawn="1"/>
          </p:nvSpPr>
          <p:spPr>
            <a:xfrm>
              <a:off x="45719" y="45720"/>
              <a:ext cx="12097512"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9" name="Rectangle 18"/>
            <p:cNvSpPr/>
            <p:nvPr userDrawn="1"/>
          </p:nvSpPr>
          <p:spPr>
            <a:xfrm>
              <a:off x="12058710"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20" name="Rectangle 19"/>
            <p:cNvSpPr/>
            <p:nvPr userDrawn="1"/>
          </p:nvSpPr>
          <p:spPr>
            <a:xfrm>
              <a:off x="41849"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cxnSp>
          <p:nvCxnSpPr>
            <p:cNvPr id="21" name="Straight Connector 20"/>
            <p:cNvCxnSpPr/>
            <p:nvPr userDrawn="1"/>
          </p:nvCxnSpPr>
          <p:spPr>
            <a:xfrm>
              <a:off x="91439" y="91440"/>
              <a:ext cx="1200607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V="1">
              <a:off x="87569" y="81915"/>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V="1">
              <a:off x="12104430" y="81914"/>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76138"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userDrawn="1"/>
          </p:nvSpPr>
          <p:spPr>
            <a:xfrm>
              <a:off x="8275342" y="6615212"/>
              <a:ext cx="2816798" cy="261610"/>
            </a:xfrm>
            <a:prstGeom prst="rect">
              <a:avLst/>
            </a:prstGeom>
            <a:noFill/>
          </p:spPr>
          <p:txBody>
            <a:bodyPr wrap="none" rtlCol="0">
              <a:spAutoFit/>
            </a:bodyPr>
            <a:lstStyle/>
            <a:p>
              <a:pPr algn="r"/>
              <a:r>
                <a:rPr lang="en-US" sz="1100" dirty="0">
                  <a:latin typeface="Aptos" panose="020B0004020202020204" pitchFamily="34" charset="0"/>
                </a:rPr>
                <a:t>Advanced Materials and Processing</a:t>
              </a:r>
              <a:r>
                <a:rPr lang="en-US" sz="1100" baseline="0" dirty="0">
                  <a:latin typeface="Aptos" panose="020B0004020202020204" pitchFamily="34" charset="0"/>
                </a:rPr>
                <a:t> Branch</a:t>
              </a:r>
              <a:endParaRPr lang="en-US" sz="1100" dirty="0">
                <a:latin typeface="Aptos" panose="020B0004020202020204" pitchFamily="34" charset="0"/>
              </a:endParaRPr>
            </a:p>
          </p:txBody>
        </p:sp>
        <p:sp>
          <p:nvSpPr>
            <p:cNvPr id="27" name="TextBox 26"/>
            <p:cNvSpPr txBox="1"/>
            <p:nvPr userDrawn="1"/>
          </p:nvSpPr>
          <p:spPr>
            <a:xfrm>
              <a:off x="1441234" y="6615212"/>
              <a:ext cx="2076209" cy="261610"/>
            </a:xfrm>
            <a:prstGeom prst="rect">
              <a:avLst/>
            </a:prstGeom>
            <a:noFill/>
          </p:spPr>
          <p:txBody>
            <a:bodyPr wrap="none" rtlCol="0">
              <a:spAutoFit/>
            </a:bodyPr>
            <a:lstStyle/>
            <a:p>
              <a:pPr algn="l"/>
              <a:r>
                <a:rPr lang="en-US" sz="1100" dirty="0">
                  <a:latin typeface="Aptos" panose="020B0004020202020204" pitchFamily="34" charset="0"/>
                </a:rPr>
                <a:t>NASA Langley Research Center</a:t>
              </a:r>
            </a:p>
          </p:txBody>
        </p:sp>
        <p:cxnSp>
          <p:nvCxnSpPr>
            <p:cNvPr id="28" name="Straight Connector 27"/>
            <p:cNvCxnSpPr/>
            <p:nvPr userDrawn="1"/>
          </p:nvCxnSpPr>
          <p:spPr>
            <a:xfrm>
              <a:off x="3614030"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userDrawn="1"/>
          </p:nvCxnSpPr>
          <p:spPr>
            <a:xfrm>
              <a:off x="7435653"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userDrawn="1"/>
          </p:nvCxnSpPr>
          <p:spPr>
            <a:xfrm>
              <a:off x="11323381"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1" name="Slide Number Placeholder 5"/>
          <p:cNvSpPr>
            <a:spLocks noGrp="1"/>
          </p:cNvSpPr>
          <p:nvPr>
            <p:ph type="sldNum" sz="quarter" idx="12"/>
          </p:nvPr>
        </p:nvSpPr>
        <p:spPr>
          <a:xfrm>
            <a:off x="9296400" y="6299200"/>
            <a:ext cx="2743200" cy="365125"/>
          </a:xfrm>
        </p:spPr>
        <p:txBody>
          <a:bodyPr/>
          <a:lstStyle>
            <a:lvl1pPr>
              <a:defRPr sz="2000">
                <a:solidFill>
                  <a:schemeClr val="tx1"/>
                </a:solidFill>
                <a:latin typeface="Aptos" panose="020B0004020202020204" pitchFamily="34" charset="0"/>
                <a:cs typeface="Times New Roman" panose="02020603050405020304" pitchFamily="18" charset="0"/>
              </a:defRPr>
            </a:lvl1pPr>
          </a:lstStyle>
          <a:p>
            <a:fld id="{224C0C37-3CEC-4CB4-B902-37F94E20E969}" type="slidenum">
              <a:rPr lang="en-US" smtClean="0"/>
              <a:pPr/>
              <a:t>‹#›</a:t>
            </a:fld>
            <a:endParaRPr lang="en-US" dirty="0"/>
          </a:p>
        </p:txBody>
      </p:sp>
      <p:pic>
        <p:nvPicPr>
          <p:cNvPr id="33" name="Picture 32" descr="Logo&#10;&#10;Description automatically generated with low confidence">
            <a:extLst>
              <a:ext uri="{FF2B5EF4-FFF2-40B4-BE49-F238E27FC236}">
                <a16:creationId xmlns:a16="http://schemas.microsoft.com/office/drawing/2014/main" id="{FA708748-5472-4F97-9A1B-67F3E17C7BA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244" y="5905729"/>
            <a:ext cx="1484337" cy="568688"/>
          </a:xfrm>
          <a:prstGeom prst="rect">
            <a:avLst/>
          </a:prstGeom>
        </p:spPr>
      </p:pic>
      <p:sp>
        <p:nvSpPr>
          <p:cNvPr id="8" name="TextBox 7">
            <a:extLst>
              <a:ext uri="{FF2B5EF4-FFF2-40B4-BE49-F238E27FC236}">
                <a16:creationId xmlns:a16="http://schemas.microsoft.com/office/drawing/2014/main" id="{040A101A-0E47-A625-4148-EF9F2436D1EC}"/>
              </a:ext>
            </a:extLst>
          </p:cNvPr>
          <p:cNvSpPr txBox="1"/>
          <p:nvPr userDrawn="1"/>
        </p:nvSpPr>
        <p:spPr>
          <a:xfrm>
            <a:off x="5071343" y="6615212"/>
            <a:ext cx="2040944" cy="261610"/>
          </a:xfrm>
          <a:prstGeom prst="rect">
            <a:avLst/>
          </a:prstGeom>
          <a:noFill/>
        </p:spPr>
        <p:txBody>
          <a:bodyPr wrap="none" rtlCol="0">
            <a:spAutoFit/>
          </a:bodyPr>
          <a:lstStyle/>
          <a:p>
            <a:pPr algn="ctr"/>
            <a:r>
              <a:rPr lang="en-US" sz="1100" dirty="0">
                <a:latin typeface="Aptos" panose="020B0004020202020204" pitchFamily="34" charset="0"/>
              </a:rPr>
              <a:t>2025 Spring Intern Symposium</a:t>
            </a:r>
          </a:p>
        </p:txBody>
      </p:sp>
    </p:spTree>
    <p:extLst>
      <p:ext uri="{BB962C8B-B14F-4D97-AF65-F5344CB8AC3E}">
        <p14:creationId xmlns:p14="http://schemas.microsoft.com/office/powerpoint/2010/main" val="135402091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b="1">
                <a:latin typeface="Aptos" panose="020B00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lvl1pPr>
              <a:defRPr>
                <a:latin typeface="Aptos" panose="020B0004020202020204" pitchFamily="34" charset="0"/>
              </a:defRPr>
            </a:lvl1pPr>
          </a:lstStyle>
          <a:p>
            <a:endParaRPr lang="en-US" dirty="0"/>
          </a:p>
        </p:txBody>
      </p:sp>
      <p:grpSp>
        <p:nvGrpSpPr>
          <p:cNvPr id="12" name="Group 11"/>
          <p:cNvGrpSpPr/>
          <p:nvPr userDrawn="1"/>
        </p:nvGrpSpPr>
        <p:grpSpPr>
          <a:xfrm>
            <a:off x="-4010" y="0"/>
            <a:ext cx="12200020" cy="6876822"/>
            <a:chOff x="-4010" y="0"/>
            <a:chExt cx="12200020" cy="6876822"/>
          </a:xfrm>
        </p:grpSpPr>
        <p:sp>
          <p:nvSpPr>
            <p:cNvPr id="13" name="Rectangle 12"/>
            <p:cNvSpPr/>
            <p:nvPr userDrawn="1"/>
          </p:nvSpPr>
          <p:spPr>
            <a:xfrm>
              <a:off x="12012851"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4" name="Rectangle 13"/>
            <p:cNvSpPr/>
            <p:nvPr userDrawn="1"/>
          </p:nvSpPr>
          <p:spPr>
            <a:xfrm>
              <a:off x="-4010"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pic>
          <p:nvPicPr>
            <p:cNvPr id="16" name="Picture 2" descr="http://www.nasa.gov/sites/default/files/images/nasaLogo-570x450.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061609" y="192726"/>
              <a:ext cx="974171" cy="76908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userDrawn="1"/>
          </p:nvSpPr>
          <p:spPr>
            <a:xfrm>
              <a:off x="-1" y="0"/>
              <a:ext cx="12188952"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8" name="Rectangle 17"/>
            <p:cNvSpPr/>
            <p:nvPr userDrawn="1"/>
          </p:nvSpPr>
          <p:spPr>
            <a:xfrm>
              <a:off x="0" y="6629571"/>
              <a:ext cx="12192000"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9" name="Rectangle 18"/>
            <p:cNvSpPr/>
            <p:nvPr userDrawn="1"/>
          </p:nvSpPr>
          <p:spPr>
            <a:xfrm>
              <a:off x="47244" y="6675291"/>
              <a:ext cx="12097512" cy="137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20" name="Rectangle 19"/>
            <p:cNvSpPr/>
            <p:nvPr userDrawn="1"/>
          </p:nvSpPr>
          <p:spPr>
            <a:xfrm>
              <a:off x="45719" y="45720"/>
              <a:ext cx="12097512"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21" name="Rectangle 20"/>
            <p:cNvSpPr/>
            <p:nvPr userDrawn="1"/>
          </p:nvSpPr>
          <p:spPr>
            <a:xfrm>
              <a:off x="12058710"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22" name="Rectangle 21"/>
            <p:cNvSpPr/>
            <p:nvPr userDrawn="1"/>
          </p:nvSpPr>
          <p:spPr>
            <a:xfrm>
              <a:off x="41849"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cxnSp>
          <p:nvCxnSpPr>
            <p:cNvPr id="23" name="Straight Connector 22"/>
            <p:cNvCxnSpPr/>
            <p:nvPr userDrawn="1"/>
          </p:nvCxnSpPr>
          <p:spPr>
            <a:xfrm>
              <a:off x="91439" y="91440"/>
              <a:ext cx="1200607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flipV="1">
              <a:off x="87569" y="81915"/>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V="1">
              <a:off x="12104430" y="81914"/>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76138"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userDrawn="1"/>
          </p:nvSpPr>
          <p:spPr>
            <a:xfrm>
              <a:off x="8275342" y="6615212"/>
              <a:ext cx="2816798" cy="261610"/>
            </a:xfrm>
            <a:prstGeom prst="rect">
              <a:avLst/>
            </a:prstGeom>
            <a:noFill/>
          </p:spPr>
          <p:txBody>
            <a:bodyPr wrap="none" rtlCol="0">
              <a:spAutoFit/>
            </a:bodyPr>
            <a:lstStyle/>
            <a:p>
              <a:pPr algn="r"/>
              <a:r>
                <a:rPr lang="en-US" sz="1100" dirty="0">
                  <a:latin typeface="Aptos" panose="020B0004020202020204" pitchFamily="34" charset="0"/>
                </a:rPr>
                <a:t>Advanced Materials and Processing</a:t>
              </a:r>
              <a:r>
                <a:rPr lang="en-US" sz="1100" baseline="0" dirty="0">
                  <a:latin typeface="Aptos" panose="020B0004020202020204" pitchFamily="34" charset="0"/>
                </a:rPr>
                <a:t> Branch</a:t>
              </a:r>
              <a:endParaRPr lang="en-US" sz="1100" dirty="0">
                <a:latin typeface="Aptos" panose="020B0004020202020204" pitchFamily="34" charset="0"/>
              </a:endParaRPr>
            </a:p>
          </p:txBody>
        </p:sp>
        <p:sp>
          <p:nvSpPr>
            <p:cNvPr id="29" name="TextBox 28"/>
            <p:cNvSpPr txBox="1"/>
            <p:nvPr userDrawn="1"/>
          </p:nvSpPr>
          <p:spPr>
            <a:xfrm>
              <a:off x="1441234" y="6615212"/>
              <a:ext cx="2076209" cy="261610"/>
            </a:xfrm>
            <a:prstGeom prst="rect">
              <a:avLst/>
            </a:prstGeom>
            <a:noFill/>
          </p:spPr>
          <p:txBody>
            <a:bodyPr wrap="none" rtlCol="0">
              <a:spAutoFit/>
            </a:bodyPr>
            <a:lstStyle/>
            <a:p>
              <a:pPr algn="l"/>
              <a:r>
                <a:rPr lang="en-US" sz="1100" dirty="0">
                  <a:latin typeface="Aptos" panose="020B0004020202020204" pitchFamily="34" charset="0"/>
                </a:rPr>
                <a:t>NASA Langley Research Center</a:t>
              </a:r>
            </a:p>
          </p:txBody>
        </p:sp>
        <p:cxnSp>
          <p:nvCxnSpPr>
            <p:cNvPr id="30" name="Straight Connector 29"/>
            <p:cNvCxnSpPr/>
            <p:nvPr userDrawn="1"/>
          </p:nvCxnSpPr>
          <p:spPr>
            <a:xfrm>
              <a:off x="3614030"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435653"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1323381"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3" name="Slide Number Placeholder 5"/>
          <p:cNvSpPr>
            <a:spLocks noGrp="1"/>
          </p:cNvSpPr>
          <p:nvPr>
            <p:ph type="sldNum" sz="quarter" idx="12"/>
          </p:nvPr>
        </p:nvSpPr>
        <p:spPr>
          <a:xfrm>
            <a:off x="9296400" y="6299200"/>
            <a:ext cx="2743200" cy="365125"/>
          </a:xfrm>
        </p:spPr>
        <p:txBody>
          <a:bodyPr/>
          <a:lstStyle>
            <a:lvl1pPr>
              <a:defRPr sz="2000">
                <a:solidFill>
                  <a:schemeClr val="tx1"/>
                </a:solidFill>
                <a:latin typeface="Aptos" panose="020B0004020202020204" pitchFamily="34" charset="0"/>
                <a:cs typeface="Times New Roman" panose="02020603050405020304" pitchFamily="18" charset="0"/>
              </a:defRPr>
            </a:lvl1pPr>
          </a:lstStyle>
          <a:p>
            <a:fld id="{224C0C37-3CEC-4CB4-B902-37F94E20E969}" type="slidenum">
              <a:rPr lang="en-US" smtClean="0"/>
              <a:pPr/>
              <a:t>‹#›</a:t>
            </a:fld>
            <a:endParaRPr lang="en-US" dirty="0"/>
          </a:p>
        </p:txBody>
      </p:sp>
      <p:pic>
        <p:nvPicPr>
          <p:cNvPr id="35" name="Picture 34" descr="Logo&#10;&#10;Description automatically generated with low confidence">
            <a:extLst>
              <a:ext uri="{FF2B5EF4-FFF2-40B4-BE49-F238E27FC236}">
                <a16:creationId xmlns:a16="http://schemas.microsoft.com/office/drawing/2014/main" id="{28629D04-1462-4AC7-86ED-2435D970D2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244" y="5905729"/>
            <a:ext cx="1484337" cy="568688"/>
          </a:xfrm>
          <a:prstGeom prst="rect">
            <a:avLst/>
          </a:prstGeom>
        </p:spPr>
      </p:pic>
      <p:sp>
        <p:nvSpPr>
          <p:cNvPr id="10" name="TextBox 9">
            <a:extLst>
              <a:ext uri="{FF2B5EF4-FFF2-40B4-BE49-F238E27FC236}">
                <a16:creationId xmlns:a16="http://schemas.microsoft.com/office/drawing/2014/main" id="{A62FF141-F63A-BC3A-E665-177A6A082525}"/>
              </a:ext>
            </a:extLst>
          </p:cNvPr>
          <p:cNvSpPr txBox="1"/>
          <p:nvPr userDrawn="1"/>
        </p:nvSpPr>
        <p:spPr>
          <a:xfrm>
            <a:off x="5071343" y="6615212"/>
            <a:ext cx="2040944" cy="261610"/>
          </a:xfrm>
          <a:prstGeom prst="rect">
            <a:avLst/>
          </a:prstGeom>
          <a:noFill/>
        </p:spPr>
        <p:txBody>
          <a:bodyPr wrap="none" rtlCol="0">
            <a:spAutoFit/>
          </a:bodyPr>
          <a:lstStyle/>
          <a:p>
            <a:pPr algn="ctr"/>
            <a:r>
              <a:rPr lang="en-US" sz="1100" dirty="0">
                <a:latin typeface="Aptos" panose="020B0004020202020204" pitchFamily="34" charset="0"/>
              </a:rPr>
              <a:t>2025 Spring Intern Symposium</a:t>
            </a:r>
          </a:p>
        </p:txBody>
      </p:sp>
    </p:spTree>
    <p:extLst>
      <p:ext uri="{BB962C8B-B14F-4D97-AF65-F5344CB8AC3E}">
        <p14:creationId xmlns:p14="http://schemas.microsoft.com/office/powerpoint/2010/main" val="361653214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ptos" panose="020B0004020202020204" pitchFamily="34" charset="0"/>
              </a:defRPr>
            </a:lvl1pPr>
          </a:lstStyle>
          <a:p>
            <a:r>
              <a:rPr lang="en-US" dirty="0"/>
              <a:t>Click to edit Master title style</a:t>
            </a:r>
          </a:p>
        </p:txBody>
      </p:sp>
      <p:sp>
        <p:nvSpPr>
          <p:cNvPr id="4" name="Footer Placeholder 3"/>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Aptos" panose="020B0004020202020204" pitchFamily="34" charset="0"/>
              </a:defRPr>
            </a:lvl1pPr>
          </a:lstStyle>
          <a:p>
            <a:fld id="{224C0C37-3CEC-4CB4-B902-37F94E20E969}" type="slidenum">
              <a:rPr lang="en-US" smtClean="0"/>
              <a:pPr/>
              <a:t>‹#›</a:t>
            </a:fld>
            <a:endParaRPr lang="en-US" dirty="0"/>
          </a:p>
        </p:txBody>
      </p:sp>
      <p:grpSp>
        <p:nvGrpSpPr>
          <p:cNvPr id="9" name="Group 8"/>
          <p:cNvGrpSpPr/>
          <p:nvPr userDrawn="1"/>
        </p:nvGrpSpPr>
        <p:grpSpPr>
          <a:xfrm>
            <a:off x="-4010" y="0"/>
            <a:ext cx="12200020" cy="6876822"/>
            <a:chOff x="-4010" y="0"/>
            <a:chExt cx="12200020" cy="6876822"/>
          </a:xfrm>
        </p:grpSpPr>
        <p:sp>
          <p:nvSpPr>
            <p:cNvPr id="10" name="Rectangle 9"/>
            <p:cNvSpPr/>
            <p:nvPr userDrawn="1"/>
          </p:nvSpPr>
          <p:spPr>
            <a:xfrm>
              <a:off x="12012851"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1" name="Rectangle 10"/>
            <p:cNvSpPr/>
            <p:nvPr userDrawn="1"/>
          </p:nvSpPr>
          <p:spPr>
            <a:xfrm>
              <a:off x="-4010"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pic>
          <p:nvPicPr>
            <p:cNvPr id="13" name="Picture 2" descr="http://www.nasa.gov/sites/default/files/images/nasaLogo-570x450.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061609" y="192726"/>
              <a:ext cx="974171" cy="769083"/>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userDrawn="1"/>
          </p:nvSpPr>
          <p:spPr>
            <a:xfrm>
              <a:off x="-1" y="0"/>
              <a:ext cx="12188952"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5" name="Rectangle 14"/>
            <p:cNvSpPr/>
            <p:nvPr userDrawn="1"/>
          </p:nvSpPr>
          <p:spPr>
            <a:xfrm>
              <a:off x="0" y="6629571"/>
              <a:ext cx="12192000"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 name="Rectangle 15"/>
            <p:cNvSpPr/>
            <p:nvPr userDrawn="1"/>
          </p:nvSpPr>
          <p:spPr>
            <a:xfrm>
              <a:off x="47244" y="6675291"/>
              <a:ext cx="12097512" cy="137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7" name="Rectangle 16"/>
            <p:cNvSpPr/>
            <p:nvPr userDrawn="1"/>
          </p:nvSpPr>
          <p:spPr>
            <a:xfrm>
              <a:off x="45719" y="45720"/>
              <a:ext cx="12097512"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8" name="Rectangle 17"/>
            <p:cNvSpPr/>
            <p:nvPr userDrawn="1"/>
          </p:nvSpPr>
          <p:spPr>
            <a:xfrm>
              <a:off x="12058710"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9" name="Rectangle 18"/>
            <p:cNvSpPr/>
            <p:nvPr userDrawn="1"/>
          </p:nvSpPr>
          <p:spPr>
            <a:xfrm>
              <a:off x="41849"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cxnSp>
          <p:nvCxnSpPr>
            <p:cNvPr id="20" name="Straight Connector 19"/>
            <p:cNvCxnSpPr/>
            <p:nvPr userDrawn="1"/>
          </p:nvCxnSpPr>
          <p:spPr>
            <a:xfrm>
              <a:off x="91439" y="91440"/>
              <a:ext cx="1200607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flipV="1">
              <a:off x="87569" y="81915"/>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V="1">
              <a:off x="12104430" y="81914"/>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76138"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userDrawn="1"/>
          </p:nvSpPr>
          <p:spPr>
            <a:xfrm>
              <a:off x="8275342" y="6615212"/>
              <a:ext cx="2816798" cy="261610"/>
            </a:xfrm>
            <a:prstGeom prst="rect">
              <a:avLst/>
            </a:prstGeom>
            <a:noFill/>
          </p:spPr>
          <p:txBody>
            <a:bodyPr wrap="none" rtlCol="0">
              <a:spAutoFit/>
            </a:bodyPr>
            <a:lstStyle/>
            <a:p>
              <a:pPr algn="r"/>
              <a:r>
                <a:rPr lang="en-US" sz="1100" dirty="0">
                  <a:latin typeface="Aptos" panose="020B0004020202020204" pitchFamily="34" charset="0"/>
                </a:rPr>
                <a:t>Advanced Materials and Processing</a:t>
              </a:r>
              <a:r>
                <a:rPr lang="en-US" sz="1100" baseline="0" dirty="0">
                  <a:latin typeface="Aptos" panose="020B0004020202020204" pitchFamily="34" charset="0"/>
                </a:rPr>
                <a:t> Branch</a:t>
              </a:r>
              <a:endParaRPr lang="en-US" sz="1100" dirty="0">
                <a:latin typeface="Aptos" panose="020B0004020202020204" pitchFamily="34" charset="0"/>
              </a:endParaRPr>
            </a:p>
          </p:txBody>
        </p:sp>
        <p:sp>
          <p:nvSpPr>
            <p:cNvPr id="26" name="TextBox 25"/>
            <p:cNvSpPr txBox="1"/>
            <p:nvPr userDrawn="1"/>
          </p:nvSpPr>
          <p:spPr>
            <a:xfrm>
              <a:off x="1441234" y="6615212"/>
              <a:ext cx="2076209" cy="261610"/>
            </a:xfrm>
            <a:prstGeom prst="rect">
              <a:avLst/>
            </a:prstGeom>
            <a:noFill/>
          </p:spPr>
          <p:txBody>
            <a:bodyPr wrap="none" rtlCol="0">
              <a:spAutoFit/>
            </a:bodyPr>
            <a:lstStyle/>
            <a:p>
              <a:pPr algn="l"/>
              <a:r>
                <a:rPr lang="en-US" sz="1100" dirty="0">
                  <a:latin typeface="Aptos" panose="020B0004020202020204" pitchFamily="34" charset="0"/>
                </a:rPr>
                <a:t>NASA Langley Research Center</a:t>
              </a:r>
            </a:p>
          </p:txBody>
        </p:sp>
        <p:cxnSp>
          <p:nvCxnSpPr>
            <p:cNvPr id="27" name="Straight Connector 26"/>
            <p:cNvCxnSpPr/>
            <p:nvPr userDrawn="1"/>
          </p:nvCxnSpPr>
          <p:spPr>
            <a:xfrm>
              <a:off x="3614030"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7435653"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userDrawn="1"/>
          </p:nvCxnSpPr>
          <p:spPr>
            <a:xfrm>
              <a:off x="11323381"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31" name="Picture 30" descr="Logo&#10;&#10;Description automatically generated with low confidence">
            <a:extLst>
              <a:ext uri="{FF2B5EF4-FFF2-40B4-BE49-F238E27FC236}">
                <a16:creationId xmlns:a16="http://schemas.microsoft.com/office/drawing/2014/main" id="{6AB72F9B-6CEA-44E4-B4E4-4A1883C41D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244" y="5905729"/>
            <a:ext cx="1484337" cy="568688"/>
          </a:xfrm>
          <a:prstGeom prst="rect">
            <a:avLst/>
          </a:prstGeom>
        </p:spPr>
      </p:pic>
      <p:sp>
        <p:nvSpPr>
          <p:cNvPr id="7" name="TextBox 6">
            <a:extLst>
              <a:ext uri="{FF2B5EF4-FFF2-40B4-BE49-F238E27FC236}">
                <a16:creationId xmlns:a16="http://schemas.microsoft.com/office/drawing/2014/main" id="{34103778-9493-ED42-6A94-D7494E56EA16}"/>
              </a:ext>
            </a:extLst>
          </p:cNvPr>
          <p:cNvSpPr txBox="1"/>
          <p:nvPr userDrawn="1"/>
        </p:nvSpPr>
        <p:spPr>
          <a:xfrm>
            <a:off x="5071343" y="6615212"/>
            <a:ext cx="2040944" cy="261610"/>
          </a:xfrm>
          <a:prstGeom prst="rect">
            <a:avLst/>
          </a:prstGeom>
          <a:noFill/>
        </p:spPr>
        <p:txBody>
          <a:bodyPr wrap="none" rtlCol="0">
            <a:spAutoFit/>
          </a:bodyPr>
          <a:lstStyle/>
          <a:p>
            <a:pPr algn="ctr"/>
            <a:r>
              <a:rPr lang="en-US" sz="1100" dirty="0">
                <a:latin typeface="Aptos" panose="020B0004020202020204" pitchFamily="34" charset="0"/>
              </a:rPr>
              <a:t>2025 Spring Intern Symposium</a:t>
            </a:r>
          </a:p>
        </p:txBody>
      </p:sp>
    </p:spTree>
    <p:extLst>
      <p:ext uri="{BB962C8B-B14F-4D97-AF65-F5344CB8AC3E}">
        <p14:creationId xmlns:p14="http://schemas.microsoft.com/office/powerpoint/2010/main" val="228172667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latin typeface="Aptos" panose="020B0004020202020204"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Aptos" panose="020B0004020202020204" pitchFamily="34" charset="0"/>
              </a:defRPr>
            </a:lvl1pPr>
          </a:lstStyle>
          <a:p>
            <a:fld id="{224C0C37-3CEC-4CB4-B902-37F94E20E969}" type="slidenum">
              <a:rPr lang="en-US" smtClean="0"/>
              <a:pPr/>
              <a:t>‹#›</a:t>
            </a:fld>
            <a:endParaRPr lang="en-US" dirty="0"/>
          </a:p>
        </p:txBody>
      </p:sp>
      <p:grpSp>
        <p:nvGrpSpPr>
          <p:cNvPr id="7" name="Group 6"/>
          <p:cNvGrpSpPr/>
          <p:nvPr userDrawn="1"/>
        </p:nvGrpSpPr>
        <p:grpSpPr>
          <a:xfrm>
            <a:off x="-4010" y="0"/>
            <a:ext cx="12200020" cy="6876822"/>
            <a:chOff x="-4010" y="0"/>
            <a:chExt cx="12200020" cy="6876822"/>
          </a:xfrm>
        </p:grpSpPr>
        <p:sp>
          <p:nvSpPr>
            <p:cNvPr id="8" name="Rectangle 7"/>
            <p:cNvSpPr/>
            <p:nvPr userDrawn="1"/>
          </p:nvSpPr>
          <p:spPr>
            <a:xfrm>
              <a:off x="12012851"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9" name="Rectangle 8"/>
            <p:cNvSpPr/>
            <p:nvPr userDrawn="1"/>
          </p:nvSpPr>
          <p:spPr>
            <a:xfrm>
              <a:off x="-4010" y="0"/>
              <a:ext cx="183159"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pic>
          <p:nvPicPr>
            <p:cNvPr id="11" name="Picture 2" descr="http://www.nasa.gov/sites/default/files/images/nasaLogo-570x450.png"/>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1061609" y="192726"/>
              <a:ext cx="974171" cy="76908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userDrawn="1"/>
          </p:nvSpPr>
          <p:spPr>
            <a:xfrm>
              <a:off x="-1" y="0"/>
              <a:ext cx="12188952" cy="1828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3" name="Rectangle 12"/>
            <p:cNvSpPr/>
            <p:nvPr userDrawn="1"/>
          </p:nvSpPr>
          <p:spPr>
            <a:xfrm>
              <a:off x="0" y="6629571"/>
              <a:ext cx="12192000" cy="2286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4" name="Rectangle 13"/>
            <p:cNvSpPr/>
            <p:nvPr userDrawn="1"/>
          </p:nvSpPr>
          <p:spPr>
            <a:xfrm>
              <a:off x="47244" y="6675291"/>
              <a:ext cx="12097512" cy="137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5" name="Rectangle 14"/>
            <p:cNvSpPr/>
            <p:nvPr userDrawn="1"/>
          </p:nvSpPr>
          <p:spPr>
            <a:xfrm>
              <a:off x="45719" y="45720"/>
              <a:ext cx="12097512" cy="91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6" name="Rectangle 15"/>
            <p:cNvSpPr/>
            <p:nvPr userDrawn="1"/>
          </p:nvSpPr>
          <p:spPr>
            <a:xfrm>
              <a:off x="12058710"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sp>
          <p:nvSpPr>
            <p:cNvPr id="17" name="Rectangle 16"/>
            <p:cNvSpPr/>
            <p:nvPr userDrawn="1"/>
          </p:nvSpPr>
          <p:spPr>
            <a:xfrm>
              <a:off x="41849" y="45720"/>
              <a:ext cx="91440" cy="6766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endParaRPr>
            </a:p>
          </p:txBody>
        </p:sp>
        <p:cxnSp>
          <p:nvCxnSpPr>
            <p:cNvPr id="18" name="Straight Connector 17"/>
            <p:cNvCxnSpPr/>
            <p:nvPr userDrawn="1"/>
          </p:nvCxnSpPr>
          <p:spPr>
            <a:xfrm>
              <a:off x="91439" y="91440"/>
              <a:ext cx="1200607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V="1">
              <a:off x="87569" y="81915"/>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V="1">
              <a:off x="12104430" y="81914"/>
              <a:ext cx="0" cy="667512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a:off x="76138"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8275342" y="6615212"/>
              <a:ext cx="2816798" cy="261610"/>
            </a:xfrm>
            <a:prstGeom prst="rect">
              <a:avLst/>
            </a:prstGeom>
            <a:noFill/>
          </p:spPr>
          <p:txBody>
            <a:bodyPr wrap="none" rtlCol="0">
              <a:spAutoFit/>
            </a:bodyPr>
            <a:lstStyle/>
            <a:p>
              <a:pPr algn="r"/>
              <a:r>
                <a:rPr lang="en-US" sz="1100" dirty="0">
                  <a:latin typeface="Aptos" panose="020B0004020202020204" pitchFamily="34" charset="0"/>
                </a:rPr>
                <a:t>Advanced Materials and Processing</a:t>
              </a:r>
              <a:r>
                <a:rPr lang="en-US" sz="1100" baseline="0" dirty="0">
                  <a:latin typeface="Aptos" panose="020B0004020202020204" pitchFamily="34" charset="0"/>
                </a:rPr>
                <a:t> Branch</a:t>
              </a:r>
              <a:endParaRPr lang="en-US" sz="1100" dirty="0">
                <a:latin typeface="Aptos" panose="020B0004020202020204" pitchFamily="34" charset="0"/>
              </a:endParaRPr>
            </a:p>
          </p:txBody>
        </p:sp>
        <p:sp>
          <p:nvSpPr>
            <p:cNvPr id="24" name="TextBox 23"/>
            <p:cNvSpPr txBox="1"/>
            <p:nvPr userDrawn="1"/>
          </p:nvSpPr>
          <p:spPr>
            <a:xfrm>
              <a:off x="1441234" y="6615212"/>
              <a:ext cx="2076209" cy="261610"/>
            </a:xfrm>
            <a:prstGeom prst="rect">
              <a:avLst/>
            </a:prstGeom>
            <a:noFill/>
          </p:spPr>
          <p:txBody>
            <a:bodyPr wrap="none" rtlCol="0">
              <a:spAutoFit/>
            </a:bodyPr>
            <a:lstStyle/>
            <a:p>
              <a:pPr algn="l"/>
              <a:r>
                <a:rPr lang="en-US" sz="1100" dirty="0">
                  <a:latin typeface="Aptos" panose="020B0004020202020204" pitchFamily="34" charset="0"/>
                </a:rPr>
                <a:t>NASA Langley Research Center</a:t>
              </a:r>
            </a:p>
          </p:txBody>
        </p:sp>
        <p:cxnSp>
          <p:nvCxnSpPr>
            <p:cNvPr id="25" name="Straight Connector 24"/>
            <p:cNvCxnSpPr/>
            <p:nvPr userDrawn="1"/>
          </p:nvCxnSpPr>
          <p:spPr>
            <a:xfrm>
              <a:off x="3614030" y="6755542"/>
              <a:ext cx="113385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a:off x="7435653"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11323381" y="6755542"/>
              <a:ext cx="78638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29" name="Picture 28" descr="Logo&#10;&#10;Description automatically generated with low confidence">
            <a:extLst>
              <a:ext uri="{FF2B5EF4-FFF2-40B4-BE49-F238E27FC236}">
                <a16:creationId xmlns:a16="http://schemas.microsoft.com/office/drawing/2014/main" id="{7492CD36-1265-4CB1-8691-03D1C628AE4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244" y="5905729"/>
            <a:ext cx="1484337" cy="568688"/>
          </a:xfrm>
          <a:prstGeom prst="rect">
            <a:avLst/>
          </a:prstGeom>
        </p:spPr>
      </p:pic>
      <p:sp>
        <p:nvSpPr>
          <p:cNvPr id="6" name="TextBox 5">
            <a:extLst>
              <a:ext uri="{FF2B5EF4-FFF2-40B4-BE49-F238E27FC236}">
                <a16:creationId xmlns:a16="http://schemas.microsoft.com/office/drawing/2014/main" id="{2D9BB83A-714C-B790-C741-A2A165BD2BCA}"/>
              </a:ext>
            </a:extLst>
          </p:cNvPr>
          <p:cNvSpPr txBox="1"/>
          <p:nvPr userDrawn="1"/>
        </p:nvSpPr>
        <p:spPr>
          <a:xfrm>
            <a:off x="5071343" y="6615212"/>
            <a:ext cx="2040944" cy="261610"/>
          </a:xfrm>
          <a:prstGeom prst="rect">
            <a:avLst/>
          </a:prstGeom>
          <a:noFill/>
        </p:spPr>
        <p:txBody>
          <a:bodyPr wrap="none" rtlCol="0">
            <a:spAutoFit/>
          </a:bodyPr>
          <a:lstStyle/>
          <a:p>
            <a:pPr algn="ctr"/>
            <a:r>
              <a:rPr lang="en-US" sz="1100" dirty="0">
                <a:latin typeface="Aptos" panose="020B0004020202020204" pitchFamily="34" charset="0"/>
              </a:rPr>
              <a:t>2025 Spring Intern Symposium</a:t>
            </a:r>
          </a:p>
        </p:txBody>
      </p:sp>
    </p:spTree>
    <p:extLst>
      <p:ext uri="{BB962C8B-B14F-4D97-AF65-F5344CB8AC3E}">
        <p14:creationId xmlns:p14="http://schemas.microsoft.com/office/powerpoint/2010/main" val="41174355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92E69-FA3E-82EB-F8F9-1306B3630EC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3345DC-B9A8-7E44-598B-8C01E7BBD83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88519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2.xml"/><Relationship Id="rId1" Type="http://schemas.openxmlformats.org/officeDocument/2006/relationships/slideLayout" Target="../slideLayouts/slideLayout7.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8BD33-461B-4688-8AB9-170C7688F2F3}" type="datetime1">
              <a:rPr lang="en-US" smtClean="0"/>
              <a:t>8/4/25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4C0C37-3CEC-4CB4-B902-37F94E20E969}" type="slidenum">
              <a:rPr lang="en-US" smtClean="0"/>
              <a:t>‹#›</a:t>
            </a:fld>
            <a:endParaRPr lang="en-US"/>
          </a:p>
        </p:txBody>
      </p:sp>
    </p:spTree>
    <p:extLst>
      <p:ext uri="{BB962C8B-B14F-4D97-AF65-F5344CB8AC3E}">
        <p14:creationId xmlns:p14="http://schemas.microsoft.com/office/powerpoint/2010/main" val="8959189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2" descr="Banner OCT template.jpg"/>
          <p:cNvPicPr>
            <a:picLocks noChangeAspect="1"/>
          </p:cNvPicPr>
          <p:nvPr userDrawn="1"/>
        </p:nvPicPr>
        <p:blipFill>
          <a:blip r:embed="rId3">
            <a:extLst>
              <a:ext uri="{28A0092B-C50C-407E-A947-70E740481C1C}">
                <a14:useLocalDpi xmlns:a14="http://schemas.microsoft.com/office/drawing/2010/main"/>
              </a:ext>
            </a:extLst>
          </a:blip>
          <a:srcRect/>
          <a:stretch>
            <a:fillRect/>
          </a:stretch>
        </p:blipFill>
        <p:spPr bwMode="auto">
          <a:xfrm>
            <a:off x="0" y="1"/>
            <a:ext cx="121920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811" y="-1"/>
            <a:ext cx="12192000" cy="1127125"/>
          </a:xfrm>
          <a:prstGeom prst="rect">
            <a:avLst/>
          </a:prstGeom>
        </p:spPr>
      </p:pic>
    </p:spTree>
    <p:extLst>
      <p:ext uri="{BB962C8B-B14F-4D97-AF65-F5344CB8AC3E}">
        <p14:creationId xmlns:p14="http://schemas.microsoft.com/office/powerpoint/2010/main" val="100298661"/>
      </p:ext>
    </p:extLst>
  </p:cSld>
  <p:clrMap bg1="dk1" tx1="lt1" bg2="dk2" tx2="lt2" accent1="accent1" accent2="accent2" accent3="accent3" accent4="accent4" accent5="accent5" accent6="accent6" hlink="hlink" folHlink="folHlink"/>
  <p:sldLayoutIdLst>
    <p:sldLayoutId id="2147483673" r:id="rId1"/>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pitchFamily="34"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pitchFamily="34"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pitchFamily="34"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pitchFamily="34"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pitchFamily="34"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images.nasa.gov/details/PIA23645" TargetMode="External"/></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jpe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10" Type="http://schemas.openxmlformats.org/officeDocument/2006/relationships/hyperlink" Target="https://images.nasa.gov/details/AFRC2025-0051-52" TargetMode="External"/><Relationship Id="rId4" Type="http://schemas.openxmlformats.org/officeDocument/2006/relationships/image" Target="../media/image9.jpeg"/><Relationship Id="rId9" Type="http://schemas.openxmlformats.org/officeDocument/2006/relationships/image" Target="../media/image12.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jpeg"/><Relationship Id="rId18" Type="http://schemas.openxmlformats.org/officeDocument/2006/relationships/image" Target="../media/image28.jpeg"/><Relationship Id="rId3" Type="http://schemas.openxmlformats.org/officeDocument/2006/relationships/image" Target="../media/image15.png"/><Relationship Id="rId21" Type="http://schemas.openxmlformats.org/officeDocument/2006/relationships/image" Target="../media/image30.jpeg"/><Relationship Id="rId7" Type="http://schemas.openxmlformats.org/officeDocument/2006/relationships/image" Target="../media/image19.png"/><Relationship Id="rId12" Type="http://schemas.openxmlformats.org/officeDocument/2006/relationships/image" Target="../media/image23.jpeg"/><Relationship Id="rId17" Type="http://schemas.microsoft.com/office/2007/relationships/hdphoto" Target="../media/hdphoto4.wdp"/><Relationship Id="rId2" Type="http://schemas.openxmlformats.org/officeDocument/2006/relationships/notesSlide" Target="../notesSlides/notesSlide5.xml"/><Relationship Id="rId16" Type="http://schemas.openxmlformats.org/officeDocument/2006/relationships/image" Target="../media/image27.png"/><Relationship Id="rId20" Type="http://schemas.microsoft.com/office/2007/relationships/hdphoto" Target="../media/hdphoto5.wdp"/><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image" Target="../media/image22.jpeg"/><Relationship Id="rId5" Type="http://schemas.openxmlformats.org/officeDocument/2006/relationships/image" Target="../media/image17.jpeg"/><Relationship Id="rId15" Type="http://schemas.openxmlformats.org/officeDocument/2006/relationships/image" Target="../media/image26.jpeg"/><Relationship Id="rId10" Type="http://schemas.openxmlformats.org/officeDocument/2006/relationships/image" Target="../media/image21.jpeg"/><Relationship Id="rId19" Type="http://schemas.openxmlformats.org/officeDocument/2006/relationships/image" Target="../media/image29.png"/><Relationship Id="rId4" Type="http://schemas.openxmlformats.org/officeDocument/2006/relationships/image" Target="../media/image16.jpeg"/><Relationship Id="rId9" Type="http://schemas.microsoft.com/office/2007/relationships/hdphoto" Target="../media/hdphoto3.wdp"/><Relationship Id="rId14" Type="http://schemas.openxmlformats.org/officeDocument/2006/relationships/image" Target="../media/image25.jpeg"/><Relationship Id="rId22" Type="http://schemas.openxmlformats.org/officeDocument/2006/relationships/image" Target="../media/image31.jpe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peg"/><Relationship Id="rId7"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5.jpeg"/><Relationship Id="rId11" Type="http://schemas.openxmlformats.org/officeDocument/2006/relationships/image" Target="../media/image40.jpeg"/><Relationship Id="rId5" Type="http://schemas.openxmlformats.org/officeDocument/2006/relationships/image" Target="../media/image34.jpeg"/><Relationship Id="rId10" Type="http://schemas.openxmlformats.org/officeDocument/2006/relationships/image" Target="../media/image39.jpeg"/><Relationship Id="rId4" Type="http://schemas.openxmlformats.org/officeDocument/2006/relationships/image" Target="../media/image33.jpeg"/><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1.jpeg"/><Relationship Id="rId3" Type="http://schemas.openxmlformats.org/officeDocument/2006/relationships/image" Target="../media/image43.png"/><Relationship Id="rId7" Type="http://schemas.microsoft.com/office/2007/relationships/hdphoto" Target="../media/hdphoto6.wdp"/><Relationship Id="rId12" Type="http://schemas.openxmlformats.org/officeDocument/2006/relationships/hyperlink" Target="https://images.nasa.gov/details/PIA14910" TargetMode="Externa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0.jpeg"/><Relationship Id="rId5" Type="http://schemas.openxmlformats.org/officeDocument/2006/relationships/image" Target="../media/image46.png"/><Relationship Id="rId10" Type="http://schemas.microsoft.com/office/2007/relationships/hdphoto" Target="../media/hdphoto7.wdp"/><Relationship Id="rId4" Type="http://schemas.openxmlformats.org/officeDocument/2006/relationships/image" Target="../media/image44.jpeg"/><Relationship Id="rId9" Type="http://schemas.openxmlformats.org/officeDocument/2006/relationships/image" Target="../media/image49.png"/><Relationship Id="rId14" Type="http://schemas.openxmlformats.org/officeDocument/2006/relationships/hyperlink" Target="https://www.nasa.gov/news-release/nasa-awards-launch-services-contract-for-dragonfly-mission/"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jpeg"/></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9.jpeg"/><Relationship Id="rId4" Type="http://schemas.openxmlformats.org/officeDocument/2006/relationships/image" Target="../media/image68.jpeg"/></Relationships>
</file>

<file path=ppt/slides/_rels/slide1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hdphoto" Target="../media/hdphoto9.wdp"/><Relationship Id="rId3" Type="http://schemas.openxmlformats.org/officeDocument/2006/relationships/image" Target="../media/image72.jpeg"/><Relationship Id="rId7" Type="http://schemas.openxmlformats.org/officeDocument/2006/relationships/image" Target="../media/image7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74.png"/><Relationship Id="rId4"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383" y="770982"/>
            <a:ext cx="12284766" cy="2387600"/>
          </a:xfrm>
        </p:spPr>
        <p:txBody>
          <a:bodyPr>
            <a:normAutofit fontScale="90000"/>
          </a:bodyPr>
          <a:lstStyle/>
          <a:p>
            <a:r>
              <a:rPr lang="en-US" sz="4300" b="1" dirty="0">
                <a:solidFill>
                  <a:srgbClr val="000000"/>
                </a:solidFill>
                <a:effectLst/>
                <a:ea typeface="Calibri" panose="020F0502020204030204" pitchFamily="34" charset="0"/>
              </a:rPr>
              <a:t>Mechanical Analysis of Sustainably Derived Resins &amp; Individual Natural Fibers for </a:t>
            </a:r>
            <a:r>
              <a:rPr lang="en-US" sz="4300" b="1" dirty="0" err="1">
                <a:solidFill>
                  <a:srgbClr val="000000"/>
                </a:solidFill>
                <a:effectLst/>
                <a:ea typeface="Calibri" panose="020F0502020204030204" pitchFamily="34" charset="0"/>
              </a:rPr>
              <a:t>SUstainable</a:t>
            </a:r>
            <a:r>
              <a:rPr lang="en-US" sz="4300" b="1" dirty="0">
                <a:solidFill>
                  <a:srgbClr val="000000"/>
                </a:solidFill>
                <a:effectLst/>
                <a:ea typeface="Calibri" panose="020F0502020204030204" pitchFamily="34" charset="0"/>
              </a:rPr>
              <a:t> Manufacturing of </a:t>
            </a:r>
            <a:r>
              <a:rPr lang="en-US" sz="4300" b="1" dirty="0" err="1">
                <a:solidFill>
                  <a:srgbClr val="000000"/>
                </a:solidFill>
                <a:effectLst/>
                <a:ea typeface="Calibri" panose="020F0502020204030204" pitchFamily="34" charset="0"/>
              </a:rPr>
              <a:t>AirCraft</a:t>
            </a:r>
            <a:r>
              <a:rPr lang="en-US" sz="4300" b="1" dirty="0">
                <a:solidFill>
                  <a:srgbClr val="000000"/>
                </a:solidFill>
                <a:effectLst/>
                <a:ea typeface="Calibri" panose="020F0502020204030204" pitchFamily="34" charset="0"/>
              </a:rPr>
              <a:t> (SUMAC) Composites</a:t>
            </a:r>
            <a:endParaRPr lang="en-US" sz="4300" dirty="0">
              <a:cs typeface="Calibri" panose="020F0502020204030204" pitchFamily="34" charset="0"/>
            </a:endParaRPr>
          </a:p>
        </p:txBody>
      </p:sp>
      <p:sp>
        <p:nvSpPr>
          <p:cNvPr id="3" name="Subtitle 2"/>
          <p:cNvSpPr>
            <a:spLocks noGrp="1"/>
          </p:cNvSpPr>
          <p:nvPr>
            <p:ph type="subTitle" idx="1"/>
          </p:nvPr>
        </p:nvSpPr>
        <p:spPr>
          <a:xfrm>
            <a:off x="1524000" y="3640137"/>
            <a:ext cx="9144000" cy="2038185"/>
          </a:xfrm>
        </p:spPr>
        <p:txBody>
          <a:bodyPr>
            <a:normAutofit/>
          </a:bodyPr>
          <a:lstStyle/>
          <a:p>
            <a:r>
              <a:rPr lang="en-US" sz="1800" dirty="0">
                <a:cs typeface="Times New Roman" panose="02020603050405020304" pitchFamily="18" charset="0"/>
              </a:rPr>
              <a:t>Intern</a:t>
            </a:r>
          </a:p>
          <a:p>
            <a:r>
              <a:rPr lang="en-US" sz="1800" dirty="0">
                <a:cs typeface="Times New Roman" panose="02020603050405020304" pitchFamily="18" charset="0"/>
              </a:rPr>
              <a:t>Enoch Kim</a:t>
            </a:r>
          </a:p>
          <a:p>
            <a:r>
              <a:rPr lang="en-US" sz="1800" dirty="0">
                <a:cs typeface="Times New Roman" panose="02020603050405020304" pitchFamily="18" charset="0"/>
              </a:rPr>
              <a:t>University of California Irvine – Aerospace Engineering</a:t>
            </a:r>
          </a:p>
          <a:p>
            <a:r>
              <a:rPr lang="en-US" sz="1800" dirty="0">
                <a:cs typeface="Times New Roman" panose="02020603050405020304" pitchFamily="18" charset="0"/>
              </a:rPr>
              <a:t>Mentors</a:t>
            </a:r>
          </a:p>
          <a:p>
            <a:r>
              <a:rPr lang="en-US" sz="1800" dirty="0">
                <a:cs typeface="Times New Roman" panose="02020603050405020304" pitchFamily="18" charset="0"/>
              </a:rPr>
              <a:t>Dr. Sang-Hyon Chu &amp; Dr. Cheol Park</a:t>
            </a:r>
          </a:p>
        </p:txBody>
      </p:sp>
      <p:sp>
        <p:nvSpPr>
          <p:cNvPr id="4" name="TextBox 3"/>
          <p:cNvSpPr txBox="1"/>
          <p:nvPr/>
        </p:nvSpPr>
        <p:spPr>
          <a:xfrm>
            <a:off x="3860579" y="5678323"/>
            <a:ext cx="4470904" cy="1200329"/>
          </a:xfrm>
          <a:prstGeom prst="rect">
            <a:avLst/>
          </a:prstGeom>
          <a:noFill/>
        </p:spPr>
        <p:txBody>
          <a:bodyPr wrap="none" rtlCol="0">
            <a:spAutoFit/>
          </a:bodyPr>
          <a:lstStyle/>
          <a:p>
            <a:pPr algn="ctr"/>
            <a:r>
              <a:rPr lang="en-US" dirty="0">
                <a:latin typeface="Aptos" panose="020B0004020202020204" pitchFamily="34" charset="0"/>
                <a:cs typeface="Times New Roman" panose="02020603050405020304" pitchFamily="18" charset="0"/>
              </a:rPr>
              <a:t>2025 Spring Student Research Symposium</a:t>
            </a:r>
          </a:p>
          <a:p>
            <a:pPr algn="ctr"/>
            <a:endParaRPr lang="en-US" dirty="0">
              <a:latin typeface="Aptos" panose="020B0004020202020204" pitchFamily="34" charset="0"/>
              <a:cs typeface="Times New Roman" panose="02020603050405020304" pitchFamily="18" charset="0"/>
            </a:endParaRPr>
          </a:p>
          <a:p>
            <a:pPr algn="ctr"/>
            <a:r>
              <a:rPr lang="en-US" dirty="0">
                <a:latin typeface="Aptos" panose="020B0004020202020204" pitchFamily="34" charset="0"/>
                <a:cs typeface="Times New Roman" panose="02020603050405020304" pitchFamily="18" charset="0"/>
              </a:rPr>
              <a:t>Advanced Materials and Processing Branch</a:t>
            </a:r>
          </a:p>
          <a:p>
            <a:pPr algn="ctr"/>
            <a:r>
              <a:rPr lang="en-US" dirty="0">
                <a:latin typeface="Aptos" panose="020B0004020202020204" pitchFamily="34" charset="0"/>
                <a:cs typeface="Times New Roman" panose="02020603050405020304" pitchFamily="18" charset="0"/>
              </a:rPr>
              <a:t>NASA Langley Research Center</a:t>
            </a:r>
          </a:p>
        </p:txBody>
      </p:sp>
      <p:sp>
        <p:nvSpPr>
          <p:cNvPr id="8" name="Rectangle 7"/>
          <p:cNvSpPr/>
          <p:nvPr/>
        </p:nvSpPr>
        <p:spPr>
          <a:xfrm>
            <a:off x="2328863" y="4603247"/>
            <a:ext cx="7839075" cy="338554"/>
          </a:xfrm>
          <a:prstGeom prst="rect">
            <a:avLst/>
          </a:prstGeom>
        </p:spPr>
        <p:txBody>
          <a:bodyPr wrap="square">
            <a:spAutoFit/>
          </a:bodyPr>
          <a:lstStyle/>
          <a:p>
            <a:pPr algn="ctr"/>
            <a:endParaRPr lang="en-US" sz="1600" dirty="0">
              <a:solidFill>
                <a:srgbClr val="002060"/>
              </a:solidFill>
              <a:ea typeface="Times New Roman" panose="02020603050405020304" pitchFamily="18" charset="0"/>
              <a:cs typeface="Calibri" panose="020F0502020204030204" pitchFamily="34" charset="0"/>
            </a:endParaRPr>
          </a:p>
        </p:txBody>
      </p:sp>
      <p:pic>
        <p:nvPicPr>
          <p:cNvPr id="5" name="Picture 4" descr="University of California, Irvine - Wikipedia">
            <a:extLst>
              <a:ext uri="{FF2B5EF4-FFF2-40B4-BE49-F238E27FC236}">
                <a16:creationId xmlns:a16="http://schemas.microsoft.com/office/drawing/2014/main" id="{440BFF5E-EB63-A6BE-6AE6-CFF10A5C1CF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0668000" y="5351646"/>
            <a:ext cx="1374006" cy="1374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332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Challenge</a:t>
            </a:r>
          </a:p>
        </p:txBody>
      </p:sp>
      <p:sp>
        <p:nvSpPr>
          <p:cNvPr id="3" name="Content Placeholder 2"/>
          <p:cNvSpPr>
            <a:spLocks noGrp="1"/>
          </p:cNvSpPr>
          <p:nvPr>
            <p:ph idx="1"/>
          </p:nvPr>
        </p:nvSpPr>
        <p:spPr>
          <a:xfrm>
            <a:off x="838200" y="1510314"/>
            <a:ext cx="7073766" cy="4788886"/>
          </a:xfrm>
        </p:spPr>
        <p:txBody>
          <a:bodyPr>
            <a:normAutofit fontScale="85000" lnSpcReduction="10000"/>
          </a:bodyPr>
          <a:lstStyle/>
          <a:p>
            <a:r>
              <a:rPr lang="en-US" dirty="0"/>
              <a:t>Aircraft industry uses tons of carbon composites</a:t>
            </a:r>
          </a:p>
          <a:p>
            <a:pPr lvl="1"/>
            <a:r>
              <a:rPr lang="en-US" dirty="0"/>
              <a:t>Commonly made with thermoset resins </a:t>
            </a:r>
          </a:p>
          <a:p>
            <a:pPr lvl="2"/>
            <a:r>
              <a:rPr lang="en-US" dirty="0"/>
              <a:t>Not recyclable or repairable </a:t>
            </a:r>
          </a:p>
          <a:p>
            <a:pPr lvl="2"/>
            <a:r>
              <a:rPr lang="en-US" dirty="0"/>
              <a:t>Discarded once expended</a:t>
            </a:r>
          </a:p>
          <a:p>
            <a:pPr lvl="1"/>
            <a:r>
              <a:rPr lang="en-US" dirty="0"/>
              <a:t>Negative environmental impact </a:t>
            </a:r>
          </a:p>
          <a:p>
            <a:pPr lvl="2"/>
            <a:r>
              <a:rPr lang="en-US" dirty="0"/>
              <a:t>Poor and slow biodegradability  </a:t>
            </a:r>
          </a:p>
          <a:p>
            <a:pPr lvl="2"/>
            <a:r>
              <a:rPr lang="en-US" dirty="0"/>
              <a:t>Releases pollution when degrading </a:t>
            </a:r>
          </a:p>
          <a:p>
            <a:r>
              <a:rPr lang="en-US" dirty="0"/>
              <a:t>Aircraft engine and fuel efficiency have been optimized for sustainability</a:t>
            </a:r>
          </a:p>
          <a:p>
            <a:pPr lvl="1"/>
            <a:r>
              <a:rPr lang="en-US" dirty="0"/>
              <a:t>Limited research has been done for recycling the aircraft</a:t>
            </a:r>
          </a:p>
          <a:p>
            <a:r>
              <a:rPr lang="en-US" dirty="0"/>
              <a:t>Sustainable aircraft composites is a new and growing field</a:t>
            </a:r>
          </a:p>
          <a:p>
            <a:pPr lvl="1"/>
            <a:r>
              <a:rPr lang="en-US" dirty="0"/>
              <a:t>Little precedent or past research compared to other common composites (carbon fibers, glass fibers, and epoxies)</a:t>
            </a:r>
          </a:p>
        </p:txBody>
      </p:sp>
      <p:sp>
        <p:nvSpPr>
          <p:cNvPr id="4" name="Slide Number Placeholder 3"/>
          <p:cNvSpPr>
            <a:spLocks noGrp="1"/>
          </p:cNvSpPr>
          <p:nvPr>
            <p:ph type="sldNum" sz="quarter" idx="12"/>
          </p:nvPr>
        </p:nvSpPr>
        <p:spPr/>
        <p:txBody>
          <a:bodyPr/>
          <a:lstStyle/>
          <a:p>
            <a:fld id="{224C0C37-3CEC-4CB4-B902-37F94E20E969}" type="slidenum">
              <a:rPr lang="en-US" smtClean="0"/>
              <a:pPr/>
              <a:t>2</a:t>
            </a:fld>
            <a:endParaRPr lang="en-US"/>
          </a:p>
        </p:txBody>
      </p:sp>
      <p:pic>
        <p:nvPicPr>
          <p:cNvPr id="3074" name="Picture 2" descr="This image shows an updated version of the iconic Pale Blue Dot image taken by the Voyager 1 spacecraft.">
            <a:extLst>
              <a:ext uri="{FF2B5EF4-FFF2-40B4-BE49-F238E27FC236}">
                <a16:creationId xmlns:a16="http://schemas.microsoft.com/office/drawing/2014/main" id="{4C458419-77DA-A822-744A-83E0791752E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022936" y="1430897"/>
            <a:ext cx="3827259" cy="37852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39A2D0-473A-B1B0-AB37-239B15097565}"/>
              </a:ext>
            </a:extLst>
          </p:cNvPr>
          <p:cNvSpPr txBox="1"/>
          <p:nvPr/>
        </p:nvSpPr>
        <p:spPr>
          <a:xfrm>
            <a:off x="8022936" y="4732130"/>
            <a:ext cx="3488879" cy="400110"/>
          </a:xfrm>
          <a:prstGeom prst="rect">
            <a:avLst/>
          </a:prstGeom>
          <a:noFill/>
        </p:spPr>
        <p:txBody>
          <a:bodyPr wrap="square" rtlCol="0">
            <a:spAutoFit/>
          </a:bodyPr>
          <a:lstStyle/>
          <a:p>
            <a:r>
              <a:rPr lang="en-US" sz="1100" b="1" dirty="0">
                <a:solidFill>
                  <a:schemeClr val="bg1"/>
                </a:solidFill>
                <a:latin typeface="Aptos" panose="020B0004020202020204" pitchFamily="34" charset="0"/>
              </a:rPr>
              <a:t>Pale Blue Dot</a:t>
            </a:r>
            <a:br>
              <a:rPr lang="en-US" sz="1200" dirty="0">
                <a:solidFill>
                  <a:schemeClr val="bg1"/>
                </a:solidFill>
                <a:latin typeface="Aptos" panose="020B0004020202020204" pitchFamily="34" charset="0"/>
              </a:rPr>
            </a:br>
            <a:r>
              <a:rPr lang="en-US" sz="900" dirty="0">
                <a:solidFill>
                  <a:schemeClr val="accent5">
                    <a:lumMod val="60000"/>
                    <a:lumOff val="40000"/>
                  </a:schemeClr>
                </a:solidFill>
                <a:latin typeface="Aptos" panose="020B0004020202020204" pitchFamily="34" charset="0"/>
                <a:hlinkClick r:id="rId4">
                  <a:extLst>
                    <a:ext uri="{A12FA001-AC4F-418D-AE19-62706E023703}">
                      <ahyp:hlinkClr xmlns:ahyp="http://schemas.microsoft.com/office/drawing/2018/hyperlinkcolor" val="tx"/>
                    </a:ext>
                  </a:extLst>
                </a:hlinkClick>
              </a:rPr>
              <a:t>Pale Blue Dot Revisited | NASA Image and Video Library</a:t>
            </a:r>
            <a:endParaRPr lang="en-US" sz="900" dirty="0">
              <a:solidFill>
                <a:schemeClr val="accent5">
                  <a:lumMod val="60000"/>
                  <a:lumOff val="40000"/>
                </a:schemeClr>
              </a:solidFill>
              <a:latin typeface="Aptos" panose="020B0004020202020204" pitchFamily="34" charset="0"/>
            </a:endParaRPr>
          </a:p>
        </p:txBody>
      </p:sp>
      <p:sp>
        <p:nvSpPr>
          <p:cNvPr id="6" name="Content Placeholder 2">
            <a:extLst>
              <a:ext uri="{FF2B5EF4-FFF2-40B4-BE49-F238E27FC236}">
                <a16:creationId xmlns:a16="http://schemas.microsoft.com/office/drawing/2014/main" id="{FF56CE8A-29EE-22BC-EFBA-D0A021ABB6C3}"/>
              </a:ext>
            </a:extLst>
          </p:cNvPr>
          <p:cNvSpPr txBox="1">
            <a:spLocks/>
          </p:cNvSpPr>
          <p:nvPr/>
        </p:nvSpPr>
        <p:spPr>
          <a:xfrm>
            <a:off x="7999101" y="5216098"/>
            <a:ext cx="4192899" cy="5547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Aptos" panose="020B0004020202020204" pitchFamily="34"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Aptos" panose="020B0004020202020204" pitchFamily="34"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Aptos" panose="020B0004020202020204" pitchFamily="34"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ptos" panose="020B0004020202020204" pitchFamily="34"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ptos" panose="020B0004020202020204" pitchFamily="34"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300" dirty="0"/>
              <a:t>We only have one home, for now, lets take care of it.</a:t>
            </a:r>
          </a:p>
        </p:txBody>
      </p:sp>
    </p:spTree>
    <p:extLst>
      <p:ext uri="{BB962C8B-B14F-4D97-AF65-F5344CB8AC3E}">
        <p14:creationId xmlns:p14="http://schemas.microsoft.com/office/powerpoint/2010/main" val="1226043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The top of a black tripod with black testing instruments stands in the foreground on a concrete pad with a desert landscape and power lines in the background. A black and white aircraft is in the sky above in the background with blue sky and clouds behind as the aircraft hovers. The aircraft has six black propellors that sit on white arms and connect to the aircraft body, which has black doors and is pod-shaped. The aircraft sits on three small wheels.">
            <a:extLst>
              <a:ext uri="{FF2B5EF4-FFF2-40B4-BE49-F238E27FC236}">
                <a16:creationId xmlns:a16="http://schemas.microsoft.com/office/drawing/2014/main" id="{DB6BB8A5-B08B-2B02-FB10-3ADAB80EF75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367183" y="4429294"/>
            <a:ext cx="3184557" cy="21220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b="1" dirty="0"/>
              <a:t>Objective</a:t>
            </a:r>
          </a:p>
        </p:txBody>
      </p:sp>
      <p:sp>
        <p:nvSpPr>
          <p:cNvPr id="3" name="Content Placeholder 2"/>
          <p:cNvSpPr>
            <a:spLocks noGrp="1"/>
          </p:cNvSpPr>
          <p:nvPr>
            <p:ph idx="1"/>
          </p:nvPr>
        </p:nvSpPr>
        <p:spPr>
          <a:xfrm>
            <a:off x="838200" y="1520824"/>
            <a:ext cx="7098060" cy="4606707"/>
          </a:xfrm>
        </p:spPr>
        <p:txBody>
          <a:bodyPr>
            <a:normAutofit fontScale="70000" lnSpcReduction="20000"/>
          </a:bodyPr>
          <a:lstStyle/>
          <a:p>
            <a:r>
              <a:rPr lang="en-US" sz="2800" dirty="0" err="1">
                <a:cs typeface="Calibri" panose="020F0502020204030204" pitchFamily="34" charset="0"/>
              </a:rPr>
              <a:t>SUstainable</a:t>
            </a:r>
            <a:r>
              <a:rPr lang="en-US" sz="2800" dirty="0">
                <a:cs typeface="Calibri" panose="020F0502020204030204" pitchFamily="34" charset="0"/>
              </a:rPr>
              <a:t> Manufacturing of Aircraft (SUMAC)’s objectives:</a:t>
            </a:r>
          </a:p>
          <a:p>
            <a:pPr lvl="1"/>
            <a:r>
              <a:rPr lang="en-US" dirty="0"/>
              <a:t>Develop sustainably derived thermoplastic composite technologies for future aviation</a:t>
            </a:r>
          </a:p>
          <a:p>
            <a:pPr lvl="2"/>
            <a:r>
              <a:rPr lang="en-US" dirty="0"/>
              <a:t>Advanced air mobility (AAM) vehicles </a:t>
            </a:r>
          </a:p>
          <a:p>
            <a:pPr lvl="2"/>
            <a:r>
              <a:rPr lang="en-US" dirty="0"/>
              <a:t>Advance the sustainable manufacturing of aircraft in six key focus areas</a:t>
            </a:r>
          </a:p>
          <a:p>
            <a:r>
              <a:rPr lang="en-US" dirty="0"/>
              <a:t>Enoch’s objective:</a:t>
            </a:r>
          </a:p>
          <a:p>
            <a:pPr lvl="1"/>
            <a:r>
              <a:rPr lang="en-US" dirty="0"/>
              <a:t>Characterize the mechanical properties of various natural fibers and thermoplastic resins </a:t>
            </a:r>
          </a:p>
          <a:p>
            <a:pPr lvl="2"/>
            <a:r>
              <a:rPr lang="en-US" dirty="0" err="1"/>
              <a:t>EnviroTextiles</a:t>
            </a:r>
            <a:r>
              <a:rPr lang="en-US" dirty="0"/>
              <a:t> Hemp Fibers  </a:t>
            </a:r>
          </a:p>
          <a:p>
            <a:pPr lvl="2"/>
            <a:r>
              <a:rPr lang="en-US" dirty="0" err="1"/>
              <a:t>BComp</a:t>
            </a:r>
            <a:r>
              <a:rPr lang="en-US" dirty="0"/>
              <a:t> Flax Fibers &amp; A&amp;P Braided Flax Fibers</a:t>
            </a:r>
          </a:p>
          <a:p>
            <a:pPr lvl="2"/>
            <a:r>
              <a:rPr lang="en-US" dirty="0"/>
              <a:t>Mango Materials Polyhydroxy Butyrate (PHB)</a:t>
            </a:r>
          </a:p>
          <a:p>
            <a:pPr lvl="2"/>
            <a:r>
              <a:rPr lang="en-US" dirty="0"/>
              <a:t>Pond </a:t>
            </a:r>
            <a:r>
              <a:rPr lang="en-US" dirty="0" err="1"/>
              <a:t>Polylatic</a:t>
            </a:r>
            <a:r>
              <a:rPr lang="en-US" dirty="0"/>
              <a:t> Acid (PLA)</a:t>
            </a:r>
          </a:p>
          <a:p>
            <a:pPr lvl="2"/>
            <a:r>
              <a:rPr lang="en-US" dirty="0"/>
              <a:t>Arkema </a:t>
            </a:r>
            <a:r>
              <a:rPr lang="en-US" dirty="0" err="1"/>
              <a:t>Rilsan</a:t>
            </a:r>
            <a:r>
              <a:rPr lang="en-US" dirty="0"/>
              <a:t>/Polyamide 11 (PA-11) </a:t>
            </a:r>
          </a:p>
          <a:p>
            <a:pPr lvl="1"/>
            <a:r>
              <a:rPr lang="en-US" dirty="0"/>
              <a:t>Assist sensing and modeling team at Ames Research Center (ARC) to create accurate computation natural composite models </a:t>
            </a:r>
          </a:p>
          <a:p>
            <a:r>
              <a:rPr lang="en-US" dirty="0"/>
              <a:t>What this means for SUMAC:</a:t>
            </a:r>
          </a:p>
          <a:p>
            <a:pPr lvl="1"/>
            <a:r>
              <a:rPr lang="en-US" dirty="0"/>
              <a:t>Set a precedent for natural composite properties and researching methods</a:t>
            </a:r>
          </a:p>
          <a:p>
            <a:pPr lvl="1"/>
            <a:r>
              <a:rPr lang="en-US" dirty="0"/>
              <a:t>Identify the best materials for sustainable composites</a:t>
            </a:r>
          </a:p>
        </p:txBody>
      </p:sp>
      <p:sp>
        <p:nvSpPr>
          <p:cNvPr id="4" name="Slide Number Placeholder 3"/>
          <p:cNvSpPr>
            <a:spLocks noGrp="1"/>
          </p:cNvSpPr>
          <p:nvPr>
            <p:ph type="sldNum" sz="quarter" idx="12"/>
          </p:nvPr>
        </p:nvSpPr>
        <p:spPr/>
        <p:txBody>
          <a:bodyPr/>
          <a:lstStyle/>
          <a:p>
            <a:fld id="{224C0C37-3CEC-4CB4-B902-37F94E20E969}" type="slidenum">
              <a:rPr lang="en-US" smtClean="0"/>
              <a:pPr/>
              <a:t>3</a:t>
            </a:fld>
            <a:endParaRPr lang="en-US"/>
          </a:p>
        </p:txBody>
      </p:sp>
      <p:pic>
        <p:nvPicPr>
          <p:cNvPr id="5" name="Picture 4">
            <a:extLst>
              <a:ext uri="{FF2B5EF4-FFF2-40B4-BE49-F238E27FC236}">
                <a16:creationId xmlns:a16="http://schemas.microsoft.com/office/drawing/2014/main" id="{0B046C06-CD70-EA88-3545-7482B2055E1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019393" y="1494493"/>
            <a:ext cx="3914668" cy="2202001"/>
          </a:xfrm>
          <a:prstGeom prst="rect">
            <a:avLst/>
          </a:prstGeom>
        </p:spPr>
      </p:pic>
      <p:sp>
        <p:nvSpPr>
          <p:cNvPr id="6" name="TextBox 5">
            <a:extLst>
              <a:ext uri="{FF2B5EF4-FFF2-40B4-BE49-F238E27FC236}">
                <a16:creationId xmlns:a16="http://schemas.microsoft.com/office/drawing/2014/main" id="{F0BE2EB3-1B9B-7081-C754-D746DE27EA99}"/>
              </a:ext>
            </a:extLst>
          </p:cNvPr>
          <p:cNvSpPr txBox="1"/>
          <p:nvPr/>
        </p:nvSpPr>
        <p:spPr>
          <a:xfrm>
            <a:off x="8431706" y="1163877"/>
            <a:ext cx="3090041" cy="369332"/>
          </a:xfrm>
          <a:prstGeom prst="rect">
            <a:avLst/>
          </a:prstGeom>
          <a:noFill/>
        </p:spPr>
        <p:txBody>
          <a:bodyPr wrap="square" rtlCol="0">
            <a:spAutoFit/>
          </a:bodyPr>
          <a:lstStyle/>
          <a:p>
            <a:pPr algn="ctr"/>
            <a:r>
              <a:rPr lang="en-US" b="1" dirty="0">
                <a:latin typeface="Aptos" panose="020B0004020202020204" pitchFamily="34" charset="0"/>
              </a:rPr>
              <a:t>SUMAC’s Objectives:</a:t>
            </a:r>
          </a:p>
        </p:txBody>
      </p:sp>
      <p:pic>
        <p:nvPicPr>
          <p:cNvPr id="14" name="Picture 13">
            <a:extLst>
              <a:ext uri="{FF2B5EF4-FFF2-40B4-BE49-F238E27FC236}">
                <a16:creationId xmlns:a16="http://schemas.microsoft.com/office/drawing/2014/main" id="{00AF1DD2-3051-966D-872F-273014731673}"/>
              </a:ext>
            </a:extLst>
          </p:cNvPr>
          <p:cNvPicPr>
            <a:picLocks noChangeAspect="1"/>
          </p:cNvPicPr>
          <p:nvPr/>
        </p:nvPicPr>
        <p:blipFill rotWithShape="1">
          <a:blip r:embed="rId5" cstate="screen">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a:ext>
            </a:extLst>
          </a:blip>
          <a:srcRect/>
          <a:stretch/>
        </p:blipFill>
        <p:spPr>
          <a:xfrm>
            <a:off x="8019394" y="3730958"/>
            <a:ext cx="3914668" cy="663872"/>
          </a:xfrm>
          <a:prstGeom prst="rect">
            <a:avLst/>
          </a:prstGeom>
          <a:effectLst/>
        </p:spPr>
      </p:pic>
      <p:pic>
        <p:nvPicPr>
          <p:cNvPr id="15" name="Picture 14">
            <a:extLst>
              <a:ext uri="{FF2B5EF4-FFF2-40B4-BE49-F238E27FC236}">
                <a16:creationId xmlns:a16="http://schemas.microsoft.com/office/drawing/2014/main" id="{469E5AC5-B58B-6D41-9758-3D4CE6BB8E2A}"/>
              </a:ext>
            </a:extLst>
          </p:cNvPr>
          <p:cNvPicPr>
            <a:picLocks noChangeAspect="1"/>
          </p:cNvPicPr>
          <p:nvPr/>
        </p:nvPicPr>
        <p:blipFill rotWithShape="1">
          <a:blip r:embed="rId7" cstate="screen">
            <a:extLst>
              <a:ext uri="{BEBA8EAE-BF5A-486C-A8C5-ECC9F3942E4B}">
                <a14:imgProps xmlns:a14="http://schemas.microsoft.com/office/drawing/2010/main">
                  <a14:imgLayer r:embed="rId8">
                    <a14:imgEffect>
                      <a14:brightnessContrast bright="40000" contrast="-20000"/>
                    </a14:imgEffect>
                  </a14:imgLayer>
                </a14:imgProps>
              </a:ext>
              <a:ext uri="{28A0092B-C50C-407E-A947-70E740481C1C}">
                <a14:useLocalDpi xmlns:a14="http://schemas.microsoft.com/office/drawing/2010/main"/>
              </a:ext>
            </a:extLst>
          </a:blip>
          <a:srcRect/>
          <a:stretch/>
        </p:blipFill>
        <p:spPr>
          <a:xfrm>
            <a:off x="10774634" y="3815148"/>
            <a:ext cx="1064127" cy="396315"/>
          </a:xfrm>
          <a:prstGeom prst="rect">
            <a:avLst/>
          </a:prstGeom>
          <a:effectLst/>
        </p:spPr>
      </p:pic>
      <p:pic>
        <p:nvPicPr>
          <p:cNvPr id="16" name="Picture 15">
            <a:extLst>
              <a:ext uri="{FF2B5EF4-FFF2-40B4-BE49-F238E27FC236}">
                <a16:creationId xmlns:a16="http://schemas.microsoft.com/office/drawing/2014/main" id="{F925683B-2EDE-14EC-38AA-9FE0050B993C}"/>
              </a:ext>
            </a:extLst>
          </p:cNvPr>
          <p:cNvPicPr>
            <a:picLocks noChangeAspect="1"/>
          </p:cNvPicPr>
          <p:nvPr/>
        </p:nvPicPr>
        <p:blipFill>
          <a:blip r:embed="rId9"/>
          <a:stretch>
            <a:fillRect/>
          </a:stretch>
        </p:blipFill>
        <p:spPr>
          <a:xfrm>
            <a:off x="9475488" y="3816412"/>
            <a:ext cx="762143" cy="396315"/>
          </a:xfrm>
          <a:prstGeom prst="rect">
            <a:avLst/>
          </a:prstGeom>
        </p:spPr>
      </p:pic>
      <p:sp>
        <p:nvSpPr>
          <p:cNvPr id="17" name="TextBox 16">
            <a:extLst>
              <a:ext uri="{FF2B5EF4-FFF2-40B4-BE49-F238E27FC236}">
                <a16:creationId xmlns:a16="http://schemas.microsoft.com/office/drawing/2014/main" id="{47F7DDBF-E97A-96B6-607D-734337728C22}"/>
              </a:ext>
            </a:extLst>
          </p:cNvPr>
          <p:cNvSpPr txBox="1"/>
          <p:nvPr/>
        </p:nvSpPr>
        <p:spPr>
          <a:xfrm>
            <a:off x="8143587" y="3880540"/>
            <a:ext cx="822368" cy="3811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Calibri" panose="020F0502020204030204"/>
                <a:ea typeface="+mn-ea"/>
                <a:cs typeface="+mn-cs"/>
              </a:rPr>
              <a:t>SUMAC</a:t>
            </a:r>
            <a:br>
              <a:rPr kumimoji="0" lang="en-US" sz="900" b="1"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900" b="1" i="0" u="none" strike="noStrike" kern="1200" cap="none" spc="0" normalizeH="0" baseline="0" noProof="0">
                <a:ln>
                  <a:noFill/>
                </a:ln>
                <a:solidFill>
                  <a:prstClr val="black"/>
                </a:solidFill>
                <a:effectLst/>
                <a:uLnTx/>
                <a:uFillTx/>
                <a:latin typeface="Calibri" panose="020F0502020204030204"/>
                <a:ea typeface="+mn-ea"/>
                <a:cs typeface="+mn-cs"/>
              </a:rPr>
              <a:t>Composites</a:t>
            </a:r>
          </a:p>
        </p:txBody>
      </p:sp>
      <p:sp>
        <p:nvSpPr>
          <p:cNvPr id="18" name="TextBox 17">
            <a:extLst>
              <a:ext uri="{FF2B5EF4-FFF2-40B4-BE49-F238E27FC236}">
                <a16:creationId xmlns:a16="http://schemas.microsoft.com/office/drawing/2014/main" id="{EB5E6E64-2060-69B4-0297-5452A43814D9}"/>
              </a:ext>
            </a:extLst>
          </p:cNvPr>
          <p:cNvSpPr txBox="1"/>
          <p:nvPr/>
        </p:nvSpPr>
        <p:spPr>
          <a:xfrm>
            <a:off x="9504966" y="4144268"/>
            <a:ext cx="725685" cy="2223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AAM</a:t>
            </a:r>
          </a:p>
        </p:txBody>
      </p:sp>
      <p:sp>
        <p:nvSpPr>
          <p:cNvPr id="19" name="TextBox 18">
            <a:extLst>
              <a:ext uri="{FF2B5EF4-FFF2-40B4-BE49-F238E27FC236}">
                <a16:creationId xmlns:a16="http://schemas.microsoft.com/office/drawing/2014/main" id="{A9119D2B-4354-E729-6B9B-DF03FD1F1559}"/>
              </a:ext>
            </a:extLst>
          </p:cNvPr>
          <p:cNvSpPr txBox="1"/>
          <p:nvPr/>
        </p:nvSpPr>
        <p:spPr>
          <a:xfrm>
            <a:off x="10685770" y="4145723"/>
            <a:ext cx="1236124" cy="2223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Commercial Aircraft</a:t>
            </a:r>
          </a:p>
        </p:txBody>
      </p:sp>
      <p:cxnSp>
        <p:nvCxnSpPr>
          <p:cNvPr id="20" name="Straight Arrow Connector 19">
            <a:extLst>
              <a:ext uri="{FF2B5EF4-FFF2-40B4-BE49-F238E27FC236}">
                <a16:creationId xmlns:a16="http://schemas.microsoft.com/office/drawing/2014/main" id="{16070770-7E75-BDCA-511F-3B206366E2BC}"/>
              </a:ext>
            </a:extLst>
          </p:cNvPr>
          <p:cNvCxnSpPr>
            <a:cxnSpLocks/>
          </p:cNvCxnSpPr>
          <p:nvPr/>
        </p:nvCxnSpPr>
        <p:spPr>
          <a:xfrm>
            <a:off x="8944693" y="4037108"/>
            <a:ext cx="502315" cy="0"/>
          </a:xfrm>
          <a:prstGeom prst="straightConnector1">
            <a:avLst/>
          </a:prstGeom>
          <a:ln w="44450">
            <a:solidFill>
              <a:srgbClr val="E83236"/>
            </a:solidFill>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54052E8-452F-D4BD-6236-5886CCB171B5}"/>
              </a:ext>
            </a:extLst>
          </p:cNvPr>
          <p:cNvCxnSpPr>
            <a:cxnSpLocks/>
          </p:cNvCxnSpPr>
          <p:nvPr/>
        </p:nvCxnSpPr>
        <p:spPr>
          <a:xfrm>
            <a:off x="10307773" y="4075475"/>
            <a:ext cx="502315" cy="0"/>
          </a:xfrm>
          <a:prstGeom prst="straightConnector1">
            <a:avLst/>
          </a:prstGeom>
          <a:ln w="44450">
            <a:solidFill>
              <a:srgbClr val="FCC314"/>
            </a:solidFill>
            <a:prstDash val="solid"/>
            <a:tailEnd type="triangle"/>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3E2400-261C-00FD-43E4-9013032D669D}"/>
              </a:ext>
            </a:extLst>
          </p:cNvPr>
          <p:cNvSpPr txBox="1"/>
          <p:nvPr/>
        </p:nvSpPr>
        <p:spPr>
          <a:xfrm>
            <a:off x="8384409" y="5944613"/>
            <a:ext cx="3137338" cy="538609"/>
          </a:xfrm>
          <a:prstGeom prst="rect">
            <a:avLst/>
          </a:prstGeom>
          <a:noFill/>
        </p:spPr>
        <p:txBody>
          <a:bodyPr wrap="square" rtlCol="0">
            <a:spAutoFit/>
          </a:bodyPr>
          <a:lstStyle/>
          <a:p>
            <a:r>
              <a:rPr lang="en-US" sz="1100" b="1" dirty="0">
                <a:solidFill>
                  <a:schemeClr val="bg1"/>
                </a:solidFill>
                <a:latin typeface="Aptos" panose="020B0004020202020204" pitchFamily="34" charset="0"/>
              </a:rPr>
              <a:t>Joby Aviation AAM</a:t>
            </a:r>
            <a:br>
              <a:rPr lang="en-US" sz="1200" dirty="0">
                <a:solidFill>
                  <a:schemeClr val="bg1"/>
                </a:solidFill>
                <a:latin typeface="Aptos" panose="020B0004020202020204" pitchFamily="34" charset="0"/>
              </a:rPr>
            </a:br>
            <a:r>
              <a:rPr lang="en-US" sz="900" dirty="0">
                <a:solidFill>
                  <a:schemeClr val="accent5">
                    <a:lumMod val="60000"/>
                    <a:lumOff val="40000"/>
                  </a:schemeClr>
                </a:solidFill>
                <a:latin typeface="Aptos" panose="020B0004020202020204" pitchFamily="34" charset="0"/>
                <a:hlinkClick r:id="rId10">
                  <a:extLst>
                    <a:ext uri="{A12FA001-AC4F-418D-AE19-62706E023703}">
                      <ahyp:hlinkClr xmlns:ahyp="http://schemas.microsoft.com/office/drawing/2018/hyperlinkcolor" val="tx"/>
                    </a:ext>
                  </a:extLst>
                </a:hlinkClick>
              </a:rPr>
              <a:t>NASA and Joby Research Near NASA’s Armstrong Flight Research Center | NASA Image and Video Library</a:t>
            </a:r>
            <a:endParaRPr lang="en-US" sz="900" dirty="0">
              <a:solidFill>
                <a:schemeClr val="accent5">
                  <a:lumMod val="60000"/>
                  <a:lumOff val="40000"/>
                </a:schemeClr>
              </a:solidFill>
              <a:latin typeface="Aptos" panose="020B0004020202020204" pitchFamily="34" charset="0"/>
            </a:endParaRPr>
          </a:p>
        </p:txBody>
      </p:sp>
    </p:spTree>
    <p:extLst>
      <p:ext uri="{BB962C8B-B14F-4D97-AF65-F5344CB8AC3E}">
        <p14:creationId xmlns:p14="http://schemas.microsoft.com/office/powerpoint/2010/main" val="252740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ptos" panose="020B0004020202020204" pitchFamily="34" charset="0"/>
              </a:rPr>
              <a:t>Approach</a:t>
            </a:r>
          </a:p>
        </p:txBody>
      </p:sp>
      <p:sp>
        <p:nvSpPr>
          <p:cNvPr id="3" name="Content Placeholder 2"/>
          <p:cNvSpPr>
            <a:spLocks noGrp="1"/>
          </p:cNvSpPr>
          <p:nvPr>
            <p:ph idx="1"/>
          </p:nvPr>
        </p:nvSpPr>
        <p:spPr>
          <a:xfrm>
            <a:off x="838199" y="1439916"/>
            <a:ext cx="7660908" cy="5418083"/>
          </a:xfrm>
        </p:spPr>
        <p:txBody>
          <a:bodyPr>
            <a:normAutofit/>
          </a:bodyPr>
          <a:lstStyle/>
          <a:p>
            <a:r>
              <a:rPr lang="en-US" dirty="0">
                <a:latin typeface="Aptos" panose="020B0004020202020204" pitchFamily="34" charset="0"/>
              </a:rPr>
              <a:t>Mechanical Testing on N</a:t>
            </a:r>
            <a:r>
              <a:rPr lang="en-US" dirty="0"/>
              <a:t>atural Fibers and Biodegradable Thermoplastic Resins</a:t>
            </a:r>
          </a:p>
          <a:p>
            <a:pPr lvl="1"/>
            <a:r>
              <a:rPr lang="en-US" dirty="0">
                <a:latin typeface="Aptos" panose="020B0004020202020204" pitchFamily="34" charset="0"/>
              </a:rPr>
              <a:t>Develop procedure for tensile testing individual natural </a:t>
            </a:r>
            <a:r>
              <a:rPr lang="en-US" dirty="0"/>
              <a:t>fibers</a:t>
            </a:r>
          </a:p>
          <a:p>
            <a:pPr lvl="2"/>
            <a:r>
              <a:rPr lang="en-US" dirty="0">
                <a:latin typeface="Aptos" panose="020B0004020202020204" pitchFamily="34" charset="0"/>
              </a:rPr>
              <a:t>Crucial </a:t>
            </a:r>
            <a:r>
              <a:rPr lang="en-US" dirty="0"/>
              <a:t>for </a:t>
            </a:r>
            <a:r>
              <a:rPr lang="en-US" dirty="0">
                <a:latin typeface="Aptos" panose="020B0004020202020204" pitchFamily="34" charset="0"/>
              </a:rPr>
              <a:t>characterization of the strongest natural fibers</a:t>
            </a:r>
            <a:endParaRPr lang="en-US" strike="sngStrike" dirty="0"/>
          </a:p>
          <a:p>
            <a:pPr lvl="2"/>
            <a:r>
              <a:rPr lang="en-US" dirty="0"/>
              <a:t>P</a:t>
            </a:r>
            <a:r>
              <a:rPr lang="en-US" dirty="0">
                <a:latin typeface="Aptos" panose="020B0004020202020204" pitchFamily="34" charset="0"/>
              </a:rPr>
              <a:t>rocedure is transferable to non natural fibers as well</a:t>
            </a:r>
          </a:p>
          <a:p>
            <a:pPr lvl="2"/>
            <a:r>
              <a:rPr lang="en-US" dirty="0"/>
              <a:t>The experimental data are fed into computational models to improve simulation capabilities and reduce time and cost</a:t>
            </a:r>
          </a:p>
          <a:p>
            <a:r>
              <a:rPr lang="en-US" dirty="0"/>
              <a:t>Image Segmentation and Analysis</a:t>
            </a:r>
          </a:p>
          <a:p>
            <a:pPr lvl="1"/>
            <a:r>
              <a:rPr lang="en-US" dirty="0">
                <a:latin typeface="Aptos" panose="020B0004020202020204" pitchFamily="34" charset="0"/>
              </a:rPr>
              <a:t>Additional characterization of natural materials</a:t>
            </a:r>
          </a:p>
        </p:txBody>
      </p:sp>
      <p:sp>
        <p:nvSpPr>
          <p:cNvPr id="4" name="Slide Number Placeholder 3"/>
          <p:cNvSpPr>
            <a:spLocks noGrp="1"/>
          </p:cNvSpPr>
          <p:nvPr>
            <p:ph type="sldNum" sz="quarter" idx="12"/>
          </p:nvPr>
        </p:nvSpPr>
        <p:spPr/>
        <p:txBody>
          <a:bodyPr/>
          <a:lstStyle/>
          <a:p>
            <a:fld id="{224C0C37-3CEC-4CB4-B902-37F94E20E969}" type="slidenum">
              <a:rPr lang="en-US" smtClean="0"/>
              <a:pPr/>
              <a:t>4</a:t>
            </a:fld>
            <a:endParaRPr lang="en-US"/>
          </a:p>
        </p:txBody>
      </p:sp>
    </p:spTree>
    <p:extLst>
      <p:ext uri="{BB962C8B-B14F-4D97-AF65-F5344CB8AC3E}">
        <p14:creationId xmlns:p14="http://schemas.microsoft.com/office/powerpoint/2010/main" val="62649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E475D3-5804-47FA-3079-C5CB70C3540C}"/>
              </a:ext>
            </a:extLst>
          </p:cNvPr>
          <p:cNvSpPr>
            <a:spLocks noGrp="1"/>
          </p:cNvSpPr>
          <p:nvPr>
            <p:ph type="ctrTitle"/>
          </p:nvPr>
        </p:nvSpPr>
        <p:spPr>
          <a:xfrm>
            <a:off x="1524000" y="880633"/>
            <a:ext cx="9144000" cy="2387600"/>
          </a:xfrm>
        </p:spPr>
        <p:txBody>
          <a:bodyPr>
            <a:normAutofit/>
          </a:bodyPr>
          <a:lstStyle/>
          <a:p>
            <a:r>
              <a:rPr lang="en-US" dirty="0"/>
              <a:t>Mechanical Testing of Individual Natural Fibers</a:t>
            </a:r>
          </a:p>
        </p:txBody>
      </p:sp>
      <p:sp>
        <p:nvSpPr>
          <p:cNvPr id="4" name="Slide Number Placeholder 3">
            <a:extLst>
              <a:ext uri="{FF2B5EF4-FFF2-40B4-BE49-F238E27FC236}">
                <a16:creationId xmlns:a16="http://schemas.microsoft.com/office/drawing/2014/main" id="{27FB236B-BBEB-70E6-5505-3D4918298BDB}"/>
              </a:ext>
            </a:extLst>
          </p:cNvPr>
          <p:cNvSpPr>
            <a:spLocks noGrp="1"/>
          </p:cNvSpPr>
          <p:nvPr>
            <p:ph type="sldNum" sz="quarter" idx="12"/>
          </p:nvPr>
        </p:nvSpPr>
        <p:spPr/>
        <p:txBody>
          <a:bodyPr/>
          <a:lstStyle/>
          <a:p>
            <a:fld id="{224C0C37-3CEC-4CB4-B902-37F94E20E969}" type="slidenum">
              <a:rPr lang="en-US" smtClean="0"/>
              <a:pPr/>
              <a:t>5</a:t>
            </a:fld>
            <a:endParaRPr lang="en-US" dirty="0"/>
          </a:p>
        </p:txBody>
      </p:sp>
    </p:spTree>
    <p:extLst>
      <p:ext uri="{BB962C8B-B14F-4D97-AF65-F5344CB8AC3E}">
        <p14:creationId xmlns:p14="http://schemas.microsoft.com/office/powerpoint/2010/main" val="2882559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Closer Look at Natural Fibers</a:t>
            </a:r>
            <a:endParaRPr lang="en-US" b="1" dirty="0">
              <a:latin typeface="Aptos" panose="020B0004020202020204" pitchFamily="34" charset="0"/>
            </a:endParaRPr>
          </a:p>
        </p:txBody>
      </p:sp>
      <p:sp>
        <p:nvSpPr>
          <p:cNvPr id="4" name="Slide Number Placeholder 3"/>
          <p:cNvSpPr>
            <a:spLocks noGrp="1"/>
          </p:cNvSpPr>
          <p:nvPr>
            <p:ph type="sldNum" sz="quarter" idx="12"/>
          </p:nvPr>
        </p:nvSpPr>
        <p:spPr/>
        <p:txBody>
          <a:bodyPr/>
          <a:lstStyle/>
          <a:p>
            <a:fld id="{224C0C37-3CEC-4CB4-B902-37F94E20E969}" type="slidenum">
              <a:rPr lang="en-US" smtClean="0"/>
              <a:pPr/>
              <a:t>6</a:t>
            </a:fld>
            <a:endParaRPr lang="en-US"/>
          </a:p>
        </p:txBody>
      </p:sp>
      <p:pic>
        <p:nvPicPr>
          <p:cNvPr id="14" name="Picture 13" descr="A picture containing text&#10;&#10;AI-generated content may be incorrect.">
            <a:extLst>
              <a:ext uri="{FF2B5EF4-FFF2-40B4-BE49-F238E27FC236}">
                <a16:creationId xmlns:a16="http://schemas.microsoft.com/office/drawing/2014/main" id="{CA5E3DB8-093E-91C7-6B27-D511EACE894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09325" y="1510156"/>
            <a:ext cx="6385392" cy="4789044"/>
          </a:xfrm>
          <a:prstGeom prst="rect">
            <a:avLst/>
          </a:prstGeom>
        </p:spPr>
      </p:pic>
      <p:sp>
        <p:nvSpPr>
          <p:cNvPr id="16" name="Content Placeholder 15">
            <a:extLst>
              <a:ext uri="{FF2B5EF4-FFF2-40B4-BE49-F238E27FC236}">
                <a16:creationId xmlns:a16="http://schemas.microsoft.com/office/drawing/2014/main" id="{1FA0B444-1C0D-F621-B128-CF81EB9D64E2}"/>
              </a:ext>
            </a:extLst>
          </p:cNvPr>
          <p:cNvSpPr>
            <a:spLocks noGrp="1"/>
          </p:cNvSpPr>
          <p:nvPr>
            <p:ph idx="1"/>
          </p:nvPr>
        </p:nvSpPr>
        <p:spPr>
          <a:xfrm>
            <a:off x="838200" y="1532162"/>
            <a:ext cx="4130208" cy="4351338"/>
          </a:xfrm>
        </p:spPr>
        <p:txBody>
          <a:bodyPr/>
          <a:lstStyle/>
          <a:p>
            <a:pPr marL="0" indent="0">
              <a:buNone/>
            </a:pPr>
            <a:r>
              <a:rPr lang="en-US" dirty="0"/>
              <a:t>On the right is one of SUMAC’s individual natural fibers, specifically it’s semi bleached Hemp B608 from the company </a:t>
            </a:r>
            <a:r>
              <a:rPr lang="en-US" dirty="0" err="1"/>
              <a:t>EnviroTextiles</a:t>
            </a:r>
            <a:r>
              <a:rPr lang="en-US" dirty="0"/>
              <a:t>.</a:t>
            </a:r>
            <a:br>
              <a:rPr lang="en-US" dirty="0"/>
            </a:br>
            <a:br>
              <a:rPr lang="en-US" dirty="0"/>
            </a:br>
            <a:r>
              <a:rPr lang="en-US" dirty="0"/>
              <a:t>Key characteristics to notice are its inconsistent shape and diameter.</a:t>
            </a:r>
            <a:br>
              <a:rPr lang="en-US" dirty="0"/>
            </a:br>
            <a:endParaRPr lang="en-US" dirty="0"/>
          </a:p>
        </p:txBody>
      </p:sp>
      <p:sp>
        <p:nvSpPr>
          <p:cNvPr id="17" name="TextBox 16">
            <a:extLst>
              <a:ext uri="{FF2B5EF4-FFF2-40B4-BE49-F238E27FC236}">
                <a16:creationId xmlns:a16="http://schemas.microsoft.com/office/drawing/2014/main" id="{44C0717B-AA83-42AD-9664-7011312CE44D}"/>
              </a:ext>
            </a:extLst>
          </p:cNvPr>
          <p:cNvSpPr txBox="1"/>
          <p:nvPr/>
        </p:nvSpPr>
        <p:spPr>
          <a:xfrm>
            <a:off x="5409325" y="5988377"/>
            <a:ext cx="3005959" cy="261610"/>
          </a:xfrm>
          <a:prstGeom prst="rect">
            <a:avLst/>
          </a:prstGeom>
          <a:noFill/>
        </p:spPr>
        <p:txBody>
          <a:bodyPr wrap="square" rtlCol="0">
            <a:spAutoFit/>
          </a:bodyPr>
          <a:lstStyle/>
          <a:p>
            <a:r>
              <a:rPr lang="en-US" sz="1100" dirty="0">
                <a:latin typeface="Aptos" panose="020B0004020202020204" pitchFamily="34" charset="0"/>
              </a:rPr>
              <a:t>Optical Microscope 50x</a:t>
            </a:r>
          </a:p>
        </p:txBody>
      </p:sp>
    </p:spTree>
    <p:extLst>
      <p:ext uri="{BB962C8B-B14F-4D97-AF65-F5344CB8AC3E}">
        <p14:creationId xmlns:p14="http://schemas.microsoft.com/office/powerpoint/2010/main" val="3649702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Closer Look at Natural Fibers</a:t>
            </a:r>
            <a:endParaRPr lang="en-US" b="1" dirty="0">
              <a:latin typeface="Aptos" panose="020B0004020202020204" pitchFamily="34" charset="0"/>
            </a:endParaRPr>
          </a:p>
        </p:txBody>
      </p:sp>
      <p:sp>
        <p:nvSpPr>
          <p:cNvPr id="4" name="Slide Number Placeholder 3"/>
          <p:cNvSpPr>
            <a:spLocks noGrp="1"/>
          </p:cNvSpPr>
          <p:nvPr>
            <p:ph type="sldNum" sz="quarter" idx="12"/>
          </p:nvPr>
        </p:nvSpPr>
        <p:spPr/>
        <p:txBody>
          <a:bodyPr/>
          <a:lstStyle/>
          <a:p>
            <a:fld id="{224C0C37-3CEC-4CB4-B902-37F94E20E969}" type="slidenum">
              <a:rPr lang="en-US" smtClean="0"/>
              <a:pPr/>
              <a:t>7</a:t>
            </a:fld>
            <a:endParaRPr lang="en-US"/>
          </a:p>
        </p:txBody>
      </p:sp>
      <p:sp>
        <p:nvSpPr>
          <p:cNvPr id="16" name="Content Placeholder 15">
            <a:extLst>
              <a:ext uri="{FF2B5EF4-FFF2-40B4-BE49-F238E27FC236}">
                <a16:creationId xmlns:a16="http://schemas.microsoft.com/office/drawing/2014/main" id="{1FA0B444-1C0D-F621-B128-CF81EB9D64E2}"/>
              </a:ext>
            </a:extLst>
          </p:cNvPr>
          <p:cNvSpPr>
            <a:spLocks noGrp="1"/>
          </p:cNvSpPr>
          <p:nvPr>
            <p:ph idx="1"/>
          </p:nvPr>
        </p:nvSpPr>
        <p:spPr>
          <a:xfrm>
            <a:off x="838199" y="1385018"/>
            <a:ext cx="4284133" cy="2230249"/>
          </a:xfrm>
        </p:spPr>
        <p:txBody>
          <a:bodyPr>
            <a:normAutofit fontScale="77500" lnSpcReduction="20000"/>
          </a:bodyPr>
          <a:lstStyle/>
          <a:p>
            <a:pPr marL="0" indent="0">
              <a:buNone/>
            </a:pPr>
            <a:r>
              <a:rPr lang="en-US" dirty="0"/>
              <a:t>And the black object on the left is my hair… Individual natural fibers are extremely small. Ranging from 10-30 µm.</a:t>
            </a:r>
            <a:br>
              <a:rPr lang="en-US" dirty="0"/>
            </a:br>
            <a:endParaRPr lang="en-US" dirty="0"/>
          </a:p>
          <a:p>
            <a:pPr marL="0" indent="0">
              <a:buNone/>
            </a:pPr>
            <a:r>
              <a:rPr lang="en-US" dirty="0"/>
              <a:t>In addition to being small, they vary greatly in diameter making them a challenge to characterize.</a:t>
            </a:r>
          </a:p>
        </p:txBody>
      </p:sp>
      <p:pic>
        <p:nvPicPr>
          <p:cNvPr id="3" name="Content Placeholder 7" descr="Text&#10;&#10;AI-generated content may be incorrect.">
            <a:extLst>
              <a:ext uri="{FF2B5EF4-FFF2-40B4-BE49-F238E27FC236}">
                <a16:creationId xmlns:a16="http://schemas.microsoft.com/office/drawing/2014/main" id="{557AB4E7-155F-895C-EDF8-A7DD89EAF6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41812" y="1385019"/>
            <a:ext cx="6356051" cy="4767038"/>
          </a:xfrm>
          <a:prstGeom prst="rect">
            <a:avLst/>
          </a:prstGeom>
        </p:spPr>
      </p:pic>
      <p:sp>
        <p:nvSpPr>
          <p:cNvPr id="6" name="TextBox 5">
            <a:extLst>
              <a:ext uri="{FF2B5EF4-FFF2-40B4-BE49-F238E27FC236}">
                <a16:creationId xmlns:a16="http://schemas.microsoft.com/office/drawing/2014/main" id="{EADF0FAB-3165-F957-37DB-9435395BF30F}"/>
              </a:ext>
            </a:extLst>
          </p:cNvPr>
          <p:cNvSpPr txBox="1"/>
          <p:nvPr/>
        </p:nvSpPr>
        <p:spPr>
          <a:xfrm>
            <a:off x="5425568" y="5890447"/>
            <a:ext cx="3005959" cy="261610"/>
          </a:xfrm>
          <a:prstGeom prst="rect">
            <a:avLst/>
          </a:prstGeom>
          <a:noFill/>
        </p:spPr>
        <p:txBody>
          <a:bodyPr wrap="square" rtlCol="0">
            <a:spAutoFit/>
          </a:bodyPr>
          <a:lstStyle/>
          <a:p>
            <a:r>
              <a:rPr lang="en-US" sz="1100" dirty="0">
                <a:latin typeface="Aptos" panose="020B0004020202020204" pitchFamily="34" charset="0"/>
              </a:rPr>
              <a:t>Optical Microscope 20x</a:t>
            </a:r>
          </a:p>
        </p:txBody>
      </p:sp>
      <p:sp>
        <p:nvSpPr>
          <p:cNvPr id="7" name="TextBox 6">
            <a:extLst>
              <a:ext uri="{FF2B5EF4-FFF2-40B4-BE49-F238E27FC236}">
                <a16:creationId xmlns:a16="http://schemas.microsoft.com/office/drawing/2014/main" id="{A67E4215-C296-71F6-729D-239D3298089B}"/>
              </a:ext>
            </a:extLst>
          </p:cNvPr>
          <p:cNvSpPr txBox="1"/>
          <p:nvPr/>
        </p:nvSpPr>
        <p:spPr>
          <a:xfrm>
            <a:off x="6994634" y="1506909"/>
            <a:ext cx="1797269" cy="261610"/>
          </a:xfrm>
          <a:prstGeom prst="rect">
            <a:avLst/>
          </a:prstGeom>
          <a:noFill/>
        </p:spPr>
        <p:txBody>
          <a:bodyPr wrap="square" rtlCol="0">
            <a:spAutoFit/>
          </a:bodyPr>
          <a:lstStyle/>
          <a:p>
            <a:r>
              <a:rPr lang="en-US" sz="1100" b="1" dirty="0">
                <a:highlight>
                  <a:srgbClr val="D4EFF8"/>
                </a:highlight>
              </a:rPr>
              <a:t>Enoch’s Hair</a:t>
            </a:r>
          </a:p>
        </p:txBody>
      </p:sp>
      <p:sp>
        <p:nvSpPr>
          <p:cNvPr id="8" name="TextBox 7">
            <a:extLst>
              <a:ext uri="{FF2B5EF4-FFF2-40B4-BE49-F238E27FC236}">
                <a16:creationId xmlns:a16="http://schemas.microsoft.com/office/drawing/2014/main" id="{F28FD028-9490-097A-68C0-8B6208A888AA}"/>
              </a:ext>
            </a:extLst>
          </p:cNvPr>
          <p:cNvSpPr txBox="1"/>
          <p:nvPr/>
        </p:nvSpPr>
        <p:spPr>
          <a:xfrm>
            <a:off x="8768255" y="1521285"/>
            <a:ext cx="1797269" cy="261610"/>
          </a:xfrm>
          <a:prstGeom prst="rect">
            <a:avLst/>
          </a:prstGeom>
          <a:noFill/>
        </p:spPr>
        <p:txBody>
          <a:bodyPr wrap="square" rtlCol="0">
            <a:spAutoFit/>
          </a:bodyPr>
          <a:lstStyle/>
          <a:p>
            <a:r>
              <a:rPr lang="en-US" sz="1100" b="1" dirty="0" err="1">
                <a:highlight>
                  <a:srgbClr val="D4EFF8"/>
                </a:highlight>
              </a:rPr>
              <a:t>EnviroTextiles</a:t>
            </a:r>
            <a:r>
              <a:rPr lang="en-US" sz="1100" b="1" dirty="0">
                <a:highlight>
                  <a:srgbClr val="D4EFF8"/>
                </a:highlight>
              </a:rPr>
              <a:t> Hemp B608</a:t>
            </a:r>
          </a:p>
        </p:txBody>
      </p:sp>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68939E45-0912-924D-B011-2307B5B716DC}"/>
                  </a:ext>
                </a:extLst>
              </p:cNvPr>
              <p:cNvGraphicFramePr/>
              <p:nvPr>
                <p:extLst>
                  <p:ext uri="{D42A27DB-BD31-4B8C-83A1-F6EECF244321}">
                    <p14:modId xmlns:p14="http://schemas.microsoft.com/office/powerpoint/2010/main" val="2699144753"/>
                  </p:ext>
                </p:extLst>
              </p:nvPr>
            </p:nvGraphicFramePr>
            <p:xfrm>
              <a:off x="832651" y="3699341"/>
              <a:ext cx="4592917" cy="2782421"/>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9" name="Chart 8">
                <a:extLst>
                  <a:ext uri="{FF2B5EF4-FFF2-40B4-BE49-F238E27FC236}">
                    <a16:creationId xmlns:a16="http://schemas.microsoft.com/office/drawing/2014/main" id="{68939E45-0912-924D-B011-2307B5B716DC}"/>
                  </a:ext>
                </a:extLst>
              </p:cNvPr>
              <p:cNvPicPr>
                <a:picLocks noGrp="1" noRot="1" noChangeAspect="1" noMove="1" noResize="1" noEditPoints="1" noAdjustHandles="1" noChangeArrowheads="1" noChangeShapeType="1"/>
              </p:cNvPicPr>
              <p:nvPr/>
            </p:nvPicPr>
            <p:blipFill>
              <a:blip r:embed="rId5"/>
              <a:stretch>
                <a:fillRect/>
              </a:stretch>
            </p:blipFill>
            <p:spPr>
              <a:xfrm>
                <a:off x="832651" y="3699341"/>
                <a:ext cx="4592917" cy="2782421"/>
              </a:xfrm>
              <a:prstGeom prst="rect">
                <a:avLst/>
              </a:prstGeom>
            </p:spPr>
          </p:pic>
        </mc:Fallback>
      </mc:AlternateContent>
    </p:spTree>
    <p:extLst>
      <p:ext uri="{BB962C8B-B14F-4D97-AF65-F5344CB8AC3E}">
        <p14:creationId xmlns:p14="http://schemas.microsoft.com/office/powerpoint/2010/main" val="3281920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24C0C37-3CEC-4CB4-B902-37F94E20E969}" type="slidenum">
              <a:rPr lang="en-US" smtClean="0"/>
              <a:pPr/>
              <a:t>8</a:t>
            </a:fld>
            <a:endParaRPr lang="en-US" dirty="0"/>
          </a:p>
        </p:txBody>
      </p:sp>
      <p:pic>
        <p:nvPicPr>
          <p:cNvPr id="3" name="Picture 2" descr="A close-up of a map&#10;&#10;AI-generated content may be incorrect.">
            <a:extLst>
              <a:ext uri="{FF2B5EF4-FFF2-40B4-BE49-F238E27FC236}">
                <a16:creationId xmlns:a16="http://schemas.microsoft.com/office/drawing/2014/main" id="{15818CA6-7F2C-DE16-5C4B-8FE108E6A1A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49181" y="2030981"/>
            <a:ext cx="1739795" cy="1304847"/>
          </a:xfrm>
          <a:prstGeom prst="rect">
            <a:avLst/>
          </a:prstGeom>
        </p:spPr>
      </p:pic>
      <p:pic>
        <p:nvPicPr>
          <p:cNvPr id="29" name="Picture 28" descr="A picture containing linedrawing&#10;&#10;AI-generated content may be incorrect.">
            <a:extLst>
              <a:ext uri="{FF2B5EF4-FFF2-40B4-BE49-F238E27FC236}">
                <a16:creationId xmlns:a16="http://schemas.microsoft.com/office/drawing/2014/main" id="{178AE05A-49F1-2ED1-749F-6FF1E00B074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349181" y="3697668"/>
            <a:ext cx="1734893" cy="1301170"/>
          </a:xfrm>
          <a:prstGeom prst="rect">
            <a:avLst/>
          </a:prstGeom>
        </p:spPr>
      </p:pic>
      <p:sp>
        <p:nvSpPr>
          <p:cNvPr id="30" name="TextBox 29">
            <a:extLst>
              <a:ext uri="{FF2B5EF4-FFF2-40B4-BE49-F238E27FC236}">
                <a16:creationId xmlns:a16="http://schemas.microsoft.com/office/drawing/2014/main" id="{8EDEEF2D-795E-2F58-758B-43250E8DF2C8}"/>
              </a:ext>
            </a:extLst>
          </p:cNvPr>
          <p:cNvSpPr txBox="1"/>
          <p:nvPr/>
        </p:nvSpPr>
        <p:spPr>
          <a:xfrm>
            <a:off x="8279999" y="4973186"/>
            <a:ext cx="1802556" cy="430887"/>
          </a:xfrm>
          <a:prstGeom prst="rect">
            <a:avLst/>
          </a:prstGeom>
          <a:noFill/>
        </p:spPr>
        <p:txBody>
          <a:bodyPr wrap="square" rtlCol="0">
            <a:spAutoFit/>
          </a:bodyPr>
          <a:lstStyle/>
          <a:p>
            <a:r>
              <a:rPr lang="en-US" sz="1100" dirty="0">
                <a:latin typeface="Aptos" panose="020B0004020202020204" pitchFamily="34" charset="0"/>
              </a:rPr>
              <a:t>Hemp B610 Optical Microscope 50x</a:t>
            </a:r>
          </a:p>
        </p:txBody>
      </p:sp>
      <p:sp>
        <p:nvSpPr>
          <p:cNvPr id="31" name="TextBox 30">
            <a:extLst>
              <a:ext uri="{FF2B5EF4-FFF2-40B4-BE49-F238E27FC236}">
                <a16:creationId xmlns:a16="http://schemas.microsoft.com/office/drawing/2014/main" id="{79FEE9B8-2413-A4B2-2510-326E8841580C}"/>
              </a:ext>
            </a:extLst>
          </p:cNvPr>
          <p:cNvSpPr txBox="1"/>
          <p:nvPr/>
        </p:nvSpPr>
        <p:spPr>
          <a:xfrm>
            <a:off x="8279999" y="3311757"/>
            <a:ext cx="1813961" cy="430887"/>
          </a:xfrm>
          <a:prstGeom prst="rect">
            <a:avLst/>
          </a:prstGeom>
          <a:noFill/>
        </p:spPr>
        <p:txBody>
          <a:bodyPr wrap="square" rtlCol="0">
            <a:spAutoFit/>
          </a:bodyPr>
          <a:lstStyle/>
          <a:p>
            <a:r>
              <a:rPr lang="en-US" sz="1100" dirty="0">
                <a:latin typeface="Aptos" panose="020B0004020202020204" pitchFamily="34" charset="0"/>
              </a:rPr>
              <a:t>Hemp B608 Optical Microscope 50x</a:t>
            </a:r>
          </a:p>
        </p:txBody>
      </p:sp>
      <p:pic>
        <p:nvPicPr>
          <p:cNvPr id="33" name="Picture 32" descr="Map&#10;&#10;AI-generated content may be incorrect.">
            <a:extLst>
              <a:ext uri="{FF2B5EF4-FFF2-40B4-BE49-F238E27FC236}">
                <a16:creationId xmlns:a16="http://schemas.microsoft.com/office/drawing/2014/main" id="{8D7F2939-2C0A-3B7E-A33A-DAA9F50D648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86187" y="3697668"/>
            <a:ext cx="1719999" cy="1290000"/>
          </a:xfrm>
          <a:prstGeom prst="rect">
            <a:avLst/>
          </a:prstGeom>
        </p:spPr>
      </p:pic>
      <p:pic>
        <p:nvPicPr>
          <p:cNvPr id="35" name="Picture 34">
            <a:extLst>
              <a:ext uri="{FF2B5EF4-FFF2-40B4-BE49-F238E27FC236}">
                <a16:creationId xmlns:a16="http://schemas.microsoft.com/office/drawing/2014/main" id="{33FDBD5B-E9E5-2314-6758-7C3791A1281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190985" y="2030981"/>
            <a:ext cx="1739795" cy="1304847"/>
          </a:xfrm>
          <a:prstGeom prst="rect">
            <a:avLst/>
          </a:prstGeom>
        </p:spPr>
      </p:pic>
      <p:sp>
        <p:nvSpPr>
          <p:cNvPr id="38" name="Title 1">
            <a:extLst>
              <a:ext uri="{FF2B5EF4-FFF2-40B4-BE49-F238E27FC236}">
                <a16:creationId xmlns:a16="http://schemas.microsoft.com/office/drawing/2014/main" id="{D3459D3B-9CE6-B4F9-A499-E75C88334865}"/>
              </a:ext>
            </a:extLst>
          </p:cNvPr>
          <p:cNvSpPr>
            <a:spLocks noGrp="1"/>
          </p:cNvSpPr>
          <p:nvPr>
            <p:ph type="title"/>
          </p:nvPr>
        </p:nvSpPr>
        <p:spPr>
          <a:xfrm>
            <a:off x="838200" y="365125"/>
            <a:ext cx="10515600" cy="1325563"/>
          </a:xfrm>
        </p:spPr>
        <p:txBody>
          <a:bodyPr/>
          <a:lstStyle/>
          <a:p>
            <a:r>
              <a:rPr lang="en-US" dirty="0"/>
              <a:t>A Closer Look at Natural Fibers</a:t>
            </a:r>
            <a:endParaRPr lang="en-US" b="1" dirty="0">
              <a:latin typeface="Aptos" panose="020B0004020202020204" pitchFamily="34" charset="0"/>
            </a:endParaRPr>
          </a:p>
        </p:txBody>
      </p:sp>
      <p:pic>
        <p:nvPicPr>
          <p:cNvPr id="39" name="Picture 38">
            <a:extLst>
              <a:ext uri="{FF2B5EF4-FFF2-40B4-BE49-F238E27FC236}">
                <a16:creationId xmlns:a16="http://schemas.microsoft.com/office/drawing/2014/main" id="{D4A80656-14B2-D729-4A33-185C170CFC4F}"/>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4520720" y="3891245"/>
            <a:ext cx="1731420" cy="1251781"/>
          </a:xfrm>
          <a:prstGeom prst="rect">
            <a:avLst/>
          </a:prstGeom>
        </p:spPr>
      </p:pic>
      <p:pic>
        <p:nvPicPr>
          <p:cNvPr id="40" name="Picture 39" descr="A picture containing text&#10;&#10;AI-generated content may be incorrect.">
            <a:extLst>
              <a:ext uri="{FF2B5EF4-FFF2-40B4-BE49-F238E27FC236}">
                <a16:creationId xmlns:a16="http://schemas.microsoft.com/office/drawing/2014/main" id="{9A72C50E-E9C6-E158-5EEB-82B5DBD122A3}"/>
              </a:ext>
            </a:extLst>
          </p:cNvPr>
          <p:cNvPicPr>
            <a:picLocks noChangeAspect="1"/>
          </p:cNvPicPr>
          <p:nvPr/>
        </p:nvPicPr>
        <p:blipFill rotWithShape="1">
          <a:blip r:embed="rId8" cstate="screen">
            <a:extLst>
              <a:ext uri="{BEBA8EAE-BF5A-486C-A8C5-ECC9F3942E4B}">
                <a14:imgProps xmlns:a14="http://schemas.microsoft.com/office/drawing/2010/main">
                  <a14:imgLayer r:embed="rId9">
                    <a14:imgEffect>
                      <a14:brightnessContrast bright="20000" contrast="20000"/>
                    </a14:imgEffect>
                  </a14:imgLayer>
                </a14:imgProps>
              </a:ext>
              <a:ext uri="{28A0092B-C50C-407E-A947-70E740481C1C}">
                <a14:useLocalDpi xmlns:a14="http://schemas.microsoft.com/office/drawing/2010/main"/>
              </a:ext>
            </a:extLst>
          </a:blip>
          <a:srcRect/>
          <a:stretch/>
        </p:blipFill>
        <p:spPr>
          <a:xfrm rot="10800000">
            <a:off x="4523817" y="2046381"/>
            <a:ext cx="1728323" cy="1709235"/>
          </a:xfrm>
          <a:prstGeom prst="rect">
            <a:avLst/>
          </a:prstGeom>
        </p:spPr>
      </p:pic>
      <p:sp>
        <p:nvSpPr>
          <p:cNvPr id="41" name="TextBox 40">
            <a:extLst>
              <a:ext uri="{FF2B5EF4-FFF2-40B4-BE49-F238E27FC236}">
                <a16:creationId xmlns:a16="http://schemas.microsoft.com/office/drawing/2014/main" id="{EDD78299-4521-C352-686B-13C151588AE4}"/>
              </a:ext>
            </a:extLst>
          </p:cNvPr>
          <p:cNvSpPr txBox="1"/>
          <p:nvPr/>
        </p:nvSpPr>
        <p:spPr>
          <a:xfrm>
            <a:off x="4430844" y="5129209"/>
            <a:ext cx="1290241" cy="261610"/>
          </a:xfrm>
          <a:prstGeom prst="rect">
            <a:avLst/>
          </a:prstGeom>
          <a:noFill/>
        </p:spPr>
        <p:txBody>
          <a:bodyPr wrap="square" rtlCol="0">
            <a:spAutoFit/>
          </a:bodyPr>
          <a:lstStyle/>
          <a:p>
            <a:r>
              <a:rPr lang="en-US" sz="1100" dirty="0">
                <a:latin typeface="Aptos" panose="020B0004020202020204" pitchFamily="34" charset="0"/>
                <a:cs typeface="Times New Roman" panose="02020603050405020304" pitchFamily="18" charset="0"/>
              </a:rPr>
              <a:t>Hemp B601</a:t>
            </a:r>
          </a:p>
        </p:txBody>
      </p:sp>
      <p:pic>
        <p:nvPicPr>
          <p:cNvPr id="42" name="Content Placeholder 5">
            <a:extLst>
              <a:ext uri="{FF2B5EF4-FFF2-40B4-BE49-F238E27FC236}">
                <a16:creationId xmlns:a16="http://schemas.microsoft.com/office/drawing/2014/main" id="{240F2194-700F-10A6-EE02-91C3A574DDC8}"/>
              </a:ext>
            </a:extLst>
          </p:cNvPr>
          <p:cNvPicPr>
            <a:picLocks noGrp="1" noChangeAspect="1"/>
          </p:cNvPicPr>
          <p:nvPr>
            <p:ph idx="1"/>
          </p:nvPr>
        </p:nvPicPr>
        <p:blipFill rotWithShape="1">
          <a:blip r:embed="rId10" cstate="screen">
            <a:extLst>
              <a:ext uri="{28A0092B-C50C-407E-A947-70E740481C1C}">
                <a14:useLocalDpi xmlns:a14="http://schemas.microsoft.com/office/drawing/2010/main"/>
              </a:ext>
            </a:extLst>
          </a:blip>
          <a:srcRect/>
          <a:stretch/>
        </p:blipFill>
        <p:spPr>
          <a:xfrm rot="5400000">
            <a:off x="1916569" y="1987102"/>
            <a:ext cx="916368" cy="1191747"/>
          </a:xfrm>
        </p:spPr>
      </p:pic>
      <p:sp>
        <p:nvSpPr>
          <p:cNvPr id="43" name="TextBox 42">
            <a:extLst>
              <a:ext uri="{FF2B5EF4-FFF2-40B4-BE49-F238E27FC236}">
                <a16:creationId xmlns:a16="http://schemas.microsoft.com/office/drawing/2014/main" id="{9D8972A9-D03C-AFAD-E6B0-B61DE9BEE3CA}"/>
              </a:ext>
            </a:extLst>
          </p:cNvPr>
          <p:cNvSpPr txBox="1"/>
          <p:nvPr/>
        </p:nvSpPr>
        <p:spPr>
          <a:xfrm>
            <a:off x="1710462" y="1893610"/>
            <a:ext cx="1290241" cy="276999"/>
          </a:xfrm>
          <a:prstGeom prst="rect">
            <a:avLst/>
          </a:prstGeom>
          <a:noFill/>
        </p:spPr>
        <p:txBody>
          <a:bodyPr wrap="square" rtlCol="0">
            <a:spAutoFit/>
          </a:bodyPr>
          <a:lstStyle/>
          <a:p>
            <a:r>
              <a:rPr lang="en-US" sz="1200" b="1" dirty="0">
                <a:latin typeface="Aptos" panose="020B0004020202020204" pitchFamily="34" charset="0"/>
                <a:cs typeface="Times New Roman" panose="02020603050405020304" pitchFamily="18" charset="0"/>
              </a:rPr>
              <a:t>Hemp B601</a:t>
            </a:r>
          </a:p>
        </p:txBody>
      </p:sp>
      <p:pic>
        <p:nvPicPr>
          <p:cNvPr id="44" name="Picture 43">
            <a:extLst>
              <a:ext uri="{FF2B5EF4-FFF2-40B4-BE49-F238E27FC236}">
                <a16:creationId xmlns:a16="http://schemas.microsoft.com/office/drawing/2014/main" id="{11871F13-4750-58F7-56FE-4ACF26BD7E72}"/>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rot="5400000">
            <a:off x="1916902" y="3143263"/>
            <a:ext cx="945778" cy="1221824"/>
          </a:xfrm>
          <a:prstGeom prst="rect">
            <a:avLst/>
          </a:prstGeom>
        </p:spPr>
      </p:pic>
      <p:sp>
        <p:nvSpPr>
          <p:cNvPr id="45" name="TextBox 44">
            <a:extLst>
              <a:ext uri="{FF2B5EF4-FFF2-40B4-BE49-F238E27FC236}">
                <a16:creationId xmlns:a16="http://schemas.microsoft.com/office/drawing/2014/main" id="{5425F3E1-E7DB-271C-4A9A-221F6205299B}"/>
              </a:ext>
            </a:extLst>
          </p:cNvPr>
          <p:cNvSpPr txBox="1"/>
          <p:nvPr/>
        </p:nvSpPr>
        <p:spPr>
          <a:xfrm>
            <a:off x="1703991" y="3029107"/>
            <a:ext cx="1371600" cy="276999"/>
          </a:xfrm>
          <a:prstGeom prst="rect">
            <a:avLst/>
          </a:prstGeom>
          <a:noFill/>
        </p:spPr>
        <p:txBody>
          <a:bodyPr wrap="square" rtlCol="0">
            <a:spAutoFit/>
          </a:bodyPr>
          <a:lstStyle/>
          <a:p>
            <a:r>
              <a:rPr lang="en-US" sz="1200" b="1" dirty="0">
                <a:latin typeface="Aptos" panose="020B0004020202020204" pitchFamily="34" charset="0"/>
                <a:cs typeface="Times New Roman" panose="02020603050405020304" pitchFamily="18" charset="0"/>
              </a:rPr>
              <a:t>Hemp B602</a:t>
            </a:r>
          </a:p>
        </p:txBody>
      </p:sp>
      <p:pic>
        <p:nvPicPr>
          <p:cNvPr id="46" name="Picture 45">
            <a:extLst>
              <a:ext uri="{FF2B5EF4-FFF2-40B4-BE49-F238E27FC236}">
                <a16:creationId xmlns:a16="http://schemas.microsoft.com/office/drawing/2014/main" id="{DA634C5B-0A8C-D3AE-066E-6C74BBD76CAD}"/>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3151404" y="2124791"/>
            <a:ext cx="1221825" cy="916369"/>
          </a:xfrm>
          <a:prstGeom prst="rect">
            <a:avLst/>
          </a:prstGeom>
        </p:spPr>
      </p:pic>
      <p:pic>
        <p:nvPicPr>
          <p:cNvPr id="47" name="Picture 46">
            <a:extLst>
              <a:ext uri="{FF2B5EF4-FFF2-40B4-BE49-F238E27FC236}">
                <a16:creationId xmlns:a16="http://schemas.microsoft.com/office/drawing/2014/main" id="{05FFCB21-9705-ECEB-E26B-D1D1F511C68F}"/>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151404" y="3281285"/>
            <a:ext cx="1221825" cy="916369"/>
          </a:xfrm>
          <a:prstGeom prst="rect">
            <a:avLst/>
          </a:prstGeom>
        </p:spPr>
      </p:pic>
      <p:pic>
        <p:nvPicPr>
          <p:cNvPr id="48" name="Picture 47" descr="A picture containing text, indoor&#10;&#10;AI-generated content may be incorrect.">
            <a:extLst>
              <a:ext uri="{FF2B5EF4-FFF2-40B4-BE49-F238E27FC236}">
                <a16:creationId xmlns:a16="http://schemas.microsoft.com/office/drawing/2014/main" id="{4844EA90-EB63-A980-C66D-B5C6FD29DD98}"/>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a:stretch/>
        </p:blipFill>
        <p:spPr>
          <a:xfrm>
            <a:off x="1809608" y="4469030"/>
            <a:ext cx="1191095" cy="998598"/>
          </a:xfrm>
          <a:prstGeom prst="rect">
            <a:avLst/>
          </a:prstGeom>
        </p:spPr>
      </p:pic>
      <p:pic>
        <p:nvPicPr>
          <p:cNvPr id="49" name="Picture 48" descr="A picture containing outdoor, wooden, trunk&#10;&#10;AI-generated content may be incorrect.">
            <a:extLst>
              <a:ext uri="{FF2B5EF4-FFF2-40B4-BE49-F238E27FC236}">
                <a16:creationId xmlns:a16="http://schemas.microsoft.com/office/drawing/2014/main" id="{B6A7F122-06D3-6C5C-4032-3EA6FC3EA8E0}"/>
              </a:ext>
            </a:extLst>
          </p:cNvPr>
          <p:cNvPicPr>
            <a:picLocks noChangeAspect="1"/>
          </p:cNvPicPr>
          <p:nvPr/>
        </p:nvPicPr>
        <p:blipFill rotWithShape="1">
          <a:blip r:embed="rId15" cstate="screen">
            <a:extLst>
              <a:ext uri="{28A0092B-C50C-407E-A947-70E740481C1C}">
                <a14:useLocalDpi xmlns:a14="http://schemas.microsoft.com/office/drawing/2010/main"/>
              </a:ext>
            </a:extLst>
          </a:blip>
          <a:srcRect/>
          <a:stretch/>
        </p:blipFill>
        <p:spPr>
          <a:xfrm>
            <a:off x="3151404" y="4483854"/>
            <a:ext cx="1212913" cy="983774"/>
          </a:xfrm>
          <a:prstGeom prst="rect">
            <a:avLst/>
          </a:prstGeom>
        </p:spPr>
      </p:pic>
      <p:sp>
        <p:nvSpPr>
          <p:cNvPr id="50" name="TextBox 49">
            <a:extLst>
              <a:ext uri="{FF2B5EF4-FFF2-40B4-BE49-F238E27FC236}">
                <a16:creationId xmlns:a16="http://schemas.microsoft.com/office/drawing/2014/main" id="{08489452-5A9F-C844-F2BA-E2D70EA43A58}"/>
              </a:ext>
            </a:extLst>
          </p:cNvPr>
          <p:cNvSpPr txBox="1"/>
          <p:nvPr/>
        </p:nvSpPr>
        <p:spPr>
          <a:xfrm>
            <a:off x="1763473" y="4200276"/>
            <a:ext cx="1327106" cy="276999"/>
          </a:xfrm>
          <a:prstGeom prst="rect">
            <a:avLst/>
          </a:prstGeom>
          <a:noFill/>
        </p:spPr>
        <p:txBody>
          <a:bodyPr wrap="square" rtlCol="0">
            <a:spAutoFit/>
          </a:bodyPr>
          <a:lstStyle/>
          <a:p>
            <a:r>
              <a:rPr lang="en-US" sz="1200" b="1" dirty="0" err="1">
                <a:latin typeface="Aptos" panose="020B0004020202020204" pitchFamily="34" charset="0"/>
                <a:cs typeface="Times New Roman" panose="02020603050405020304" pitchFamily="18" charset="0"/>
              </a:rPr>
              <a:t>BComp</a:t>
            </a:r>
            <a:r>
              <a:rPr lang="en-US" sz="1200" b="1" dirty="0">
                <a:latin typeface="Aptos" panose="020B0004020202020204" pitchFamily="34" charset="0"/>
                <a:cs typeface="Times New Roman" panose="02020603050405020304" pitchFamily="18" charset="0"/>
              </a:rPr>
              <a:t> Flax</a:t>
            </a:r>
          </a:p>
        </p:txBody>
      </p:sp>
      <p:sp>
        <p:nvSpPr>
          <p:cNvPr id="51" name="TextBox 50">
            <a:extLst>
              <a:ext uri="{FF2B5EF4-FFF2-40B4-BE49-F238E27FC236}">
                <a16:creationId xmlns:a16="http://schemas.microsoft.com/office/drawing/2014/main" id="{415CA0F8-E682-6794-AF83-CC13E4B6E850}"/>
              </a:ext>
            </a:extLst>
          </p:cNvPr>
          <p:cNvSpPr txBox="1"/>
          <p:nvPr/>
        </p:nvSpPr>
        <p:spPr>
          <a:xfrm>
            <a:off x="2985365" y="1892852"/>
            <a:ext cx="1688287" cy="261610"/>
          </a:xfrm>
          <a:prstGeom prst="rect">
            <a:avLst/>
          </a:prstGeom>
          <a:noFill/>
        </p:spPr>
        <p:txBody>
          <a:bodyPr wrap="square" rtlCol="0">
            <a:spAutoFit/>
          </a:bodyPr>
          <a:lstStyle/>
          <a:p>
            <a:r>
              <a:rPr lang="en-US" sz="1100" dirty="0">
                <a:latin typeface="Aptos" panose="020B0004020202020204" pitchFamily="34" charset="0"/>
                <a:cs typeface="Times New Roman" panose="02020603050405020304" pitchFamily="18" charset="0"/>
              </a:rPr>
              <a:t>Optical Microscope 5x</a:t>
            </a:r>
          </a:p>
        </p:txBody>
      </p:sp>
      <p:sp>
        <p:nvSpPr>
          <p:cNvPr id="52" name="TextBox 51">
            <a:extLst>
              <a:ext uri="{FF2B5EF4-FFF2-40B4-BE49-F238E27FC236}">
                <a16:creationId xmlns:a16="http://schemas.microsoft.com/office/drawing/2014/main" id="{FD2D641D-9FDF-569A-3A04-671FBD813E1B}"/>
              </a:ext>
            </a:extLst>
          </p:cNvPr>
          <p:cNvSpPr txBox="1"/>
          <p:nvPr/>
        </p:nvSpPr>
        <p:spPr>
          <a:xfrm>
            <a:off x="2978539" y="3046564"/>
            <a:ext cx="1688287" cy="261610"/>
          </a:xfrm>
          <a:prstGeom prst="rect">
            <a:avLst/>
          </a:prstGeom>
          <a:noFill/>
        </p:spPr>
        <p:txBody>
          <a:bodyPr wrap="square" rtlCol="0">
            <a:spAutoFit/>
          </a:bodyPr>
          <a:lstStyle/>
          <a:p>
            <a:r>
              <a:rPr lang="en-US" sz="1100" dirty="0">
                <a:latin typeface="Aptos" panose="020B0004020202020204" pitchFamily="34" charset="0"/>
                <a:cs typeface="Times New Roman" panose="02020603050405020304" pitchFamily="18" charset="0"/>
              </a:rPr>
              <a:t>Optical Microscope 5x</a:t>
            </a:r>
          </a:p>
        </p:txBody>
      </p:sp>
      <p:sp>
        <p:nvSpPr>
          <p:cNvPr id="53" name="TextBox 52">
            <a:extLst>
              <a:ext uri="{FF2B5EF4-FFF2-40B4-BE49-F238E27FC236}">
                <a16:creationId xmlns:a16="http://schemas.microsoft.com/office/drawing/2014/main" id="{39987789-A326-2271-1CE1-B0BC49EF5391}"/>
              </a:ext>
            </a:extLst>
          </p:cNvPr>
          <p:cNvSpPr txBox="1"/>
          <p:nvPr/>
        </p:nvSpPr>
        <p:spPr>
          <a:xfrm>
            <a:off x="3105985" y="4240303"/>
            <a:ext cx="1688287" cy="261610"/>
          </a:xfrm>
          <a:prstGeom prst="rect">
            <a:avLst/>
          </a:prstGeom>
          <a:noFill/>
        </p:spPr>
        <p:txBody>
          <a:bodyPr wrap="square" rtlCol="0">
            <a:spAutoFit/>
          </a:bodyPr>
          <a:lstStyle/>
          <a:p>
            <a:r>
              <a:rPr lang="en-US" sz="1100" dirty="0">
                <a:latin typeface="Aptos" panose="020B0004020202020204" pitchFamily="34" charset="0"/>
                <a:cs typeface="Times New Roman" panose="02020603050405020304" pitchFamily="18" charset="0"/>
              </a:rPr>
              <a:t>Stereo Microscope</a:t>
            </a:r>
          </a:p>
        </p:txBody>
      </p:sp>
      <p:sp>
        <p:nvSpPr>
          <p:cNvPr id="54" name="TextBox 53">
            <a:extLst>
              <a:ext uri="{FF2B5EF4-FFF2-40B4-BE49-F238E27FC236}">
                <a16:creationId xmlns:a16="http://schemas.microsoft.com/office/drawing/2014/main" id="{3AB9268A-1DB7-9990-01E0-2232E8FAEC30}"/>
              </a:ext>
            </a:extLst>
          </p:cNvPr>
          <p:cNvSpPr txBox="1"/>
          <p:nvPr/>
        </p:nvSpPr>
        <p:spPr>
          <a:xfrm>
            <a:off x="10093960" y="4963706"/>
            <a:ext cx="1802556" cy="430887"/>
          </a:xfrm>
          <a:prstGeom prst="rect">
            <a:avLst/>
          </a:prstGeom>
          <a:noFill/>
        </p:spPr>
        <p:txBody>
          <a:bodyPr wrap="square" rtlCol="0">
            <a:spAutoFit/>
          </a:bodyPr>
          <a:lstStyle/>
          <a:p>
            <a:r>
              <a:rPr lang="en-US" sz="1100" dirty="0">
                <a:latin typeface="Aptos" panose="020B0004020202020204" pitchFamily="34" charset="0"/>
              </a:rPr>
              <a:t>Hemp B605 Optical Microscope 50x</a:t>
            </a:r>
          </a:p>
        </p:txBody>
      </p:sp>
      <p:sp>
        <p:nvSpPr>
          <p:cNvPr id="55" name="TextBox 54">
            <a:extLst>
              <a:ext uri="{FF2B5EF4-FFF2-40B4-BE49-F238E27FC236}">
                <a16:creationId xmlns:a16="http://schemas.microsoft.com/office/drawing/2014/main" id="{95AF7C05-41CC-A37D-9085-751474769C6E}"/>
              </a:ext>
            </a:extLst>
          </p:cNvPr>
          <p:cNvSpPr txBox="1"/>
          <p:nvPr/>
        </p:nvSpPr>
        <p:spPr>
          <a:xfrm>
            <a:off x="10093960" y="3289616"/>
            <a:ext cx="1836820" cy="430887"/>
          </a:xfrm>
          <a:prstGeom prst="rect">
            <a:avLst/>
          </a:prstGeom>
          <a:noFill/>
        </p:spPr>
        <p:txBody>
          <a:bodyPr wrap="square" rtlCol="0">
            <a:spAutoFit/>
          </a:bodyPr>
          <a:lstStyle/>
          <a:p>
            <a:r>
              <a:rPr lang="en-US" sz="1100" dirty="0" err="1">
                <a:latin typeface="Aptos" panose="020B0004020202020204" pitchFamily="34" charset="0"/>
              </a:rPr>
              <a:t>BComp</a:t>
            </a:r>
            <a:r>
              <a:rPr lang="en-US" sz="1100" dirty="0">
                <a:latin typeface="Aptos" panose="020B0004020202020204" pitchFamily="34" charset="0"/>
              </a:rPr>
              <a:t> Flax Optical Microscope 50x</a:t>
            </a:r>
          </a:p>
        </p:txBody>
      </p:sp>
      <p:sp>
        <p:nvSpPr>
          <p:cNvPr id="56" name="Oval 55">
            <a:extLst>
              <a:ext uri="{FF2B5EF4-FFF2-40B4-BE49-F238E27FC236}">
                <a16:creationId xmlns:a16="http://schemas.microsoft.com/office/drawing/2014/main" id="{146FD4AD-960F-7195-AD66-45BECA39BA7D}"/>
              </a:ext>
            </a:extLst>
          </p:cNvPr>
          <p:cNvSpPr/>
          <p:nvPr/>
        </p:nvSpPr>
        <p:spPr>
          <a:xfrm rot="2152017">
            <a:off x="5215732" y="3845322"/>
            <a:ext cx="286747" cy="1370394"/>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Picture 60" descr="A picture containing text, case&#10;&#10;AI-generated content may be incorrect.">
            <a:extLst>
              <a:ext uri="{FF2B5EF4-FFF2-40B4-BE49-F238E27FC236}">
                <a16:creationId xmlns:a16="http://schemas.microsoft.com/office/drawing/2014/main" id="{7BA1F331-AF55-2F54-2B4F-1CCA724EEF1A}"/>
              </a:ext>
            </a:extLst>
          </p:cNvPr>
          <p:cNvPicPr>
            <a:picLocks noChangeAspect="1"/>
          </p:cNvPicPr>
          <p:nvPr/>
        </p:nvPicPr>
        <p:blipFill>
          <a:blip r:embed="rId16" cstate="screen">
            <a:extLst>
              <a:ext uri="{BEBA8EAE-BF5A-486C-A8C5-ECC9F3942E4B}">
                <a14:imgProps xmlns:a14="http://schemas.microsoft.com/office/drawing/2010/main">
                  <a14:imgLayer r:embed="rId17">
                    <a14:imgEffect>
                      <a14:brightnessContrast bright="20000" contrast="-40000"/>
                    </a14:imgEffect>
                  </a14:imgLayer>
                </a14:imgProps>
              </a:ext>
              <a:ext uri="{28A0092B-C50C-407E-A947-70E740481C1C}">
                <a14:useLocalDpi xmlns:a14="http://schemas.microsoft.com/office/drawing/2010/main"/>
              </a:ext>
            </a:extLst>
          </a:blip>
          <a:stretch>
            <a:fillRect/>
          </a:stretch>
        </p:blipFill>
        <p:spPr>
          <a:xfrm>
            <a:off x="6396676" y="2032420"/>
            <a:ext cx="1802556" cy="1013938"/>
          </a:xfrm>
          <a:prstGeom prst="rect">
            <a:avLst/>
          </a:prstGeom>
        </p:spPr>
      </p:pic>
      <p:pic>
        <p:nvPicPr>
          <p:cNvPr id="62" name="Picture 61">
            <a:extLst>
              <a:ext uri="{FF2B5EF4-FFF2-40B4-BE49-F238E27FC236}">
                <a16:creationId xmlns:a16="http://schemas.microsoft.com/office/drawing/2014/main" id="{91228C8B-939C-20DC-CC11-A0D89C37CA89}"/>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6396676" y="3597503"/>
            <a:ext cx="1802556" cy="1351918"/>
          </a:xfrm>
          <a:prstGeom prst="rect">
            <a:avLst/>
          </a:prstGeom>
        </p:spPr>
      </p:pic>
      <p:sp>
        <p:nvSpPr>
          <p:cNvPr id="63" name="TextBox 62">
            <a:extLst>
              <a:ext uri="{FF2B5EF4-FFF2-40B4-BE49-F238E27FC236}">
                <a16:creationId xmlns:a16="http://schemas.microsoft.com/office/drawing/2014/main" id="{B794FE49-5193-C04D-0317-2E56147DB97C}"/>
              </a:ext>
            </a:extLst>
          </p:cNvPr>
          <p:cNvSpPr txBox="1"/>
          <p:nvPr/>
        </p:nvSpPr>
        <p:spPr>
          <a:xfrm>
            <a:off x="6381938" y="3028124"/>
            <a:ext cx="1898061" cy="430887"/>
          </a:xfrm>
          <a:prstGeom prst="rect">
            <a:avLst/>
          </a:prstGeom>
          <a:noFill/>
        </p:spPr>
        <p:txBody>
          <a:bodyPr wrap="square" rtlCol="0">
            <a:spAutoFit/>
          </a:bodyPr>
          <a:lstStyle/>
          <a:p>
            <a:r>
              <a:rPr lang="en-US" sz="1100" dirty="0" err="1">
                <a:latin typeface="Aptos" panose="020B0004020202020204" pitchFamily="34" charset="0"/>
                <a:cs typeface="Times New Roman" panose="02020603050405020304" pitchFamily="18" charset="0"/>
              </a:rPr>
              <a:t>BComp</a:t>
            </a:r>
            <a:r>
              <a:rPr lang="en-US" sz="1100" dirty="0">
                <a:latin typeface="Aptos" panose="020B0004020202020204" pitchFamily="34" charset="0"/>
                <a:cs typeface="Times New Roman" panose="02020603050405020304" pitchFamily="18" charset="0"/>
              </a:rPr>
              <a:t> Flax, Stereo Microscope</a:t>
            </a:r>
          </a:p>
        </p:txBody>
      </p:sp>
      <p:sp>
        <p:nvSpPr>
          <p:cNvPr id="64" name="TextBox 63">
            <a:extLst>
              <a:ext uri="{FF2B5EF4-FFF2-40B4-BE49-F238E27FC236}">
                <a16:creationId xmlns:a16="http://schemas.microsoft.com/office/drawing/2014/main" id="{BD3BB966-C9E3-2734-0CC2-142AB5E03B61}"/>
              </a:ext>
            </a:extLst>
          </p:cNvPr>
          <p:cNvSpPr txBox="1"/>
          <p:nvPr/>
        </p:nvSpPr>
        <p:spPr>
          <a:xfrm>
            <a:off x="6393320" y="4935635"/>
            <a:ext cx="1802556" cy="430887"/>
          </a:xfrm>
          <a:prstGeom prst="rect">
            <a:avLst/>
          </a:prstGeom>
          <a:noFill/>
        </p:spPr>
        <p:txBody>
          <a:bodyPr wrap="square" rtlCol="0">
            <a:spAutoFit/>
          </a:bodyPr>
          <a:lstStyle/>
          <a:p>
            <a:r>
              <a:rPr lang="en-US" sz="1100" dirty="0" err="1">
                <a:latin typeface="Aptos" panose="020B0004020202020204" pitchFamily="34" charset="0"/>
                <a:cs typeface="Times New Roman" panose="02020603050405020304" pitchFamily="18" charset="0"/>
              </a:rPr>
              <a:t>BComp</a:t>
            </a:r>
            <a:r>
              <a:rPr lang="en-US" sz="1100" dirty="0">
                <a:latin typeface="Aptos" panose="020B0004020202020204" pitchFamily="34" charset="0"/>
                <a:cs typeface="Times New Roman" panose="02020603050405020304" pitchFamily="18" charset="0"/>
              </a:rPr>
              <a:t> Flax, Optical Microscope 20x</a:t>
            </a:r>
          </a:p>
        </p:txBody>
      </p:sp>
      <p:sp>
        <p:nvSpPr>
          <p:cNvPr id="65" name="TextBox 64">
            <a:extLst>
              <a:ext uri="{FF2B5EF4-FFF2-40B4-BE49-F238E27FC236}">
                <a16:creationId xmlns:a16="http://schemas.microsoft.com/office/drawing/2014/main" id="{A71C6F14-A473-A43E-5784-C47D5AB2ABB4}"/>
              </a:ext>
            </a:extLst>
          </p:cNvPr>
          <p:cNvSpPr txBox="1"/>
          <p:nvPr/>
        </p:nvSpPr>
        <p:spPr>
          <a:xfrm>
            <a:off x="1838483" y="1417520"/>
            <a:ext cx="2434123" cy="369332"/>
          </a:xfrm>
          <a:prstGeom prst="rect">
            <a:avLst/>
          </a:prstGeom>
          <a:noFill/>
        </p:spPr>
        <p:txBody>
          <a:bodyPr wrap="square" rtlCol="0">
            <a:spAutoFit/>
          </a:bodyPr>
          <a:lstStyle/>
          <a:p>
            <a:pPr algn="ctr"/>
            <a:r>
              <a:rPr lang="en-US" b="1" dirty="0">
                <a:latin typeface="Aptos" panose="020B0004020202020204" pitchFamily="34" charset="0"/>
              </a:rPr>
              <a:t>Fabrics</a:t>
            </a:r>
          </a:p>
        </p:txBody>
      </p:sp>
      <p:sp>
        <p:nvSpPr>
          <p:cNvPr id="66" name="TextBox 65">
            <a:extLst>
              <a:ext uri="{FF2B5EF4-FFF2-40B4-BE49-F238E27FC236}">
                <a16:creationId xmlns:a16="http://schemas.microsoft.com/office/drawing/2014/main" id="{83D608F3-761B-4879-21C3-85674B2D1B72}"/>
              </a:ext>
            </a:extLst>
          </p:cNvPr>
          <p:cNvSpPr txBox="1"/>
          <p:nvPr/>
        </p:nvSpPr>
        <p:spPr>
          <a:xfrm>
            <a:off x="4170918" y="1426995"/>
            <a:ext cx="2434123" cy="369332"/>
          </a:xfrm>
          <a:prstGeom prst="rect">
            <a:avLst/>
          </a:prstGeom>
          <a:noFill/>
        </p:spPr>
        <p:txBody>
          <a:bodyPr wrap="square" rtlCol="0">
            <a:spAutoFit/>
          </a:bodyPr>
          <a:lstStyle/>
          <a:p>
            <a:pPr algn="ctr"/>
            <a:r>
              <a:rPr lang="en-US" b="1" dirty="0">
                <a:latin typeface="Aptos" panose="020B0004020202020204" pitchFamily="34" charset="0"/>
              </a:rPr>
              <a:t>Yarns</a:t>
            </a:r>
          </a:p>
        </p:txBody>
      </p:sp>
      <p:sp>
        <p:nvSpPr>
          <p:cNvPr id="67" name="TextBox 66">
            <a:extLst>
              <a:ext uri="{FF2B5EF4-FFF2-40B4-BE49-F238E27FC236}">
                <a16:creationId xmlns:a16="http://schemas.microsoft.com/office/drawing/2014/main" id="{DC37EA3D-0E1D-E0E6-CC7C-69661BE295D1}"/>
              </a:ext>
            </a:extLst>
          </p:cNvPr>
          <p:cNvSpPr txBox="1"/>
          <p:nvPr/>
        </p:nvSpPr>
        <p:spPr>
          <a:xfrm>
            <a:off x="6071092" y="1426995"/>
            <a:ext cx="2434123" cy="369332"/>
          </a:xfrm>
          <a:prstGeom prst="rect">
            <a:avLst/>
          </a:prstGeom>
          <a:noFill/>
        </p:spPr>
        <p:txBody>
          <a:bodyPr wrap="square" rtlCol="0">
            <a:spAutoFit/>
          </a:bodyPr>
          <a:lstStyle/>
          <a:p>
            <a:pPr algn="ctr"/>
            <a:r>
              <a:rPr lang="en-US" b="1" dirty="0">
                <a:latin typeface="Aptos" panose="020B0004020202020204" pitchFamily="34" charset="0"/>
              </a:rPr>
              <a:t>Individual Fibers</a:t>
            </a:r>
          </a:p>
        </p:txBody>
      </p:sp>
      <p:sp>
        <p:nvSpPr>
          <p:cNvPr id="68" name="TextBox 67">
            <a:extLst>
              <a:ext uri="{FF2B5EF4-FFF2-40B4-BE49-F238E27FC236}">
                <a16:creationId xmlns:a16="http://schemas.microsoft.com/office/drawing/2014/main" id="{BF75A03E-AA24-026B-8EA6-05BA55743537}"/>
              </a:ext>
            </a:extLst>
          </p:cNvPr>
          <p:cNvSpPr txBox="1"/>
          <p:nvPr/>
        </p:nvSpPr>
        <p:spPr>
          <a:xfrm>
            <a:off x="8919677" y="1415631"/>
            <a:ext cx="2434123" cy="369332"/>
          </a:xfrm>
          <a:prstGeom prst="rect">
            <a:avLst/>
          </a:prstGeom>
          <a:noFill/>
        </p:spPr>
        <p:txBody>
          <a:bodyPr wrap="square" rtlCol="0">
            <a:spAutoFit/>
          </a:bodyPr>
          <a:lstStyle/>
          <a:p>
            <a:pPr algn="ctr"/>
            <a:r>
              <a:rPr lang="en-US" b="1" dirty="0">
                <a:latin typeface="Aptos" panose="020B0004020202020204" pitchFamily="34" charset="0"/>
              </a:rPr>
              <a:t>Fiber Cross Sections</a:t>
            </a:r>
          </a:p>
        </p:txBody>
      </p:sp>
      <p:pic>
        <p:nvPicPr>
          <p:cNvPr id="11" name="Picture 10">
            <a:extLst>
              <a:ext uri="{FF2B5EF4-FFF2-40B4-BE49-F238E27FC236}">
                <a16:creationId xmlns:a16="http://schemas.microsoft.com/office/drawing/2014/main" id="{FAA5057C-8458-BA58-386C-E60588A0EECC}"/>
              </a:ext>
            </a:extLst>
          </p:cNvPr>
          <p:cNvPicPr>
            <a:picLocks noChangeAspect="1"/>
          </p:cNvPicPr>
          <p:nvPr/>
        </p:nvPicPr>
        <p:blipFill rotWithShape="1">
          <a:blip r:embed="rId19" cstate="screen">
            <a:extLst>
              <a:ext uri="{BEBA8EAE-BF5A-486C-A8C5-ECC9F3942E4B}">
                <a14:imgProps xmlns:a14="http://schemas.microsoft.com/office/drawing/2010/main">
                  <a14:imgLayer r:embed="rId20">
                    <a14:imgEffect>
                      <a14:brightnessContrast contrast="20000"/>
                    </a14:imgEffect>
                  </a14:imgLayer>
                </a14:imgProps>
              </a:ext>
              <a:ext uri="{28A0092B-C50C-407E-A947-70E740481C1C}">
                <a14:useLocalDpi xmlns:a14="http://schemas.microsoft.com/office/drawing/2010/main"/>
              </a:ext>
            </a:extLst>
          </a:blip>
          <a:srcRect/>
          <a:stretch/>
        </p:blipFill>
        <p:spPr>
          <a:xfrm rot="5400000">
            <a:off x="609867" y="4296190"/>
            <a:ext cx="716367" cy="1190395"/>
          </a:xfrm>
          <a:prstGeom prst="rect">
            <a:avLst/>
          </a:prstGeom>
        </p:spPr>
      </p:pic>
      <p:sp>
        <p:nvSpPr>
          <p:cNvPr id="12" name="TextBox 11">
            <a:extLst>
              <a:ext uri="{FF2B5EF4-FFF2-40B4-BE49-F238E27FC236}">
                <a16:creationId xmlns:a16="http://schemas.microsoft.com/office/drawing/2014/main" id="{BBE019C7-6FCB-4E25-6FBD-9298F2C4A1E0}"/>
              </a:ext>
            </a:extLst>
          </p:cNvPr>
          <p:cNvSpPr txBox="1"/>
          <p:nvPr/>
        </p:nvSpPr>
        <p:spPr>
          <a:xfrm>
            <a:off x="310533" y="5217197"/>
            <a:ext cx="1427037" cy="430887"/>
          </a:xfrm>
          <a:prstGeom prst="rect">
            <a:avLst/>
          </a:prstGeom>
          <a:noFill/>
        </p:spPr>
        <p:txBody>
          <a:bodyPr wrap="square" rtlCol="0">
            <a:spAutoFit/>
          </a:bodyPr>
          <a:lstStyle/>
          <a:p>
            <a:r>
              <a:rPr lang="en-US" sz="1100" dirty="0">
                <a:latin typeface="Aptos" panose="020B0004020202020204" pitchFamily="34" charset="0"/>
              </a:rPr>
              <a:t>SUMAC composite A&amp;P Flax </a:t>
            </a:r>
            <a:r>
              <a:rPr lang="en-US" sz="1100" dirty="0" err="1">
                <a:latin typeface="Aptos" panose="020B0004020202020204" pitchFamily="34" charset="0"/>
              </a:rPr>
              <a:t>Rilsan</a:t>
            </a:r>
            <a:endParaRPr lang="en-US" sz="1100" dirty="0">
              <a:latin typeface="Aptos" panose="020B0004020202020204" pitchFamily="34" charset="0"/>
            </a:endParaRPr>
          </a:p>
        </p:txBody>
      </p:sp>
      <p:pic>
        <p:nvPicPr>
          <p:cNvPr id="13" name="Picture 12" descr="A picture containing outdoor&#10;&#10;AI-generated content may be incorrect.">
            <a:extLst>
              <a:ext uri="{FF2B5EF4-FFF2-40B4-BE49-F238E27FC236}">
                <a16:creationId xmlns:a16="http://schemas.microsoft.com/office/drawing/2014/main" id="{9F9727BE-659D-70EC-1E55-AB7EC20FCD2B}"/>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358956" y="2115223"/>
            <a:ext cx="1221825" cy="916369"/>
          </a:xfrm>
          <a:prstGeom prst="rect">
            <a:avLst/>
          </a:prstGeom>
        </p:spPr>
      </p:pic>
      <p:pic>
        <p:nvPicPr>
          <p:cNvPr id="14" name="Picture 13" descr="A picture containing text, outdoor, old&#10;&#10;AI-generated content may be incorrect.">
            <a:extLst>
              <a:ext uri="{FF2B5EF4-FFF2-40B4-BE49-F238E27FC236}">
                <a16:creationId xmlns:a16="http://schemas.microsoft.com/office/drawing/2014/main" id="{AA776603-67EB-F351-B971-038C41C9D6C5}"/>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349100" y="3103139"/>
            <a:ext cx="1220182" cy="1363172"/>
          </a:xfrm>
          <a:prstGeom prst="rect">
            <a:avLst/>
          </a:prstGeom>
        </p:spPr>
      </p:pic>
      <p:sp>
        <p:nvSpPr>
          <p:cNvPr id="15" name="TextBox 14">
            <a:extLst>
              <a:ext uri="{FF2B5EF4-FFF2-40B4-BE49-F238E27FC236}">
                <a16:creationId xmlns:a16="http://schemas.microsoft.com/office/drawing/2014/main" id="{9C0CB103-9A00-9616-2085-6ADDBD79D0A9}"/>
              </a:ext>
            </a:extLst>
          </p:cNvPr>
          <p:cNvSpPr txBox="1"/>
          <p:nvPr/>
        </p:nvSpPr>
        <p:spPr>
          <a:xfrm>
            <a:off x="179907" y="1873327"/>
            <a:ext cx="1688287" cy="261610"/>
          </a:xfrm>
          <a:prstGeom prst="rect">
            <a:avLst/>
          </a:prstGeom>
          <a:noFill/>
        </p:spPr>
        <p:txBody>
          <a:bodyPr wrap="square" rtlCol="0">
            <a:spAutoFit/>
          </a:bodyPr>
          <a:lstStyle/>
          <a:p>
            <a:r>
              <a:rPr lang="en-US" sz="1100" dirty="0">
                <a:latin typeface="Aptos" panose="020B0004020202020204" pitchFamily="34" charset="0"/>
                <a:cs typeface="Times New Roman" panose="02020603050405020304" pitchFamily="18" charset="0"/>
              </a:rPr>
              <a:t>Optical Microscope 5x</a:t>
            </a:r>
          </a:p>
        </p:txBody>
      </p:sp>
      <p:sp>
        <p:nvSpPr>
          <p:cNvPr id="16" name="TextBox 15">
            <a:extLst>
              <a:ext uri="{FF2B5EF4-FFF2-40B4-BE49-F238E27FC236}">
                <a16:creationId xmlns:a16="http://schemas.microsoft.com/office/drawing/2014/main" id="{F93E6101-D046-BD28-DCFF-AAFB4E0649F9}"/>
              </a:ext>
            </a:extLst>
          </p:cNvPr>
          <p:cNvSpPr txBox="1"/>
          <p:nvPr/>
        </p:nvSpPr>
        <p:spPr>
          <a:xfrm>
            <a:off x="-246384" y="1415631"/>
            <a:ext cx="2434123" cy="369332"/>
          </a:xfrm>
          <a:prstGeom prst="rect">
            <a:avLst/>
          </a:prstGeom>
          <a:noFill/>
        </p:spPr>
        <p:txBody>
          <a:bodyPr wrap="square" rtlCol="0">
            <a:spAutoFit/>
          </a:bodyPr>
          <a:lstStyle/>
          <a:p>
            <a:pPr algn="ctr"/>
            <a:r>
              <a:rPr lang="en-US" b="1" dirty="0">
                <a:latin typeface="Aptos" panose="020B0004020202020204" pitchFamily="34" charset="0"/>
              </a:rPr>
              <a:t>Composites</a:t>
            </a:r>
          </a:p>
        </p:txBody>
      </p:sp>
      <p:sp>
        <p:nvSpPr>
          <p:cNvPr id="17" name="TextBox 16">
            <a:extLst>
              <a:ext uri="{FF2B5EF4-FFF2-40B4-BE49-F238E27FC236}">
                <a16:creationId xmlns:a16="http://schemas.microsoft.com/office/drawing/2014/main" id="{31EC7E4D-24C7-A660-6C7B-27049B78D36A}"/>
              </a:ext>
            </a:extLst>
          </p:cNvPr>
          <p:cNvSpPr txBox="1"/>
          <p:nvPr/>
        </p:nvSpPr>
        <p:spPr>
          <a:xfrm>
            <a:off x="320431" y="3103914"/>
            <a:ext cx="1120919" cy="261610"/>
          </a:xfrm>
          <a:prstGeom prst="rect">
            <a:avLst/>
          </a:prstGeom>
          <a:noFill/>
        </p:spPr>
        <p:txBody>
          <a:bodyPr wrap="square" rtlCol="0">
            <a:spAutoFit/>
          </a:bodyPr>
          <a:lstStyle/>
          <a:p>
            <a:r>
              <a:rPr lang="en-US" sz="1100" dirty="0">
                <a:solidFill>
                  <a:schemeClr val="bg1"/>
                </a:solidFill>
                <a:latin typeface="Aptos" panose="020B0004020202020204" pitchFamily="34" charset="0"/>
                <a:cs typeface="Times New Roman" panose="02020603050405020304" pitchFamily="18" charset="0"/>
              </a:rPr>
              <a:t>TESCAN SEM</a:t>
            </a:r>
          </a:p>
        </p:txBody>
      </p:sp>
      <p:cxnSp>
        <p:nvCxnSpPr>
          <p:cNvPr id="23" name="Straight Connector 22">
            <a:extLst>
              <a:ext uri="{FF2B5EF4-FFF2-40B4-BE49-F238E27FC236}">
                <a16:creationId xmlns:a16="http://schemas.microsoft.com/office/drawing/2014/main" id="{F973A016-5A5A-26E9-6F74-31157989D81A}"/>
              </a:ext>
            </a:extLst>
          </p:cNvPr>
          <p:cNvCxnSpPr>
            <a:cxnSpLocks/>
          </p:cNvCxnSpPr>
          <p:nvPr/>
        </p:nvCxnSpPr>
        <p:spPr>
          <a:xfrm>
            <a:off x="1678591" y="1639888"/>
            <a:ext cx="0" cy="4303712"/>
          </a:xfrm>
          <a:prstGeom prst="line">
            <a:avLst/>
          </a:prstGeom>
          <a:ln w="31750">
            <a:solidFill>
              <a:srgbClr val="00CC99"/>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DBAB38B-9E57-5A93-21AA-AD9CDD0D0F31}"/>
              </a:ext>
            </a:extLst>
          </p:cNvPr>
          <p:cNvCxnSpPr>
            <a:cxnSpLocks/>
          </p:cNvCxnSpPr>
          <p:nvPr/>
        </p:nvCxnSpPr>
        <p:spPr>
          <a:xfrm>
            <a:off x="4471262" y="1639888"/>
            <a:ext cx="0" cy="4303712"/>
          </a:xfrm>
          <a:prstGeom prst="line">
            <a:avLst/>
          </a:prstGeom>
          <a:ln w="31750">
            <a:solidFill>
              <a:srgbClr val="00CC99"/>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45F516-2947-3CFD-C85A-EA450D9D691C}"/>
              </a:ext>
            </a:extLst>
          </p:cNvPr>
          <p:cNvCxnSpPr>
            <a:cxnSpLocks/>
          </p:cNvCxnSpPr>
          <p:nvPr/>
        </p:nvCxnSpPr>
        <p:spPr>
          <a:xfrm>
            <a:off x="6324109" y="1637627"/>
            <a:ext cx="0" cy="4303712"/>
          </a:xfrm>
          <a:prstGeom prst="line">
            <a:avLst/>
          </a:prstGeom>
          <a:ln w="31750">
            <a:solidFill>
              <a:srgbClr val="00CC9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83073-7B3A-94E6-E31D-A00C860D98B7}"/>
              </a:ext>
            </a:extLst>
          </p:cNvPr>
          <p:cNvCxnSpPr>
            <a:cxnSpLocks/>
          </p:cNvCxnSpPr>
          <p:nvPr/>
        </p:nvCxnSpPr>
        <p:spPr>
          <a:xfrm>
            <a:off x="8276377" y="1637627"/>
            <a:ext cx="0" cy="4303712"/>
          </a:xfrm>
          <a:prstGeom prst="line">
            <a:avLst/>
          </a:prstGeom>
          <a:ln w="31750">
            <a:solidFill>
              <a:srgbClr val="00CC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281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24C0C37-3CEC-4CB4-B902-37F94E20E969}" type="slidenum">
              <a:rPr lang="en-US" smtClean="0"/>
              <a:pPr/>
              <a:t>9</a:t>
            </a:fld>
            <a:endParaRPr lang="en-US"/>
          </a:p>
        </p:txBody>
      </p:sp>
      <p:pic>
        <p:nvPicPr>
          <p:cNvPr id="7" name="Picture 6" descr="A picture containing indoor, several&#10;&#10;AI-generated content may be incorrect.">
            <a:extLst>
              <a:ext uri="{FF2B5EF4-FFF2-40B4-BE49-F238E27FC236}">
                <a16:creationId xmlns:a16="http://schemas.microsoft.com/office/drawing/2014/main" id="{74657959-5331-A342-FE34-CCF5ADB8C8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72254" y="2247375"/>
            <a:ext cx="1818284" cy="1363713"/>
          </a:xfrm>
          <a:prstGeom prst="rect">
            <a:avLst/>
          </a:prstGeom>
        </p:spPr>
      </p:pic>
      <p:pic>
        <p:nvPicPr>
          <p:cNvPr id="8" name="Picture 7" descr="A picture containing indoor&#10;&#10;AI-generated content may be incorrect.">
            <a:extLst>
              <a:ext uri="{FF2B5EF4-FFF2-40B4-BE49-F238E27FC236}">
                <a16:creationId xmlns:a16="http://schemas.microsoft.com/office/drawing/2014/main" id="{F58AF49D-1FBA-2C6B-5FE2-FDE8A4039B4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72254" y="883462"/>
            <a:ext cx="1818284" cy="1363713"/>
          </a:xfrm>
          <a:prstGeom prst="rect">
            <a:avLst/>
          </a:prstGeom>
        </p:spPr>
      </p:pic>
      <p:pic>
        <p:nvPicPr>
          <p:cNvPr id="9" name="Picture 8" descr="A picture containing text, indoor, miller&#10;&#10;AI-generated content may be incorrect.">
            <a:extLst>
              <a:ext uri="{FF2B5EF4-FFF2-40B4-BE49-F238E27FC236}">
                <a16:creationId xmlns:a16="http://schemas.microsoft.com/office/drawing/2014/main" id="{FEB385D6-FEFF-04CE-98FF-5401F939F2B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rot="10800000">
            <a:off x="7872252" y="3599040"/>
            <a:ext cx="1818284" cy="1373002"/>
          </a:xfrm>
          <a:prstGeom prst="rect">
            <a:avLst/>
          </a:prstGeom>
        </p:spPr>
      </p:pic>
      <p:sp>
        <p:nvSpPr>
          <p:cNvPr id="10" name="TextBox 9">
            <a:extLst>
              <a:ext uri="{FF2B5EF4-FFF2-40B4-BE49-F238E27FC236}">
                <a16:creationId xmlns:a16="http://schemas.microsoft.com/office/drawing/2014/main" id="{B178F146-91D1-BA6B-45DE-3FDBF2418886}"/>
              </a:ext>
            </a:extLst>
          </p:cNvPr>
          <p:cNvSpPr txBox="1"/>
          <p:nvPr/>
        </p:nvSpPr>
        <p:spPr>
          <a:xfrm>
            <a:off x="9706303" y="859866"/>
            <a:ext cx="1923393" cy="830997"/>
          </a:xfrm>
          <a:prstGeom prst="rect">
            <a:avLst/>
          </a:prstGeom>
          <a:noFill/>
        </p:spPr>
        <p:txBody>
          <a:bodyPr wrap="square" rtlCol="0">
            <a:spAutoFit/>
          </a:bodyPr>
          <a:lstStyle/>
          <a:p>
            <a:r>
              <a:rPr lang="en-US" sz="1200" dirty="0">
                <a:latin typeface="Aptos" panose="020B0004020202020204" pitchFamily="34" charset="0"/>
              </a:rPr>
              <a:t>Instron 5848 with 5N load Cell and extension arms used for fragile sample, natural fibers.</a:t>
            </a:r>
          </a:p>
        </p:txBody>
      </p:sp>
      <p:sp>
        <p:nvSpPr>
          <p:cNvPr id="11" name="TextBox 10">
            <a:extLst>
              <a:ext uri="{FF2B5EF4-FFF2-40B4-BE49-F238E27FC236}">
                <a16:creationId xmlns:a16="http://schemas.microsoft.com/office/drawing/2014/main" id="{18DD2907-1AEE-B957-8475-EF026A9569A1}"/>
              </a:ext>
            </a:extLst>
          </p:cNvPr>
          <p:cNvSpPr txBox="1"/>
          <p:nvPr/>
        </p:nvSpPr>
        <p:spPr>
          <a:xfrm>
            <a:off x="9690536" y="2201605"/>
            <a:ext cx="1923393" cy="830997"/>
          </a:xfrm>
          <a:prstGeom prst="rect">
            <a:avLst/>
          </a:prstGeom>
          <a:noFill/>
        </p:spPr>
        <p:txBody>
          <a:bodyPr wrap="square" rtlCol="0">
            <a:spAutoFit/>
          </a:bodyPr>
          <a:lstStyle/>
          <a:p>
            <a:r>
              <a:rPr lang="en-US" sz="1200" dirty="0">
                <a:latin typeface="Aptos" panose="020B0004020202020204" pitchFamily="34" charset="0"/>
              </a:rPr>
              <a:t>Coupon/paper with individual fiber cut right before tensile testing to put load on the fiber.</a:t>
            </a:r>
          </a:p>
        </p:txBody>
      </p:sp>
      <p:sp>
        <p:nvSpPr>
          <p:cNvPr id="12" name="TextBox 11">
            <a:extLst>
              <a:ext uri="{FF2B5EF4-FFF2-40B4-BE49-F238E27FC236}">
                <a16:creationId xmlns:a16="http://schemas.microsoft.com/office/drawing/2014/main" id="{6A845FFE-B58C-FEFE-8D1F-A25A41F7271E}"/>
              </a:ext>
            </a:extLst>
          </p:cNvPr>
          <p:cNvSpPr txBox="1"/>
          <p:nvPr/>
        </p:nvSpPr>
        <p:spPr>
          <a:xfrm>
            <a:off x="9706248" y="3517263"/>
            <a:ext cx="2026348" cy="1015663"/>
          </a:xfrm>
          <a:prstGeom prst="rect">
            <a:avLst/>
          </a:prstGeom>
          <a:noFill/>
        </p:spPr>
        <p:txBody>
          <a:bodyPr wrap="square" rtlCol="0">
            <a:spAutoFit/>
          </a:bodyPr>
          <a:lstStyle/>
          <a:p>
            <a:r>
              <a:rPr lang="en-US" sz="1200" dirty="0">
                <a:latin typeface="Aptos" panose="020B0004020202020204" pitchFamily="34" charset="0"/>
              </a:rPr>
              <a:t>Gauge length measured after preload is applied to the fiber, for most accurate ramp rate, gauge length, and eliminating slack.</a:t>
            </a:r>
          </a:p>
        </p:txBody>
      </p:sp>
      <p:sp>
        <p:nvSpPr>
          <p:cNvPr id="13" name="Title 1">
            <a:extLst>
              <a:ext uri="{FF2B5EF4-FFF2-40B4-BE49-F238E27FC236}">
                <a16:creationId xmlns:a16="http://schemas.microsoft.com/office/drawing/2014/main" id="{5BEE625F-D228-8B94-D38D-0F97DD535905}"/>
              </a:ext>
            </a:extLst>
          </p:cNvPr>
          <p:cNvSpPr>
            <a:spLocks noGrp="1"/>
          </p:cNvSpPr>
          <p:nvPr>
            <p:ph type="title"/>
          </p:nvPr>
        </p:nvSpPr>
        <p:spPr>
          <a:xfrm>
            <a:off x="550699" y="189138"/>
            <a:ext cx="10864881" cy="588148"/>
          </a:xfrm>
        </p:spPr>
        <p:txBody>
          <a:bodyPr>
            <a:noAutofit/>
          </a:bodyPr>
          <a:lstStyle/>
          <a:p>
            <a:r>
              <a:rPr lang="en-US" sz="3000" b="1" dirty="0">
                <a:latin typeface="Aptos" panose="020B0004020202020204" pitchFamily="34" charset="0"/>
              </a:rPr>
              <a:t>Individual Natural Fiber Tensile Testing Procedure</a:t>
            </a:r>
            <a:endParaRPr lang="en-US" sz="3000" b="1" i="1" dirty="0">
              <a:latin typeface="Aptos" panose="020B0004020202020204" pitchFamily="34" charset="0"/>
            </a:endParaRPr>
          </a:p>
        </p:txBody>
      </p:sp>
      <p:pic>
        <p:nvPicPr>
          <p:cNvPr id="14" name="Picture 13" descr="A picture containing person, case&#10;&#10;AI-generated content may be incorrect.">
            <a:extLst>
              <a:ext uri="{FF2B5EF4-FFF2-40B4-BE49-F238E27FC236}">
                <a16:creationId xmlns:a16="http://schemas.microsoft.com/office/drawing/2014/main" id="{8869AB7F-066D-CBDC-B5D2-6DD85DA36052}"/>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06241" y="4239480"/>
            <a:ext cx="2578393" cy="1583200"/>
          </a:xfrm>
          <a:prstGeom prst="rect">
            <a:avLst/>
          </a:prstGeom>
        </p:spPr>
      </p:pic>
      <p:pic>
        <p:nvPicPr>
          <p:cNvPr id="16" name="Picture 15">
            <a:extLst>
              <a:ext uri="{FF2B5EF4-FFF2-40B4-BE49-F238E27FC236}">
                <a16:creationId xmlns:a16="http://schemas.microsoft.com/office/drawing/2014/main" id="{2F1B6923-2D41-110C-FE35-228CB0AB1AF0}"/>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606241" y="2900842"/>
            <a:ext cx="1060108" cy="1158221"/>
          </a:xfrm>
          <a:prstGeom prst="rect">
            <a:avLst/>
          </a:prstGeom>
        </p:spPr>
      </p:pic>
      <p:pic>
        <p:nvPicPr>
          <p:cNvPr id="17" name="Picture 16">
            <a:extLst>
              <a:ext uri="{FF2B5EF4-FFF2-40B4-BE49-F238E27FC236}">
                <a16:creationId xmlns:a16="http://schemas.microsoft.com/office/drawing/2014/main" id="{6882B08F-C1F8-03BC-FDE4-108DD40273A7}"/>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rot="16200000">
            <a:off x="2236322" y="2686556"/>
            <a:ext cx="1167853" cy="1596424"/>
          </a:xfrm>
          <a:prstGeom prst="rect">
            <a:avLst/>
          </a:prstGeom>
        </p:spPr>
      </p:pic>
      <p:pic>
        <p:nvPicPr>
          <p:cNvPr id="18" name="Picture 17" descr="A picture containing text&#10;&#10;Description automatically generated">
            <a:extLst>
              <a:ext uri="{FF2B5EF4-FFF2-40B4-BE49-F238E27FC236}">
                <a16:creationId xmlns:a16="http://schemas.microsoft.com/office/drawing/2014/main" id="{B37D426D-87F8-C18E-51B5-3280109A4FA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273887" y="2890252"/>
            <a:ext cx="668185" cy="900249"/>
          </a:xfrm>
          <a:prstGeom prst="rect">
            <a:avLst/>
          </a:prstGeom>
        </p:spPr>
      </p:pic>
      <p:sp>
        <p:nvSpPr>
          <p:cNvPr id="22" name="Oval 21">
            <a:extLst>
              <a:ext uri="{FF2B5EF4-FFF2-40B4-BE49-F238E27FC236}">
                <a16:creationId xmlns:a16="http://schemas.microsoft.com/office/drawing/2014/main" id="{2F577873-0F1B-D690-268B-B3EE4B770C49}"/>
              </a:ext>
            </a:extLst>
          </p:cNvPr>
          <p:cNvSpPr/>
          <p:nvPr/>
        </p:nvSpPr>
        <p:spPr>
          <a:xfrm>
            <a:off x="879503" y="3142282"/>
            <a:ext cx="486407" cy="499432"/>
          </a:xfrm>
          <a:prstGeom prst="ellips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TextBox 22">
            <a:extLst>
              <a:ext uri="{FF2B5EF4-FFF2-40B4-BE49-F238E27FC236}">
                <a16:creationId xmlns:a16="http://schemas.microsoft.com/office/drawing/2014/main" id="{03806214-0CB8-532E-5126-8DCBA1350069}"/>
              </a:ext>
            </a:extLst>
          </p:cNvPr>
          <p:cNvSpPr txBox="1"/>
          <p:nvPr/>
        </p:nvSpPr>
        <p:spPr>
          <a:xfrm>
            <a:off x="800772" y="3695926"/>
            <a:ext cx="1977053" cy="379371"/>
          </a:xfrm>
          <a:prstGeom prst="rect">
            <a:avLst/>
          </a:prstGeom>
          <a:noFill/>
        </p:spPr>
        <p:txBody>
          <a:bodyPr wrap="square" rtlCol="0">
            <a:spAutoFit/>
          </a:bodyPr>
          <a:lstStyle/>
          <a:p>
            <a:r>
              <a:rPr lang="en-US" b="1" dirty="0">
                <a:solidFill>
                  <a:schemeClr val="bg1"/>
                </a:solidFill>
                <a:latin typeface="Aptos" panose="020B0004020202020204" pitchFamily="34" charset="0"/>
              </a:rPr>
              <a:t>Fiber</a:t>
            </a:r>
            <a:r>
              <a:rPr lang="en-US" dirty="0">
                <a:solidFill>
                  <a:srgbClr val="FF0000"/>
                </a:solidFill>
              </a:rPr>
              <a:t> </a:t>
            </a:r>
          </a:p>
        </p:txBody>
      </p:sp>
      <p:sp>
        <p:nvSpPr>
          <p:cNvPr id="25" name="TextBox 24">
            <a:extLst>
              <a:ext uri="{FF2B5EF4-FFF2-40B4-BE49-F238E27FC236}">
                <a16:creationId xmlns:a16="http://schemas.microsoft.com/office/drawing/2014/main" id="{F593E3AF-7296-FBB7-18CB-8FE0936ED0B5}"/>
              </a:ext>
            </a:extLst>
          </p:cNvPr>
          <p:cNvSpPr txBox="1"/>
          <p:nvPr/>
        </p:nvSpPr>
        <p:spPr>
          <a:xfrm>
            <a:off x="1132304" y="5561070"/>
            <a:ext cx="2296630" cy="261610"/>
          </a:xfrm>
          <a:prstGeom prst="rect">
            <a:avLst/>
          </a:prstGeom>
          <a:noFill/>
        </p:spPr>
        <p:txBody>
          <a:bodyPr wrap="square" rtlCol="0">
            <a:spAutoFit/>
          </a:bodyPr>
          <a:lstStyle/>
          <a:p>
            <a:r>
              <a:rPr lang="en-US" sz="1100" dirty="0">
                <a:solidFill>
                  <a:schemeClr val="bg1"/>
                </a:solidFill>
                <a:latin typeface="Aptos" panose="020B0004020202020204" pitchFamily="34" charset="0"/>
                <a:cs typeface="Times New Roman" panose="02020603050405020304" pitchFamily="18" charset="0"/>
              </a:rPr>
              <a:t>Stereo Microscope</a:t>
            </a:r>
          </a:p>
        </p:txBody>
      </p:sp>
      <p:sp>
        <p:nvSpPr>
          <p:cNvPr id="26" name="TextBox 25">
            <a:extLst>
              <a:ext uri="{FF2B5EF4-FFF2-40B4-BE49-F238E27FC236}">
                <a16:creationId xmlns:a16="http://schemas.microsoft.com/office/drawing/2014/main" id="{EA7F9C12-F67C-A249-8DA7-B75F9D6FEB7F}"/>
              </a:ext>
            </a:extLst>
          </p:cNvPr>
          <p:cNvSpPr txBox="1"/>
          <p:nvPr/>
        </p:nvSpPr>
        <p:spPr>
          <a:xfrm>
            <a:off x="3788560" y="6317325"/>
            <a:ext cx="1056710" cy="200055"/>
          </a:xfrm>
          <a:prstGeom prst="rect">
            <a:avLst/>
          </a:prstGeom>
          <a:noFill/>
        </p:spPr>
        <p:txBody>
          <a:bodyPr wrap="square" rtlCol="0">
            <a:spAutoFit/>
          </a:bodyPr>
          <a:lstStyle/>
          <a:p>
            <a:r>
              <a:rPr lang="en-US" sz="700" dirty="0">
                <a:solidFill>
                  <a:schemeClr val="bg1"/>
                </a:solidFill>
                <a:cs typeface="Times New Roman" panose="02020603050405020304" pitchFamily="18" charset="0"/>
              </a:rPr>
              <a:t>Optical Microscope 5x</a:t>
            </a:r>
          </a:p>
        </p:txBody>
      </p:sp>
      <p:cxnSp>
        <p:nvCxnSpPr>
          <p:cNvPr id="27" name="Connector: Elbow 26">
            <a:extLst>
              <a:ext uri="{FF2B5EF4-FFF2-40B4-BE49-F238E27FC236}">
                <a16:creationId xmlns:a16="http://schemas.microsoft.com/office/drawing/2014/main" id="{39C47CF9-7E91-6BA2-B3EB-B8DF95248242}"/>
              </a:ext>
            </a:extLst>
          </p:cNvPr>
          <p:cNvCxnSpPr>
            <a:cxnSpLocks/>
            <a:stCxn id="5" idx="3"/>
            <a:endCxn id="8" idx="1"/>
          </p:cNvCxnSpPr>
          <p:nvPr/>
        </p:nvCxnSpPr>
        <p:spPr>
          <a:xfrm flipV="1">
            <a:off x="7266117" y="1565319"/>
            <a:ext cx="606137" cy="3716127"/>
          </a:xfrm>
          <a:prstGeom prst="bentConnector3">
            <a:avLst>
              <a:gd name="adj1" fmla="val 50000"/>
            </a:avLst>
          </a:prstGeom>
          <a:ln w="635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901E216-04D6-CCCC-FBA0-37ECA5607B82}"/>
              </a:ext>
            </a:extLst>
          </p:cNvPr>
          <p:cNvSpPr txBox="1"/>
          <p:nvPr/>
        </p:nvSpPr>
        <p:spPr>
          <a:xfrm>
            <a:off x="148874" y="2431419"/>
            <a:ext cx="6071519" cy="338554"/>
          </a:xfrm>
          <a:prstGeom prst="rect">
            <a:avLst/>
          </a:prstGeom>
          <a:noFill/>
        </p:spPr>
        <p:txBody>
          <a:bodyPr wrap="square" rtlCol="0">
            <a:spAutoFit/>
          </a:bodyPr>
          <a:lstStyle/>
          <a:p>
            <a:pPr algn="ctr"/>
            <a:r>
              <a:rPr lang="en-US" sz="1600" b="1" dirty="0">
                <a:latin typeface="Aptos" panose="020B0004020202020204" pitchFamily="34" charset="0"/>
              </a:rPr>
              <a:t>Individual Fiber Separation and Preparation for Tensile Testing</a:t>
            </a:r>
          </a:p>
        </p:txBody>
      </p:sp>
      <p:cxnSp>
        <p:nvCxnSpPr>
          <p:cNvPr id="43" name="Connector: Elbow 42">
            <a:extLst>
              <a:ext uri="{FF2B5EF4-FFF2-40B4-BE49-F238E27FC236}">
                <a16:creationId xmlns:a16="http://schemas.microsoft.com/office/drawing/2014/main" id="{0D76A9D7-9017-363F-EECD-75FFC21E379A}"/>
              </a:ext>
            </a:extLst>
          </p:cNvPr>
          <p:cNvCxnSpPr>
            <a:cxnSpLocks/>
            <a:stCxn id="16" idx="1"/>
            <a:endCxn id="14" idx="1"/>
          </p:cNvCxnSpPr>
          <p:nvPr/>
        </p:nvCxnSpPr>
        <p:spPr>
          <a:xfrm rot="10800000" flipV="1">
            <a:off x="606241" y="3479952"/>
            <a:ext cx="12700" cy="1551127"/>
          </a:xfrm>
          <a:prstGeom prst="bentConnector3">
            <a:avLst>
              <a:gd name="adj1" fmla="val 2710346"/>
            </a:avLst>
          </a:prstGeom>
          <a:ln w="635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BFACB3D9-C46E-C56E-2FFE-AFA309FBDC39}"/>
              </a:ext>
            </a:extLst>
          </p:cNvPr>
          <p:cNvCxnSpPr>
            <a:cxnSpLocks/>
            <a:stCxn id="17" idx="0"/>
            <a:endCxn id="16" idx="3"/>
          </p:cNvCxnSpPr>
          <p:nvPr/>
        </p:nvCxnSpPr>
        <p:spPr>
          <a:xfrm flipH="1" flipV="1">
            <a:off x="1666349" y="3479953"/>
            <a:ext cx="355688" cy="4815"/>
          </a:xfrm>
          <a:prstGeom prst="straightConnector1">
            <a:avLst/>
          </a:prstGeom>
          <a:ln w="635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48AC0451-7785-A6CF-5A82-2B83BE6DB756}"/>
              </a:ext>
            </a:extLst>
          </p:cNvPr>
          <p:cNvCxnSpPr>
            <a:cxnSpLocks/>
            <a:stCxn id="14" idx="3"/>
            <a:endCxn id="5" idx="1"/>
          </p:cNvCxnSpPr>
          <p:nvPr/>
        </p:nvCxnSpPr>
        <p:spPr>
          <a:xfrm>
            <a:off x="3184634" y="5031080"/>
            <a:ext cx="757663" cy="250366"/>
          </a:xfrm>
          <a:prstGeom prst="bentConnector3">
            <a:avLst>
              <a:gd name="adj1" fmla="val 50000"/>
            </a:avLst>
          </a:prstGeom>
          <a:ln w="635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F144D427-92C7-E8D9-6A1B-301AA3E1AD46}"/>
              </a:ext>
            </a:extLst>
          </p:cNvPr>
          <p:cNvCxnSpPr>
            <a:cxnSpLocks/>
            <a:stCxn id="18" idx="1"/>
            <a:endCxn id="17" idx="2"/>
          </p:cNvCxnSpPr>
          <p:nvPr/>
        </p:nvCxnSpPr>
        <p:spPr>
          <a:xfrm rot="10800000" flipV="1">
            <a:off x="3618461" y="3340377"/>
            <a:ext cx="655426" cy="144390"/>
          </a:xfrm>
          <a:prstGeom prst="bentConnector3">
            <a:avLst>
              <a:gd name="adj1" fmla="val 50000"/>
            </a:avLst>
          </a:prstGeom>
          <a:ln w="635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1E17C42D-9EE2-1DCB-A3E0-7027ACC32C3D}"/>
              </a:ext>
            </a:extLst>
          </p:cNvPr>
          <p:cNvSpPr txBox="1"/>
          <p:nvPr/>
        </p:nvSpPr>
        <p:spPr>
          <a:xfrm>
            <a:off x="325821" y="693682"/>
            <a:ext cx="7104993" cy="1477328"/>
          </a:xfrm>
          <a:prstGeom prst="rect">
            <a:avLst/>
          </a:prstGeom>
          <a:noFill/>
        </p:spPr>
        <p:txBody>
          <a:bodyPr wrap="square" rtlCol="0">
            <a:spAutoFit/>
          </a:bodyPr>
          <a:lstStyle/>
          <a:p>
            <a:r>
              <a:rPr lang="en-US" dirty="0">
                <a:latin typeface="Aptos" panose="020B0004020202020204" pitchFamily="34" charset="0"/>
              </a:rPr>
              <a:t>Some of the challenges I faced which warranted creating this procedure were:</a:t>
            </a:r>
          </a:p>
          <a:p>
            <a:pPr marL="285750" indent="-285750">
              <a:buFont typeface="Wingdings" panose="05000000000000000000" pitchFamily="2" charset="2"/>
              <a:buChar char="v"/>
            </a:pPr>
            <a:r>
              <a:rPr lang="en-US" dirty="0">
                <a:latin typeface="Aptos" panose="020B0004020202020204" pitchFamily="34" charset="0"/>
              </a:rPr>
              <a:t>Handling such small fibers</a:t>
            </a:r>
          </a:p>
          <a:p>
            <a:pPr marL="285750" indent="-285750">
              <a:buFont typeface="Wingdings" panose="05000000000000000000" pitchFamily="2" charset="2"/>
              <a:buChar char="v"/>
            </a:pPr>
            <a:r>
              <a:rPr lang="en-US" dirty="0">
                <a:latin typeface="Aptos" panose="020B0004020202020204" pitchFamily="34" charset="0"/>
              </a:rPr>
              <a:t>Separating bundles &amp; yarn into individual fibers</a:t>
            </a:r>
          </a:p>
          <a:p>
            <a:pPr marL="285750" indent="-285750">
              <a:buFont typeface="Wingdings" panose="05000000000000000000" pitchFamily="2" charset="2"/>
              <a:buChar char="v"/>
            </a:pPr>
            <a:r>
              <a:rPr lang="en-US" dirty="0">
                <a:latin typeface="Aptos" panose="020B0004020202020204" pitchFamily="34" charset="0"/>
              </a:rPr>
              <a:t>Gripping individual fibers for tensile testing</a:t>
            </a:r>
          </a:p>
        </p:txBody>
      </p:sp>
      <p:pic>
        <p:nvPicPr>
          <p:cNvPr id="163" name="Picture 162" descr="Text&#10;&#10;AI-generated content may be incorrect.">
            <a:extLst>
              <a:ext uri="{FF2B5EF4-FFF2-40B4-BE49-F238E27FC236}">
                <a16:creationId xmlns:a16="http://schemas.microsoft.com/office/drawing/2014/main" id="{1E485E0D-4EE2-D137-4B90-164F7CB45B8A}"/>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872252" y="5204566"/>
            <a:ext cx="1834051" cy="1375539"/>
          </a:xfrm>
          <a:prstGeom prst="rect">
            <a:avLst/>
          </a:prstGeom>
        </p:spPr>
      </p:pic>
      <p:sp>
        <p:nvSpPr>
          <p:cNvPr id="167" name="TextBox 166">
            <a:extLst>
              <a:ext uri="{FF2B5EF4-FFF2-40B4-BE49-F238E27FC236}">
                <a16:creationId xmlns:a16="http://schemas.microsoft.com/office/drawing/2014/main" id="{58DDB401-2294-7515-C40B-E0E25196F522}"/>
              </a:ext>
            </a:extLst>
          </p:cNvPr>
          <p:cNvSpPr txBox="1"/>
          <p:nvPr/>
        </p:nvSpPr>
        <p:spPr>
          <a:xfrm>
            <a:off x="7824951" y="6399536"/>
            <a:ext cx="1140851" cy="200055"/>
          </a:xfrm>
          <a:prstGeom prst="rect">
            <a:avLst/>
          </a:prstGeom>
          <a:noFill/>
        </p:spPr>
        <p:txBody>
          <a:bodyPr wrap="square" rtlCol="0">
            <a:spAutoFit/>
          </a:bodyPr>
          <a:lstStyle/>
          <a:p>
            <a:r>
              <a:rPr lang="en-US" sz="700" dirty="0">
                <a:solidFill>
                  <a:schemeClr val="bg1"/>
                </a:solidFill>
                <a:cs typeface="Times New Roman" panose="02020603050405020304" pitchFamily="18" charset="0"/>
              </a:rPr>
              <a:t>Optical Microscope 20x</a:t>
            </a:r>
          </a:p>
        </p:txBody>
      </p:sp>
      <p:sp>
        <p:nvSpPr>
          <p:cNvPr id="168" name="TextBox 167">
            <a:extLst>
              <a:ext uri="{FF2B5EF4-FFF2-40B4-BE49-F238E27FC236}">
                <a16:creationId xmlns:a16="http://schemas.microsoft.com/office/drawing/2014/main" id="{32CEC1DC-F5BF-2EE4-9FF7-1D072A555C7E}"/>
              </a:ext>
            </a:extLst>
          </p:cNvPr>
          <p:cNvSpPr txBox="1"/>
          <p:nvPr/>
        </p:nvSpPr>
        <p:spPr>
          <a:xfrm>
            <a:off x="9690537" y="5107506"/>
            <a:ext cx="2217654" cy="1569660"/>
          </a:xfrm>
          <a:prstGeom prst="rect">
            <a:avLst/>
          </a:prstGeom>
          <a:noFill/>
        </p:spPr>
        <p:txBody>
          <a:bodyPr wrap="square" rtlCol="0">
            <a:spAutoFit/>
          </a:bodyPr>
          <a:lstStyle/>
          <a:p>
            <a:r>
              <a:rPr lang="en-US" sz="1200" dirty="0">
                <a:latin typeface="Aptos" panose="020B0004020202020204" pitchFamily="34" charset="0"/>
              </a:rPr>
              <a:t>Finally, the most crucial part, measure the diameter where fracture occurred. This gives an accurate cross-sectional area for the strength calculation. This is necessary since natural fiber diameters vary so much.</a:t>
            </a:r>
          </a:p>
        </p:txBody>
      </p:sp>
      <p:cxnSp>
        <p:nvCxnSpPr>
          <p:cNvPr id="171" name="Straight Arrow Connector 170">
            <a:extLst>
              <a:ext uri="{FF2B5EF4-FFF2-40B4-BE49-F238E27FC236}">
                <a16:creationId xmlns:a16="http://schemas.microsoft.com/office/drawing/2014/main" id="{66CA0793-0E65-57F8-B4D9-F8D1D52277DB}"/>
              </a:ext>
            </a:extLst>
          </p:cNvPr>
          <p:cNvCxnSpPr>
            <a:cxnSpLocks/>
            <a:stCxn id="9" idx="0"/>
            <a:endCxn id="163" idx="0"/>
          </p:cNvCxnSpPr>
          <p:nvPr/>
        </p:nvCxnSpPr>
        <p:spPr>
          <a:xfrm>
            <a:off x="8781394" y="4972042"/>
            <a:ext cx="7884" cy="232524"/>
          </a:xfrm>
          <a:prstGeom prst="straightConnector1">
            <a:avLst/>
          </a:prstGeom>
          <a:ln w="635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AI-generated content may be incorrect.">
            <a:extLst>
              <a:ext uri="{FF2B5EF4-FFF2-40B4-BE49-F238E27FC236}">
                <a16:creationId xmlns:a16="http://schemas.microsoft.com/office/drawing/2014/main" id="{36FF6F9E-5547-5D14-7332-A82A3D9E2158}"/>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942297" y="4035013"/>
            <a:ext cx="3323820" cy="2492865"/>
          </a:xfrm>
          <a:prstGeom prst="rect">
            <a:avLst/>
          </a:prstGeom>
        </p:spPr>
      </p:pic>
      <p:sp>
        <p:nvSpPr>
          <p:cNvPr id="6" name="TextBox 5">
            <a:extLst>
              <a:ext uri="{FF2B5EF4-FFF2-40B4-BE49-F238E27FC236}">
                <a16:creationId xmlns:a16="http://schemas.microsoft.com/office/drawing/2014/main" id="{1825A018-7483-0041-0200-35898C9E6CA9}"/>
              </a:ext>
            </a:extLst>
          </p:cNvPr>
          <p:cNvSpPr txBox="1"/>
          <p:nvPr/>
        </p:nvSpPr>
        <p:spPr>
          <a:xfrm>
            <a:off x="3921739" y="6306827"/>
            <a:ext cx="3220206" cy="261610"/>
          </a:xfrm>
          <a:prstGeom prst="rect">
            <a:avLst/>
          </a:prstGeom>
          <a:noFill/>
        </p:spPr>
        <p:txBody>
          <a:bodyPr wrap="square" rtlCol="0">
            <a:spAutoFit/>
          </a:bodyPr>
          <a:lstStyle/>
          <a:p>
            <a:r>
              <a:rPr lang="en-US" sz="1100" dirty="0">
                <a:solidFill>
                  <a:schemeClr val="bg1"/>
                </a:solidFill>
                <a:latin typeface="Aptos" panose="020B0004020202020204" pitchFamily="34" charset="0"/>
              </a:rPr>
              <a:t>Optical Microscope 10x, Hemp 1 Fiber No. 5</a:t>
            </a:r>
          </a:p>
        </p:txBody>
      </p:sp>
    </p:spTree>
    <p:extLst>
      <p:ext uri="{BB962C8B-B14F-4D97-AF65-F5344CB8AC3E}">
        <p14:creationId xmlns:p14="http://schemas.microsoft.com/office/powerpoint/2010/main" val="42408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9A2121-6E2A-1B67-E4B2-38D33F5D588F}"/>
              </a:ext>
            </a:extLst>
          </p:cNvPr>
          <p:cNvSpPr>
            <a:spLocks noGrp="1"/>
          </p:cNvSpPr>
          <p:nvPr>
            <p:ph type="sldNum" sz="quarter" idx="12"/>
          </p:nvPr>
        </p:nvSpPr>
        <p:spPr/>
        <p:txBody>
          <a:bodyPr/>
          <a:lstStyle/>
          <a:p>
            <a:fld id="{224C0C37-3CEC-4CB4-B902-37F94E20E969}" type="slidenum">
              <a:rPr lang="en-US" smtClean="0"/>
              <a:pPr/>
              <a:t>10</a:t>
            </a:fld>
            <a:endParaRPr lang="en-US"/>
          </a:p>
        </p:txBody>
      </p:sp>
      <p:sp>
        <p:nvSpPr>
          <p:cNvPr id="7" name="Title 1">
            <a:extLst>
              <a:ext uri="{FF2B5EF4-FFF2-40B4-BE49-F238E27FC236}">
                <a16:creationId xmlns:a16="http://schemas.microsoft.com/office/drawing/2014/main" id="{ED8A6047-23AB-D66F-4BC6-F060CB21906B}"/>
              </a:ext>
            </a:extLst>
          </p:cNvPr>
          <p:cNvSpPr>
            <a:spLocks noGrp="1"/>
          </p:cNvSpPr>
          <p:nvPr>
            <p:ph type="title"/>
          </p:nvPr>
        </p:nvSpPr>
        <p:spPr>
          <a:xfrm>
            <a:off x="663559" y="188439"/>
            <a:ext cx="10864881" cy="588148"/>
          </a:xfrm>
        </p:spPr>
        <p:txBody>
          <a:bodyPr>
            <a:noAutofit/>
          </a:bodyPr>
          <a:lstStyle/>
          <a:p>
            <a:r>
              <a:rPr lang="en-US" sz="3000" b="1" dirty="0">
                <a:latin typeface="Aptos" panose="020B0004020202020204" pitchFamily="34" charset="0"/>
              </a:rPr>
              <a:t>Natural Fiber Mechanical Properties</a:t>
            </a:r>
            <a:endParaRPr lang="en-US" sz="3000" b="1" i="1" dirty="0">
              <a:latin typeface="Aptos" panose="020B0004020202020204" pitchFamily="34" charset="0"/>
            </a:endParaRPr>
          </a:p>
        </p:txBody>
      </p:sp>
      <p:sp>
        <p:nvSpPr>
          <p:cNvPr id="12" name="TextBox 11">
            <a:extLst>
              <a:ext uri="{FF2B5EF4-FFF2-40B4-BE49-F238E27FC236}">
                <a16:creationId xmlns:a16="http://schemas.microsoft.com/office/drawing/2014/main" id="{59F515B3-FAB5-1D48-1784-B462F6A797FB}"/>
              </a:ext>
            </a:extLst>
          </p:cNvPr>
          <p:cNvSpPr txBox="1"/>
          <p:nvPr/>
        </p:nvSpPr>
        <p:spPr>
          <a:xfrm>
            <a:off x="2122340" y="5281433"/>
            <a:ext cx="3379921" cy="1015663"/>
          </a:xfrm>
          <a:prstGeom prst="rect">
            <a:avLst/>
          </a:prstGeom>
          <a:noFill/>
        </p:spPr>
        <p:txBody>
          <a:bodyPr wrap="square" rtlCol="0">
            <a:spAutoFit/>
          </a:bodyPr>
          <a:lstStyle/>
          <a:p>
            <a:r>
              <a:rPr lang="en-US" sz="1200" b="1" dirty="0">
                <a:latin typeface="Aptos" panose="020B0004020202020204" pitchFamily="34" charset="0"/>
              </a:rPr>
              <a:t>Note:</a:t>
            </a:r>
            <a:br>
              <a:rPr lang="en-US" sz="1200" dirty="0">
                <a:latin typeface="Aptos" panose="020B0004020202020204" pitchFamily="34" charset="0"/>
              </a:rPr>
            </a:br>
            <a:r>
              <a:rPr lang="en-US" sz="1200" dirty="0">
                <a:latin typeface="Aptos" panose="020B0004020202020204" pitchFamily="34" charset="0"/>
              </a:rPr>
              <a:t>Yarn’s Tensile Strength is only a ballpark value. Measuring diameters for yarn is highly subjective. Force/linear density (</a:t>
            </a:r>
            <a:r>
              <a:rPr lang="en-US" sz="1200" dirty="0" err="1">
                <a:latin typeface="Aptos" panose="020B0004020202020204" pitchFamily="34" charset="0"/>
              </a:rPr>
              <a:t>tex</a:t>
            </a:r>
            <a:r>
              <a:rPr lang="en-US" sz="1200" dirty="0">
                <a:latin typeface="Aptos" panose="020B0004020202020204" pitchFamily="34" charset="0"/>
              </a:rPr>
              <a:t>) is better for yarns.</a:t>
            </a:r>
          </a:p>
        </p:txBody>
      </p:sp>
      <p:sp>
        <p:nvSpPr>
          <p:cNvPr id="2" name="TextBox 1">
            <a:extLst>
              <a:ext uri="{FF2B5EF4-FFF2-40B4-BE49-F238E27FC236}">
                <a16:creationId xmlns:a16="http://schemas.microsoft.com/office/drawing/2014/main" id="{A1EE1C37-3B4C-5548-0217-1C4B2CA7737F}"/>
              </a:ext>
            </a:extLst>
          </p:cNvPr>
          <p:cNvSpPr txBox="1"/>
          <p:nvPr/>
        </p:nvSpPr>
        <p:spPr>
          <a:xfrm>
            <a:off x="360450" y="682137"/>
            <a:ext cx="5365980" cy="1415772"/>
          </a:xfrm>
          <a:prstGeom prst="rect">
            <a:avLst/>
          </a:prstGeom>
          <a:noFill/>
        </p:spPr>
        <p:txBody>
          <a:bodyPr wrap="square" rtlCol="0">
            <a:spAutoFit/>
          </a:bodyPr>
          <a:lstStyle/>
          <a:p>
            <a:r>
              <a:rPr lang="en-US" dirty="0">
                <a:latin typeface="Aptos" panose="020B0004020202020204" pitchFamily="34" charset="0"/>
              </a:rPr>
              <a:t>I charactered many individual fibers and yarn </a:t>
            </a:r>
          </a:p>
          <a:p>
            <a:pPr marL="285750" indent="-285750">
              <a:buFont typeface="Wingdings" panose="05000000000000000000" pitchFamily="2" charset="2"/>
              <a:buChar char="v"/>
            </a:pPr>
            <a:r>
              <a:rPr lang="en-US" dirty="0">
                <a:latin typeface="Aptos" panose="020B0004020202020204" pitchFamily="34" charset="0"/>
              </a:rPr>
              <a:t>Identified the most favorable mechanical characteristics</a:t>
            </a:r>
          </a:p>
          <a:p>
            <a:pPr marL="742950" lvl="1" indent="-285750">
              <a:buFont typeface="Wingdings" panose="05000000000000000000" pitchFamily="2" charset="2"/>
              <a:buChar char="v"/>
            </a:pPr>
            <a:r>
              <a:rPr lang="en-US" sz="1600" dirty="0">
                <a:latin typeface="Aptos" panose="020B0004020202020204" pitchFamily="34" charset="0"/>
              </a:rPr>
              <a:t>Tensile Strength, % Elongation at Break, Modulus, Force/Linear Density, and Toughness</a:t>
            </a:r>
          </a:p>
        </p:txBody>
      </p:sp>
      <p:graphicFrame>
        <p:nvGraphicFramePr>
          <p:cNvPr id="3" name="Table 2">
            <a:extLst>
              <a:ext uri="{FF2B5EF4-FFF2-40B4-BE49-F238E27FC236}">
                <a16:creationId xmlns:a16="http://schemas.microsoft.com/office/drawing/2014/main" id="{992F5E3F-CEF9-ABB9-3B39-C468080ABA68}"/>
              </a:ext>
            </a:extLst>
          </p:cNvPr>
          <p:cNvGraphicFramePr>
            <a:graphicFrameLocks noGrp="1"/>
          </p:cNvGraphicFramePr>
          <p:nvPr>
            <p:extLst>
              <p:ext uri="{D42A27DB-BD31-4B8C-83A1-F6EECF244321}">
                <p14:modId xmlns:p14="http://schemas.microsoft.com/office/powerpoint/2010/main" val="1608847758"/>
              </p:ext>
            </p:extLst>
          </p:nvPr>
        </p:nvGraphicFramePr>
        <p:xfrm>
          <a:off x="5642322" y="1028600"/>
          <a:ext cx="6189228" cy="5448300"/>
        </p:xfrm>
        <a:graphic>
          <a:graphicData uri="http://schemas.openxmlformats.org/drawingml/2006/table">
            <a:tbl>
              <a:tblPr firstRow="1" bandRow="1">
                <a:tableStyleId>{ED083AE6-46FA-4A59-8FB0-9F97EB10719F}</a:tableStyleId>
              </a:tblPr>
              <a:tblGrid>
                <a:gridCol w="1031538">
                  <a:extLst>
                    <a:ext uri="{9D8B030D-6E8A-4147-A177-3AD203B41FA5}">
                      <a16:colId xmlns:a16="http://schemas.microsoft.com/office/drawing/2014/main" val="4115799051"/>
                    </a:ext>
                  </a:extLst>
                </a:gridCol>
                <a:gridCol w="1031538">
                  <a:extLst>
                    <a:ext uri="{9D8B030D-6E8A-4147-A177-3AD203B41FA5}">
                      <a16:colId xmlns:a16="http://schemas.microsoft.com/office/drawing/2014/main" val="1787267720"/>
                    </a:ext>
                  </a:extLst>
                </a:gridCol>
                <a:gridCol w="1031538">
                  <a:extLst>
                    <a:ext uri="{9D8B030D-6E8A-4147-A177-3AD203B41FA5}">
                      <a16:colId xmlns:a16="http://schemas.microsoft.com/office/drawing/2014/main" val="1690438979"/>
                    </a:ext>
                  </a:extLst>
                </a:gridCol>
                <a:gridCol w="1031538">
                  <a:extLst>
                    <a:ext uri="{9D8B030D-6E8A-4147-A177-3AD203B41FA5}">
                      <a16:colId xmlns:a16="http://schemas.microsoft.com/office/drawing/2014/main" val="427705437"/>
                    </a:ext>
                  </a:extLst>
                </a:gridCol>
                <a:gridCol w="1031538">
                  <a:extLst>
                    <a:ext uri="{9D8B030D-6E8A-4147-A177-3AD203B41FA5}">
                      <a16:colId xmlns:a16="http://schemas.microsoft.com/office/drawing/2014/main" val="3360961692"/>
                    </a:ext>
                  </a:extLst>
                </a:gridCol>
                <a:gridCol w="1031538">
                  <a:extLst>
                    <a:ext uri="{9D8B030D-6E8A-4147-A177-3AD203B41FA5}">
                      <a16:colId xmlns:a16="http://schemas.microsoft.com/office/drawing/2014/main" val="709190868"/>
                    </a:ext>
                  </a:extLst>
                </a:gridCol>
              </a:tblGrid>
              <a:tr h="304628">
                <a:tc>
                  <a:txBody>
                    <a:bodyPr/>
                    <a:lstStyle/>
                    <a:p>
                      <a:r>
                        <a:rPr lang="en-US" sz="650" b="1" dirty="0">
                          <a:latin typeface="Aptos" panose="020B0004020202020204" pitchFamily="34" charset="0"/>
                        </a:rPr>
                        <a:t>Yarn Sample &amp; Notes</a:t>
                      </a:r>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solidFill>
                            <a:schemeClr val="tx1"/>
                          </a:solidFill>
                          <a:latin typeface="Aptos" panose="020B0004020202020204" pitchFamily="34" charset="0"/>
                        </a:rPr>
                        <a:t>Force/</a:t>
                      </a:r>
                      <a:r>
                        <a:rPr lang="en-US" sz="650" b="1" dirty="0" err="1">
                          <a:solidFill>
                            <a:schemeClr val="tx1"/>
                          </a:solidFill>
                          <a:latin typeface="Aptos" panose="020B0004020202020204" pitchFamily="34" charset="0"/>
                        </a:rPr>
                        <a:t>LinearDensity</a:t>
                      </a:r>
                      <a:br>
                        <a:rPr lang="en-US" sz="650" b="1" dirty="0">
                          <a:solidFill>
                            <a:schemeClr val="tx1"/>
                          </a:solidFill>
                          <a:latin typeface="Aptos" panose="020B0004020202020204" pitchFamily="34" charset="0"/>
                        </a:rPr>
                      </a:br>
                      <a:r>
                        <a:rPr lang="en-US" sz="650" b="1" dirty="0">
                          <a:solidFill>
                            <a:schemeClr val="tx1"/>
                          </a:solidFill>
                          <a:latin typeface="Aptos" panose="020B0004020202020204" pitchFamily="34" charset="0"/>
                        </a:rPr>
                        <a:t>(N/</a:t>
                      </a:r>
                      <a:r>
                        <a:rPr lang="en-US" sz="650" b="1" dirty="0" err="1">
                          <a:solidFill>
                            <a:schemeClr val="tx1"/>
                          </a:solidFill>
                          <a:latin typeface="Aptos" panose="020B0004020202020204" pitchFamily="34" charset="0"/>
                        </a:rPr>
                        <a:t>tex</a:t>
                      </a:r>
                      <a:r>
                        <a:rPr lang="en-US" sz="650" b="1" dirty="0">
                          <a:solidFill>
                            <a:schemeClr val="tx1"/>
                          </a:solidFill>
                          <a:latin typeface="Aptos" panose="020B0004020202020204" pitchFamily="34" charset="0"/>
                        </a:rPr>
                        <a:t>)</a:t>
                      </a:r>
                      <a:br>
                        <a:rPr lang="en-US" sz="650" b="1" dirty="0">
                          <a:solidFill>
                            <a:schemeClr val="tx1"/>
                          </a:solidFill>
                          <a:latin typeface="Aptos" panose="020B0004020202020204" pitchFamily="34" charset="0"/>
                        </a:rPr>
                      </a:br>
                      <a:r>
                        <a:rPr lang="en-US" sz="650" b="1" dirty="0">
                          <a:solidFill>
                            <a:schemeClr val="tx1"/>
                          </a:solidFill>
                          <a:latin typeface="Aptos" panose="020B0004020202020204" pitchFamily="34" charset="0"/>
                        </a:rPr>
                        <a:t>[</a:t>
                      </a:r>
                      <a:r>
                        <a:rPr lang="en-US" sz="650" b="1" baseline="0" dirty="0">
                          <a:solidFill>
                            <a:schemeClr val="tx1"/>
                          </a:solidFill>
                          <a:latin typeface="Aptos" panose="020B0004020202020204" pitchFamily="34" charset="0"/>
                        </a:rPr>
                        <a:t>N/(kg/m)]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 Elongation at Break</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Young’s Modulus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a:t>
                      </a:r>
                      <a:r>
                        <a:rPr lang="en-US" sz="650" b="1" dirty="0" err="1">
                          <a:latin typeface="Aptos" panose="020B0004020202020204" pitchFamily="34" charset="0"/>
                        </a:rPr>
                        <a:t>GPa</a:t>
                      </a:r>
                      <a:r>
                        <a:rPr lang="en-US" sz="650" b="1" dirty="0">
                          <a:latin typeface="Aptos" panose="020B0004020202020204" pitchFamily="34" charset="0"/>
                        </a:rPr>
                        <a:t>)</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Linear Density </a:t>
                      </a:r>
                    </a:p>
                    <a:p>
                      <a:r>
                        <a:rPr lang="en-US" sz="650" dirty="0">
                          <a:latin typeface="Aptos" panose="020B0004020202020204" pitchFamily="34" charset="0"/>
                        </a:rPr>
                        <a:t>(</a:t>
                      </a:r>
                      <a:r>
                        <a:rPr lang="en-US" sz="650" dirty="0" err="1">
                          <a:latin typeface="Aptos" panose="020B0004020202020204" pitchFamily="34" charset="0"/>
                        </a:rPr>
                        <a:t>tex</a:t>
                      </a:r>
                      <a:r>
                        <a:rPr lang="en-US" sz="650" dirty="0">
                          <a:latin typeface="Aptos" panose="020B0004020202020204" pitchFamily="34" charset="0"/>
                        </a:rPr>
                        <a:t>)</a:t>
                      </a:r>
                    </a:p>
                    <a:p>
                      <a:r>
                        <a:rPr lang="en-US" sz="650" dirty="0">
                          <a:latin typeface="Aptos" panose="020B0004020202020204" pitchFamily="34" charset="0"/>
                        </a:rPr>
                        <a:t>1 </a:t>
                      </a:r>
                      <a:r>
                        <a:rPr lang="en-US" sz="650" dirty="0" err="1">
                          <a:latin typeface="Aptos" panose="020B0004020202020204" pitchFamily="34" charset="0"/>
                        </a:rPr>
                        <a:t>tex</a:t>
                      </a:r>
                      <a:r>
                        <a:rPr lang="en-US" sz="650" dirty="0">
                          <a:latin typeface="Aptos" panose="020B0004020202020204" pitchFamily="34" charset="0"/>
                        </a:rPr>
                        <a:t> = 1 gram/km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Tensile Strength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(MPa)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Diameter is subjective, approximate </a:t>
                      </a:r>
                    </a:p>
                  </a:txBody>
                  <a:tcPr/>
                </a:tc>
                <a:extLst>
                  <a:ext uri="{0D108BD9-81ED-4DB2-BD59-A6C34878D82A}">
                    <a16:rowId xmlns:a16="http://schemas.microsoft.com/office/drawing/2014/main" val="155946586"/>
                  </a:ext>
                </a:extLst>
              </a:tr>
              <a:tr h="2269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BComp</a:t>
                      </a:r>
                      <a:r>
                        <a:rPr lang="en-US" sz="650" b="1" dirty="0">
                          <a:solidFill>
                            <a:schemeClr val="tx1"/>
                          </a:solidFill>
                          <a:latin typeface="Aptos" panose="020B0004020202020204" pitchFamily="34" charset="0"/>
                        </a:rPr>
                        <a:t> Flax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0.172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[172238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19657]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1.5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0.1</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12.0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1.7</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273.0 </a:t>
                      </a:r>
                      <a:r>
                        <a:rPr lang="en-US" sz="650" dirty="0">
                          <a:solidFill>
                            <a:schemeClr val="tx1"/>
                          </a:solidFill>
                          <a:latin typeface="Aptos" panose="020B0004020202020204" pitchFamily="34" charset="0"/>
                        </a:rPr>
                        <a:t>± </a:t>
                      </a:r>
                      <a:r>
                        <a:rPr lang="en-US" sz="650" dirty="0">
                          <a:latin typeface="Aptos" panose="020B0004020202020204" pitchFamily="34" charset="0"/>
                        </a:rPr>
                        <a:t>77.4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143.2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23.0</a:t>
                      </a:r>
                    </a:p>
                  </a:txBody>
                  <a:tcPr/>
                </a:tc>
                <a:extLst>
                  <a:ext uri="{0D108BD9-81ED-4DB2-BD59-A6C34878D82A}">
                    <a16:rowId xmlns:a16="http://schemas.microsoft.com/office/drawing/2014/main" val="1735877004"/>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solidFill>
                            <a:schemeClr val="tx1"/>
                          </a:solidFill>
                          <a:latin typeface="Aptos" panose="020B0004020202020204" pitchFamily="34" charset="0"/>
                        </a:rPr>
                        <a:t>A&amp;P “Braided/Woven” Flax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0.082 0.031</a:t>
                      </a:r>
                      <a:br>
                        <a:rPr lang="en-US" sz="650" b="0" dirty="0">
                          <a:solidFill>
                            <a:schemeClr val="tx1"/>
                          </a:solidFill>
                          <a:latin typeface="Aptos" panose="020B0004020202020204" pitchFamily="34" charset="0"/>
                        </a:rPr>
                      </a:br>
                      <a:r>
                        <a:rPr lang="en-US" sz="650" b="0" dirty="0">
                          <a:solidFill>
                            <a:schemeClr val="tx1"/>
                          </a:solidFill>
                          <a:latin typeface="Aptos" panose="020B0004020202020204" pitchFamily="34" charset="0"/>
                        </a:rPr>
                        <a:t>[82342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30739]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1.4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0.4</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4.3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1.4</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171.8 </a:t>
                      </a:r>
                      <a:r>
                        <a:rPr lang="en-US" sz="650" dirty="0">
                          <a:solidFill>
                            <a:schemeClr val="tx1"/>
                          </a:solidFill>
                          <a:latin typeface="Aptos" panose="020B0004020202020204" pitchFamily="34" charset="0"/>
                        </a:rPr>
                        <a:t>±</a:t>
                      </a:r>
                      <a:r>
                        <a:rPr lang="en-US" sz="650" dirty="0">
                          <a:latin typeface="Aptos" panose="020B0004020202020204" pitchFamily="34" charset="0"/>
                        </a:rPr>
                        <a:t> 91.6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45.5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19.5</a:t>
                      </a:r>
                    </a:p>
                  </a:txBody>
                  <a:tcPr/>
                </a:tc>
                <a:extLst>
                  <a:ext uri="{0D108BD9-81ED-4DB2-BD59-A6C34878D82A}">
                    <a16:rowId xmlns:a16="http://schemas.microsoft.com/office/drawing/2014/main" val="382305545"/>
                  </a:ext>
                </a:extLst>
              </a:tr>
              <a:tr h="382279">
                <a:tc>
                  <a:txBody>
                    <a:bodyPr/>
                    <a:lstStyle/>
                    <a:p>
                      <a:r>
                        <a:rPr lang="en-US" sz="650" b="1" dirty="0">
                          <a:solidFill>
                            <a:schemeClr val="tx1"/>
                          </a:solidFill>
                          <a:latin typeface="Aptos" panose="020B0004020202020204" pitchFamily="34" charset="0"/>
                        </a:rPr>
                        <a:t>“Hemp” 1</a:t>
                      </a:r>
                    </a:p>
                    <a:p>
                      <a:r>
                        <a:rPr lang="en-US" sz="650" b="1" dirty="0">
                          <a:solidFill>
                            <a:schemeClr val="tx1"/>
                          </a:solidFill>
                          <a:latin typeface="Aptos" panose="020B0004020202020204" pitchFamily="34" charset="0"/>
                        </a:rPr>
                        <a:t>Yarn</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Not assessed, unknown fiber origin, decided not to proceed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4.5 ± 0.9</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7.51 ± 3.3</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259.7 ± 32.8</a:t>
                      </a:r>
                    </a:p>
                  </a:txBody>
                  <a:tcPr/>
                </a:tc>
                <a:extLst>
                  <a:ext uri="{0D108BD9-81ED-4DB2-BD59-A6C34878D82A}">
                    <a16:rowId xmlns:a16="http://schemas.microsoft.com/office/drawing/2014/main" val="1169553558"/>
                  </a:ext>
                </a:extLst>
              </a:tr>
              <a:tr h="382279">
                <a:tc>
                  <a:txBody>
                    <a:bodyPr/>
                    <a:lstStyle/>
                    <a:p>
                      <a:r>
                        <a:rPr lang="en-US" sz="650" b="1" dirty="0">
                          <a:solidFill>
                            <a:schemeClr val="tx1"/>
                          </a:solidFill>
                          <a:latin typeface="Aptos" panose="020B0004020202020204" pitchFamily="34" charset="0"/>
                        </a:rPr>
                        <a:t>“Hemp” 2</a:t>
                      </a:r>
                    </a:p>
                    <a:p>
                      <a:r>
                        <a:rPr lang="en-US" sz="650" b="1" dirty="0">
                          <a:solidFill>
                            <a:schemeClr val="tx1"/>
                          </a:solidFill>
                          <a:latin typeface="Aptos" panose="020B0004020202020204" pitchFamily="34" charset="0"/>
                        </a:rPr>
                        <a:t>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4.9 ± 1.1</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7.19 ± 3.6</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253.8 ± 134.8</a:t>
                      </a:r>
                    </a:p>
                  </a:txBody>
                  <a:tcPr/>
                </a:tc>
                <a:extLst>
                  <a:ext uri="{0D108BD9-81ED-4DB2-BD59-A6C34878D82A}">
                    <a16:rowId xmlns:a16="http://schemas.microsoft.com/office/drawing/2014/main" val="2258816647"/>
                  </a:ext>
                </a:extLst>
              </a:tr>
              <a:tr h="382279">
                <a:tc>
                  <a:txBody>
                    <a:bodyPr/>
                    <a:lstStyle/>
                    <a:p>
                      <a:r>
                        <a:rPr lang="en-US" sz="650" b="1" dirty="0">
                          <a:solidFill>
                            <a:schemeClr val="tx1"/>
                          </a:solidFill>
                          <a:latin typeface="Aptos" panose="020B0004020202020204" pitchFamily="34" charset="0"/>
                        </a:rPr>
                        <a:t>“Hemp” 3</a:t>
                      </a:r>
                    </a:p>
                    <a:p>
                      <a:r>
                        <a:rPr lang="en-US" sz="650" b="1" dirty="0">
                          <a:solidFill>
                            <a:schemeClr val="tx1"/>
                          </a:solidFill>
                          <a:latin typeface="Aptos" panose="020B0004020202020204" pitchFamily="34" charset="0"/>
                        </a:rPr>
                        <a:t>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13.1 ± 8.3</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5.08 ± 2.5</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228.8 ± 80.7</a:t>
                      </a:r>
                    </a:p>
                  </a:txBody>
                  <a:tcPr/>
                </a:tc>
                <a:extLst>
                  <a:ext uri="{0D108BD9-81ED-4DB2-BD59-A6C34878D82A}">
                    <a16:rowId xmlns:a16="http://schemas.microsoft.com/office/drawing/2014/main" val="3197506873"/>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B601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0.215 ±</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0.021</a:t>
                      </a:r>
                      <a:br>
                        <a:rPr lang="en-US" sz="650" dirty="0">
                          <a:solidFill>
                            <a:schemeClr val="tx1"/>
                          </a:solidFill>
                          <a:latin typeface="Aptos" panose="020B0004020202020204" pitchFamily="34" charset="0"/>
                        </a:rPr>
                      </a:br>
                      <a:r>
                        <a:rPr lang="en-US" sz="650" dirty="0">
                          <a:solidFill>
                            <a:schemeClr val="tx1"/>
                          </a:solidFill>
                          <a:latin typeface="Aptos" panose="020B0004020202020204" pitchFamily="34" charset="0"/>
                        </a:rPr>
                        <a:t>[214686 ± 20611]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6.1 ± 0.7</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7.1 ± 1.3</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148.0 </a:t>
                      </a:r>
                      <a:r>
                        <a:rPr lang="en-US" sz="650" dirty="0">
                          <a:solidFill>
                            <a:schemeClr val="tx1"/>
                          </a:solidFill>
                          <a:latin typeface="Aptos" panose="020B0004020202020204" pitchFamily="34" charset="0"/>
                        </a:rPr>
                        <a:t>± </a:t>
                      </a:r>
                      <a:r>
                        <a:rPr lang="en-US" sz="650" dirty="0">
                          <a:latin typeface="Aptos" panose="020B0004020202020204" pitchFamily="34" charset="0"/>
                        </a:rPr>
                        <a:t>23.4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329.0 ± 54.5</a:t>
                      </a:r>
                    </a:p>
                  </a:txBody>
                  <a:tcPr/>
                </a:tc>
                <a:extLst>
                  <a:ext uri="{0D108BD9-81ED-4DB2-BD59-A6C34878D82A}">
                    <a16:rowId xmlns:a16="http://schemas.microsoft.com/office/drawing/2014/main" val="3327327653"/>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B602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0.071 ±</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0.012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[70668 ± 11918]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10.1 ± 1.6</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1.0. ± 0.2</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267.0 </a:t>
                      </a:r>
                      <a:r>
                        <a:rPr lang="en-US" sz="650" dirty="0">
                          <a:solidFill>
                            <a:schemeClr val="tx1"/>
                          </a:solidFill>
                          <a:latin typeface="Aptos" panose="020B0004020202020204" pitchFamily="34" charset="0"/>
                        </a:rPr>
                        <a:t>± </a:t>
                      </a:r>
                      <a:r>
                        <a:rPr lang="en-US" sz="650" dirty="0">
                          <a:latin typeface="Aptos" panose="020B0004020202020204" pitchFamily="34" charset="0"/>
                        </a:rPr>
                        <a:t>13.5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73.1 ± 15.8</a:t>
                      </a:r>
                    </a:p>
                  </a:txBody>
                  <a:tcPr/>
                </a:tc>
                <a:extLst>
                  <a:ext uri="{0D108BD9-81ED-4DB2-BD59-A6C34878D82A}">
                    <a16:rowId xmlns:a16="http://schemas.microsoft.com/office/drawing/2014/main" val="1240579180"/>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B605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0.207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[207062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49517]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7.5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1.2</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3.6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1.0</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82.8 </a:t>
                      </a:r>
                      <a:r>
                        <a:rPr lang="en-US" sz="650" dirty="0">
                          <a:solidFill>
                            <a:schemeClr val="tx1"/>
                          </a:solidFill>
                          <a:latin typeface="Aptos" panose="020B0004020202020204" pitchFamily="34" charset="0"/>
                        </a:rPr>
                        <a:t>±</a:t>
                      </a:r>
                      <a:r>
                        <a:rPr lang="en-US" sz="650" dirty="0">
                          <a:latin typeface="Aptos" panose="020B0004020202020204" pitchFamily="34" charset="0"/>
                        </a:rPr>
                        <a:t> 46.3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198.9 </a:t>
                      </a:r>
                      <a:r>
                        <a:rPr lang="en-US" sz="650" b="0" dirty="0">
                          <a:solidFill>
                            <a:schemeClr val="tx1"/>
                          </a:solidFill>
                          <a:effectLst/>
                          <a:latin typeface="Aptos" panose="020B0004020202020204" pitchFamily="34" charset="0"/>
                        </a:rPr>
                        <a:t>± 33</a:t>
                      </a:r>
                      <a:r>
                        <a:rPr lang="en-US" sz="650" b="0" dirty="0">
                          <a:solidFill>
                            <a:schemeClr val="tx1"/>
                          </a:solidFill>
                          <a:latin typeface="Aptos" panose="020B0004020202020204" pitchFamily="34" charset="0"/>
                        </a:rPr>
                        <a:t>.1</a:t>
                      </a:r>
                    </a:p>
                  </a:txBody>
                  <a:tcPr/>
                </a:tc>
                <a:extLst>
                  <a:ext uri="{0D108BD9-81ED-4DB2-BD59-A6C34878D82A}">
                    <a16:rowId xmlns:a16="http://schemas.microsoft.com/office/drawing/2014/main" val="4272042734"/>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B607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0.222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0.023</a:t>
                      </a:r>
                      <a:br>
                        <a:rPr lang="en-US" sz="650" b="0" dirty="0">
                          <a:solidFill>
                            <a:schemeClr val="tx1"/>
                          </a:solidFill>
                          <a:latin typeface="Aptos" panose="020B0004020202020204" pitchFamily="34" charset="0"/>
                        </a:rPr>
                      </a:br>
                      <a:r>
                        <a:rPr lang="en-US" sz="650" b="0" dirty="0">
                          <a:solidFill>
                            <a:schemeClr val="tx1"/>
                          </a:solidFill>
                          <a:latin typeface="Aptos" panose="020B0004020202020204" pitchFamily="34" charset="0"/>
                        </a:rPr>
                        <a:t>[222045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23066]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9.25 </a:t>
                      </a:r>
                      <a:r>
                        <a:rPr lang="en-US" sz="650" dirty="0">
                          <a:solidFill>
                            <a:schemeClr val="tx1"/>
                          </a:solidFill>
                          <a:latin typeface="Aptos" panose="020B0004020202020204" pitchFamily="34" charset="0"/>
                        </a:rPr>
                        <a:t>± </a:t>
                      </a:r>
                      <a:r>
                        <a:rPr lang="en-US" sz="650" b="0" dirty="0">
                          <a:solidFill>
                            <a:schemeClr val="tx1"/>
                          </a:solidFill>
                          <a:latin typeface="Aptos" panose="020B0004020202020204" pitchFamily="34" charset="0"/>
                        </a:rPr>
                        <a:t>1.4</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5.3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0.9</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55.6 </a:t>
                      </a:r>
                      <a:r>
                        <a:rPr lang="en-US" sz="650" dirty="0">
                          <a:solidFill>
                            <a:schemeClr val="tx1"/>
                          </a:solidFill>
                          <a:latin typeface="Aptos" panose="020B0004020202020204" pitchFamily="34" charset="0"/>
                        </a:rPr>
                        <a:t>± </a:t>
                      </a:r>
                      <a:r>
                        <a:rPr lang="en-US" sz="650" dirty="0">
                          <a:latin typeface="Aptos" panose="020B0004020202020204" pitchFamily="34" charset="0"/>
                        </a:rPr>
                        <a:t>11.4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381.5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67.2</a:t>
                      </a:r>
                    </a:p>
                  </a:txBody>
                  <a:tcPr/>
                </a:tc>
                <a:extLst>
                  <a:ext uri="{0D108BD9-81ED-4DB2-BD59-A6C34878D82A}">
                    <a16:rowId xmlns:a16="http://schemas.microsoft.com/office/drawing/2014/main" val="216908256"/>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B608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0.284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[284286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28314]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6.7 </a:t>
                      </a:r>
                      <a:r>
                        <a:rPr lang="en-US" sz="650" dirty="0">
                          <a:solidFill>
                            <a:schemeClr val="tx1"/>
                          </a:solidFill>
                          <a:latin typeface="Aptos" panose="020B0004020202020204" pitchFamily="34" charset="0"/>
                        </a:rPr>
                        <a:t>± </a:t>
                      </a:r>
                      <a:r>
                        <a:rPr lang="en-US" sz="650" b="0" dirty="0">
                          <a:solidFill>
                            <a:schemeClr val="tx1"/>
                          </a:solidFill>
                          <a:latin typeface="Aptos" panose="020B0004020202020204" pitchFamily="34" charset="0"/>
                        </a:rPr>
                        <a:t>1.2</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6.1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1.0</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26.0 </a:t>
                      </a:r>
                      <a:r>
                        <a:rPr lang="en-US" sz="650" dirty="0">
                          <a:solidFill>
                            <a:schemeClr val="tx1"/>
                          </a:solidFill>
                          <a:latin typeface="Aptos" panose="020B0004020202020204" pitchFamily="34" charset="0"/>
                        </a:rPr>
                        <a:t>± </a:t>
                      </a:r>
                      <a:r>
                        <a:rPr lang="en-US" sz="650" dirty="0">
                          <a:latin typeface="Aptos" panose="020B0004020202020204" pitchFamily="34" charset="0"/>
                        </a:rPr>
                        <a:t>4.3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343.7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38.3</a:t>
                      </a:r>
                    </a:p>
                  </a:txBody>
                  <a:tcPr/>
                </a:tc>
                <a:extLst>
                  <a:ext uri="{0D108BD9-81ED-4DB2-BD59-A6C34878D82A}">
                    <a16:rowId xmlns:a16="http://schemas.microsoft.com/office/drawing/2014/main" val="1620582310"/>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B610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0.230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0.051</a:t>
                      </a:r>
                      <a:br>
                        <a:rPr lang="en-US" sz="650" b="0" dirty="0">
                          <a:solidFill>
                            <a:schemeClr val="tx1"/>
                          </a:solidFill>
                          <a:latin typeface="Aptos" panose="020B0004020202020204" pitchFamily="34" charset="0"/>
                        </a:rPr>
                      </a:br>
                      <a:r>
                        <a:rPr lang="en-US" sz="650" b="0" dirty="0">
                          <a:solidFill>
                            <a:schemeClr val="tx1"/>
                          </a:solidFill>
                          <a:latin typeface="Aptos" panose="020B0004020202020204" pitchFamily="34" charset="0"/>
                        </a:rPr>
                        <a:t>[230273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51278]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5.7 </a:t>
                      </a:r>
                      <a:r>
                        <a:rPr lang="en-US" sz="650" dirty="0">
                          <a:solidFill>
                            <a:schemeClr val="tx1"/>
                          </a:solidFill>
                          <a:latin typeface="Aptos" panose="020B0004020202020204" pitchFamily="34" charset="0"/>
                        </a:rPr>
                        <a:t>± </a:t>
                      </a:r>
                      <a:r>
                        <a:rPr lang="en-US" sz="650" b="0" dirty="0">
                          <a:solidFill>
                            <a:schemeClr val="tx1"/>
                          </a:solidFill>
                          <a:latin typeface="Aptos" panose="020B0004020202020204" pitchFamily="34" charset="0"/>
                        </a:rPr>
                        <a:t>1.3</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8.7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3.6</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24.5 </a:t>
                      </a:r>
                      <a:r>
                        <a:rPr lang="en-US" sz="650" dirty="0">
                          <a:solidFill>
                            <a:schemeClr val="tx1"/>
                          </a:solidFill>
                          <a:latin typeface="Aptos" panose="020B0004020202020204" pitchFamily="34" charset="0"/>
                        </a:rPr>
                        <a:t>± </a:t>
                      </a:r>
                      <a:r>
                        <a:rPr lang="en-US" sz="650" dirty="0">
                          <a:latin typeface="Aptos" panose="020B0004020202020204" pitchFamily="34" charset="0"/>
                        </a:rPr>
                        <a:t>7.3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310.7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103.7</a:t>
                      </a:r>
                    </a:p>
                  </a:txBody>
                  <a:tcPr/>
                </a:tc>
                <a:extLst>
                  <a:ext uri="{0D108BD9-81ED-4DB2-BD59-A6C34878D82A}">
                    <a16:rowId xmlns:a16="http://schemas.microsoft.com/office/drawing/2014/main" val="3442376477"/>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100% Hemp Yarn</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0.295</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0.340</a:t>
                      </a:r>
                    </a:p>
                    <a:p>
                      <a:r>
                        <a:rPr lang="en-US" sz="650" dirty="0">
                          <a:latin typeface="Aptos" panose="020B0004020202020204" pitchFamily="34" charset="0"/>
                        </a:rPr>
                        <a:t>[295023</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33508]</a:t>
                      </a:r>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4.1</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0.8</a:t>
                      </a:r>
                    </a:p>
                  </a:txBody>
                  <a:tcPr/>
                </a:tc>
                <a:tc>
                  <a:txBody>
                    <a:bodyPr/>
                    <a:lstStyle/>
                    <a:p>
                      <a:r>
                        <a:rPr lang="en-US" sz="650" dirty="0">
                          <a:latin typeface="Aptos" panose="020B0004020202020204" pitchFamily="34" charset="0"/>
                        </a:rPr>
                        <a:t>10.3</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2.1</a:t>
                      </a:r>
                    </a:p>
                  </a:txBody>
                  <a:tcPr/>
                </a:tc>
                <a:tc>
                  <a:txBody>
                    <a:bodyPr/>
                    <a:lstStyle/>
                    <a:p>
                      <a:r>
                        <a:rPr lang="en-US" sz="650" dirty="0">
                          <a:latin typeface="Aptos" panose="020B0004020202020204" pitchFamily="34" charset="0"/>
                        </a:rPr>
                        <a:t>32.4</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13.2</a:t>
                      </a:r>
                    </a:p>
                  </a:txBody>
                  <a:tcPr/>
                </a:tc>
                <a:tc>
                  <a:txBody>
                    <a:bodyPr/>
                    <a:lstStyle/>
                    <a:p>
                      <a:r>
                        <a:rPr lang="en-US" sz="650" dirty="0">
                          <a:latin typeface="Aptos" panose="020B0004020202020204" pitchFamily="34" charset="0"/>
                        </a:rPr>
                        <a:t>378.0 </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101.4</a:t>
                      </a:r>
                      <a:endParaRPr lang="en-US" sz="650" dirty="0">
                        <a:latin typeface="Aptos" panose="020B0004020202020204" pitchFamily="34" charset="0"/>
                      </a:endParaRPr>
                    </a:p>
                  </a:txBody>
                  <a:tcPr/>
                </a:tc>
                <a:extLst>
                  <a:ext uri="{0D108BD9-81ED-4DB2-BD59-A6C34878D82A}">
                    <a16:rowId xmlns:a16="http://schemas.microsoft.com/office/drawing/2014/main" val="2253206057"/>
                  </a:ext>
                </a:extLst>
              </a:tr>
            </a:tbl>
          </a:graphicData>
        </a:graphic>
      </p:graphicFrame>
      <p:graphicFrame>
        <p:nvGraphicFramePr>
          <p:cNvPr id="5" name="Table 4">
            <a:extLst>
              <a:ext uri="{FF2B5EF4-FFF2-40B4-BE49-F238E27FC236}">
                <a16:creationId xmlns:a16="http://schemas.microsoft.com/office/drawing/2014/main" id="{09BF60F9-A23F-9025-EEEC-F20B4D952AA7}"/>
              </a:ext>
            </a:extLst>
          </p:cNvPr>
          <p:cNvGraphicFramePr>
            <a:graphicFrameLocks noGrp="1"/>
          </p:cNvGraphicFramePr>
          <p:nvPr>
            <p:extLst>
              <p:ext uri="{D42A27DB-BD31-4B8C-83A1-F6EECF244321}">
                <p14:modId xmlns:p14="http://schemas.microsoft.com/office/powerpoint/2010/main" val="1024517614"/>
              </p:ext>
            </p:extLst>
          </p:nvPr>
        </p:nvGraphicFramePr>
        <p:xfrm>
          <a:off x="1545021" y="2275375"/>
          <a:ext cx="3957240" cy="2864184"/>
        </p:xfrm>
        <a:graphic>
          <a:graphicData uri="http://schemas.openxmlformats.org/drawingml/2006/table">
            <a:tbl>
              <a:tblPr firstRow="1" bandRow="1">
                <a:tableStyleId>{E8B1032C-EA38-4F05-BA0D-38AFFFC7BED3}</a:tableStyleId>
              </a:tblPr>
              <a:tblGrid>
                <a:gridCol w="989310">
                  <a:extLst>
                    <a:ext uri="{9D8B030D-6E8A-4147-A177-3AD203B41FA5}">
                      <a16:colId xmlns:a16="http://schemas.microsoft.com/office/drawing/2014/main" val="3846826028"/>
                    </a:ext>
                  </a:extLst>
                </a:gridCol>
                <a:gridCol w="989310">
                  <a:extLst>
                    <a:ext uri="{9D8B030D-6E8A-4147-A177-3AD203B41FA5}">
                      <a16:colId xmlns:a16="http://schemas.microsoft.com/office/drawing/2014/main" val="3025799011"/>
                    </a:ext>
                  </a:extLst>
                </a:gridCol>
                <a:gridCol w="989310">
                  <a:extLst>
                    <a:ext uri="{9D8B030D-6E8A-4147-A177-3AD203B41FA5}">
                      <a16:colId xmlns:a16="http://schemas.microsoft.com/office/drawing/2014/main" val="1390915351"/>
                    </a:ext>
                  </a:extLst>
                </a:gridCol>
                <a:gridCol w="989310">
                  <a:extLst>
                    <a:ext uri="{9D8B030D-6E8A-4147-A177-3AD203B41FA5}">
                      <a16:colId xmlns:a16="http://schemas.microsoft.com/office/drawing/2014/main" val="3489509960"/>
                    </a:ext>
                  </a:extLst>
                </a:gridCol>
              </a:tblGrid>
              <a:tr h="346220">
                <a:tc>
                  <a:txBody>
                    <a:bodyPr/>
                    <a:lstStyle/>
                    <a:p>
                      <a:r>
                        <a:rPr lang="en-US" sz="800" b="1" dirty="0">
                          <a:latin typeface="Aptos" panose="020B0004020202020204" pitchFamily="34" charset="0"/>
                        </a:rPr>
                        <a:t>Individual Fiber Sample &amp; Notes</a:t>
                      </a:r>
                    </a:p>
                  </a:txBody>
                  <a:tcPr/>
                </a:tc>
                <a:tc>
                  <a:txBody>
                    <a:bodyPr/>
                    <a:lstStyle/>
                    <a:p>
                      <a:r>
                        <a:rPr lang="en-US" sz="800" b="1" dirty="0">
                          <a:latin typeface="Aptos" panose="020B0004020202020204" pitchFamily="34" charset="0"/>
                        </a:rPr>
                        <a:t>Tensile Strength (MPa)</a:t>
                      </a:r>
                    </a:p>
                  </a:txBody>
                  <a:tcPr/>
                </a:tc>
                <a:tc>
                  <a:txBody>
                    <a:bodyPr/>
                    <a:lstStyle/>
                    <a:p>
                      <a:r>
                        <a:rPr lang="en-US" sz="800" b="1" dirty="0">
                          <a:latin typeface="Aptos" panose="020B0004020202020204" pitchFamily="34" charset="0"/>
                        </a:rPr>
                        <a:t>% Elongation at Break</a:t>
                      </a:r>
                    </a:p>
                  </a:txBody>
                  <a:tcPr/>
                </a:tc>
                <a:tc>
                  <a:txBody>
                    <a:bodyPr/>
                    <a:lstStyle/>
                    <a:p>
                      <a:r>
                        <a:rPr lang="en-US" sz="800" b="1" dirty="0">
                          <a:latin typeface="Aptos" panose="020B0004020202020204" pitchFamily="34" charset="0"/>
                        </a:rPr>
                        <a:t>Young’s Modulus (</a:t>
                      </a:r>
                      <a:r>
                        <a:rPr lang="en-US" sz="800" b="1" dirty="0" err="1">
                          <a:latin typeface="Aptos" panose="020B0004020202020204" pitchFamily="34" charset="0"/>
                        </a:rPr>
                        <a:t>GPa</a:t>
                      </a:r>
                      <a:r>
                        <a:rPr lang="en-US" sz="800" b="1" dirty="0">
                          <a:latin typeface="Aptos" panose="020B0004020202020204" pitchFamily="34" charset="0"/>
                        </a:rPr>
                        <a:t>)</a:t>
                      </a:r>
                    </a:p>
                  </a:txBody>
                  <a:tcPr/>
                </a:tc>
                <a:extLst>
                  <a:ext uri="{0D108BD9-81ED-4DB2-BD59-A6C34878D82A}">
                    <a16:rowId xmlns:a16="http://schemas.microsoft.com/office/drawing/2014/main" val="2468352496"/>
                  </a:ext>
                </a:extLst>
              </a:tr>
              <a:tr h="346220">
                <a:tc>
                  <a:txBody>
                    <a:bodyPr/>
                    <a:lstStyle/>
                    <a:p>
                      <a:r>
                        <a:rPr lang="en-US" sz="800" b="1" dirty="0">
                          <a:latin typeface="Aptos" panose="020B0004020202020204" pitchFamily="34" charset="0"/>
                        </a:rPr>
                        <a:t>ET Hemp B608</a:t>
                      </a:r>
                    </a:p>
                  </a:txBody>
                  <a:tcPr/>
                </a:tc>
                <a:tc>
                  <a:txBody>
                    <a:bodyPr/>
                    <a:lstStyle/>
                    <a:p>
                      <a:r>
                        <a:rPr lang="en-US" sz="800" dirty="0">
                          <a:latin typeface="Aptos" panose="020B0004020202020204" pitchFamily="34" charset="0"/>
                        </a:rPr>
                        <a:t>800.4 ± 366.4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ptos" panose="020B0004020202020204" pitchFamily="34" charset="0"/>
                        </a:rPr>
                        <a:t>3.0 ± 0.4</a:t>
                      </a:r>
                    </a:p>
                    <a:p>
                      <a:endParaRPr lang="en-US" sz="80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ptos" panose="020B0004020202020204" pitchFamily="34" charset="0"/>
                        </a:rPr>
                        <a:t>35.1 ±  1.7</a:t>
                      </a:r>
                    </a:p>
                    <a:p>
                      <a:endParaRPr lang="en-US" sz="800" dirty="0">
                        <a:latin typeface="Aptos" panose="020B0004020202020204" pitchFamily="34" charset="0"/>
                      </a:endParaRPr>
                    </a:p>
                  </a:txBody>
                  <a:tcPr/>
                </a:tc>
                <a:extLst>
                  <a:ext uri="{0D108BD9-81ED-4DB2-BD59-A6C34878D82A}">
                    <a16:rowId xmlns:a16="http://schemas.microsoft.com/office/drawing/2014/main" val="1719607480"/>
                  </a:ext>
                </a:extLst>
              </a:tr>
              <a:tr h="220322">
                <a:tc>
                  <a:txBody>
                    <a:bodyPr/>
                    <a:lstStyle/>
                    <a:p>
                      <a:r>
                        <a:rPr lang="en-US" sz="800" b="1" dirty="0" err="1">
                          <a:latin typeface="Aptos" panose="020B0004020202020204" pitchFamily="34" charset="0"/>
                        </a:rPr>
                        <a:t>BComp</a:t>
                      </a:r>
                      <a:r>
                        <a:rPr lang="en-US" sz="800" b="1" dirty="0">
                          <a:latin typeface="Aptos" panose="020B0004020202020204" pitchFamily="34" charset="0"/>
                        </a:rPr>
                        <a:t> Flax</a:t>
                      </a:r>
                    </a:p>
                  </a:txBody>
                  <a:tcPr/>
                </a:tc>
                <a:tc>
                  <a:txBody>
                    <a:bodyPr/>
                    <a:lstStyle/>
                    <a:p>
                      <a:r>
                        <a:rPr lang="en-US" sz="800" dirty="0">
                          <a:latin typeface="Aptos" panose="020B0004020202020204" pitchFamily="34" charset="0"/>
                        </a:rPr>
                        <a:t>880.2 ±  596.3</a:t>
                      </a:r>
                    </a:p>
                  </a:txBody>
                  <a:tcPr/>
                </a:tc>
                <a:tc>
                  <a:txBody>
                    <a:bodyPr/>
                    <a:lstStyle/>
                    <a:p>
                      <a:r>
                        <a:rPr lang="en-US" sz="800" dirty="0">
                          <a:latin typeface="Aptos" panose="020B0004020202020204" pitchFamily="34" charset="0"/>
                        </a:rPr>
                        <a:t>2.4 ± 0.8</a:t>
                      </a:r>
                    </a:p>
                  </a:txBody>
                  <a:tcPr/>
                </a:tc>
                <a:tc>
                  <a:txBody>
                    <a:bodyPr/>
                    <a:lstStyle/>
                    <a:p>
                      <a:r>
                        <a:rPr lang="en-US" sz="800" dirty="0">
                          <a:latin typeface="Aptos" panose="020B0004020202020204" pitchFamily="34" charset="0"/>
                        </a:rPr>
                        <a:t>42.1 ±  21.7</a:t>
                      </a:r>
                    </a:p>
                  </a:txBody>
                  <a:tcPr/>
                </a:tc>
                <a:extLst>
                  <a:ext uri="{0D108BD9-81ED-4DB2-BD59-A6C34878D82A}">
                    <a16:rowId xmlns:a16="http://schemas.microsoft.com/office/drawing/2014/main" val="4040121969"/>
                  </a:ext>
                </a:extLst>
              </a:tr>
              <a:tr h="346220">
                <a:tc>
                  <a:txBody>
                    <a:bodyPr/>
                    <a:lstStyle/>
                    <a:p>
                      <a:r>
                        <a:rPr lang="en-US" sz="800" b="1" dirty="0">
                          <a:latin typeface="Aptos" panose="020B0004020202020204" pitchFamily="34" charset="0"/>
                        </a:rPr>
                        <a:t>Hemp 1(Bleached)</a:t>
                      </a:r>
                    </a:p>
                  </a:txBody>
                  <a:tcPr/>
                </a:tc>
                <a:tc>
                  <a:txBody>
                    <a:bodyPr/>
                    <a:lstStyle/>
                    <a:p>
                      <a:r>
                        <a:rPr lang="en-US" sz="800" dirty="0">
                          <a:latin typeface="Aptos" panose="020B0004020202020204" pitchFamily="34" charset="0"/>
                        </a:rPr>
                        <a:t>518.1 ± 318.3</a:t>
                      </a:r>
                    </a:p>
                  </a:txBody>
                  <a:tcPr/>
                </a:tc>
                <a:tc>
                  <a:txBody>
                    <a:bodyPr/>
                    <a:lstStyle/>
                    <a:p>
                      <a:r>
                        <a:rPr lang="en-US" sz="800" dirty="0">
                          <a:latin typeface="Aptos" panose="020B0004020202020204" pitchFamily="34" charset="0"/>
                        </a:rPr>
                        <a:t>3.0 ± 0.4</a:t>
                      </a:r>
                    </a:p>
                  </a:txBody>
                  <a:tcPr/>
                </a:tc>
                <a:tc>
                  <a:txBody>
                    <a:bodyPr/>
                    <a:lstStyle/>
                    <a:p>
                      <a:r>
                        <a:rPr lang="en-US" sz="800" dirty="0">
                          <a:latin typeface="Aptos" panose="020B0004020202020204" pitchFamily="34" charset="0"/>
                        </a:rPr>
                        <a:t>20.7 ± 11.3</a:t>
                      </a:r>
                    </a:p>
                  </a:txBody>
                  <a:tcPr/>
                </a:tc>
                <a:extLst>
                  <a:ext uri="{0D108BD9-81ED-4DB2-BD59-A6C34878D82A}">
                    <a16:rowId xmlns:a16="http://schemas.microsoft.com/office/drawing/2014/main" val="3833526046"/>
                  </a:ext>
                </a:extLst>
              </a:tr>
              <a:tr h="346220">
                <a:tc>
                  <a:txBody>
                    <a:bodyPr/>
                    <a:lstStyle/>
                    <a:p>
                      <a:r>
                        <a:rPr lang="en-US" sz="800" b="1" dirty="0">
                          <a:latin typeface="Aptos" panose="020B0004020202020204" pitchFamily="34" charset="0"/>
                        </a:rPr>
                        <a:t>A&amp;P Braided Flax</a:t>
                      </a:r>
                    </a:p>
                  </a:txBody>
                  <a:tcPr/>
                </a:tc>
                <a:tc>
                  <a:txBody>
                    <a:bodyPr/>
                    <a:lstStyle/>
                    <a:p>
                      <a:r>
                        <a:rPr lang="en-US" sz="800" dirty="0">
                          <a:latin typeface="Aptos" panose="020B0004020202020204" pitchFamily="34" charset="0"/>
                        </a:rPr>
                        <a:t>906 ± 768.5</a:t>
                      </a:r>
                    </a:p>
                  </a:txBody>
                  <a:tcPr/>
                </a:tc>
                <a:tc>
                  <a:txBody>
                    <a:bodyPr/>
                    <a:lstStyle/>
                    <a:p>
                      <a:r>
                        <a:rPr lang="en-US" sz="800" dirty="0">
                          <a:latin typeface="Aptos" panose="020B0004020202020204" pitchFamily="34" charset="0"/>
                        </a:rPr>
                        <a:t>2.0 ±  1.0</a:t>
                      </a:r>
                    </a:p>
                  </a:txBody>
                  <a:tcPr/>
                </a:tc>
                <a:tc>
                  <a:txBody>
                    <a:bodyPr/>
                    <a:lstStyle/>
                    <a:p>
                      <a:r>
                        <a:rPr lang="en-US" sz="800" dirty="0">
                          <a:latin typeface="Aptos" panose="020B0004020202020204" pitchFamily="34" charset="0"/>
                        </a:rPr>
                        <a:t>52.9 ± 27.2</a:t>
                      </a:r>
                    </a:p>
                  </a:txBody>
                  <a:tcPr/>
                </a:tc>
                <a:extLst>
                  <a:ext uri="{0D108BD9-81ED-4DB2-BD59-A6C34878D82A}">
                    <a16:rowId xmlns:a16="http://schemas.microsoft.com/office/drawing/2014/main" val="381590094"/>
                  </a:ext>
                </a:extLst>
              </a:tr>
              <a:tr h="34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latin typeface="Aptos" panose="020B0004020202020204" pitchFamily="34" charset="0"/>
                        </a:rPr>
                        <a:t>ET Hemp B607</a:t>
                      </a:r>
                    </a:p>
                    <a:p>
                      <a:endParaRPr lang="en-US" sz="800" b="1" dirty="0">
                        <a:latin typeface="Aptos" panose="020B0004020202020204" pitchFamily="34" charset="0"/>
                      </a:endParaRPr>
                    </a:p>
                  </a:txBody>
                  <a:tcPr/>
                </a:tc>
                <a:tc>
                  <a:txBody>
                    <a:bodyPr/>
                    <a:lstStyle/>
                    <a:p>
                      <a:r>
                        <a:rPr lang="en-US" sz="800" dirty="0">
                          <a:latin typeface="Aptos" panose="020B0004020202020204" pitchFamily="34" charset="0"/>
                        </a:rPr>
                        <a:t>492.6 ± 233.6</a:t>
                      </a:r>
                    </a:p>
                  </a:txBody>
                  <a:tcPr/>
                </a:tc>
                <a:tc>
                  <a:txBody>
                    <a:bodyPr/>
                    <a:lstStyle/>
                    <a:p>
                      <a:r>
                        <a:rPr lang="en-US" sz="800" dirty="0">
                          <a:latin typeface="Aptos" panose="020B0004020202020204" pitchFamily="34" charset="0"/>
                        </a:rPr>
                        <a:t>4.4 ± 1.5</a:t>
                      </a:r>
                    </a:p>
                  </a:txBody>
                  <a:tcPr/>
                </a:tc>
                <a:tc>
                  <a:txBody>
                    <a:bodyPr/>
                    <a:lstStyle/>
                    <a:p>
                      <a:r>
                        <a:rPr lang="en-US" sz="800" dirty="0">
                          <a:latin typeface="Aptos" panose="020B0004020202020204" pitchFamily="34" charset="0"/>
                        </a:rPr>
                        <a:t>15.8 ± 4.3</a:t>
                      </a:r>
                    </a:p>
                  </a:txBody>
                  <a:tcPr/>
                </a:tc>
                <a:extLst>
                  <a:ext uri="{0D108BD9-81ED-4DB2-BD59-A6C34878D82A}">
                    <a16:rowId xmlns:a16="http://schemas.microsoft.com/office/drawing/2014/main" val="2174100668"/>
                  </a:ext>
                </a:extLst>
              </a:tr>
              <a:tr h="346220">
                <a:tc>
                  <a:txBody>
                    <a:bodyPr/>
                    <a:lstStyle/>
                    <a:p>
                      <a:r>
                        <a:rPr lang="en-US" sz="800" b="1" dirty="0">
                          <a:solidFill>
                            <a:schemeClr val="tx1"/>
                          </a:solidFill>
                          <a:latin typeface="Aptos" panose="020B0004020202020204" pitchFamily="34" charset="0"/>
                        </a:rPr>
                        <a:t>ET 100% Hemp twill</a:t>
                      </a:r>
                    </a:p>
                  </a:txBody>
                  <a:tcPr/>
                </a:tc>
                <a:tc>
                  <a:txBody>
                    <a:bodyPr/>
                    <a:lstStyle/>
                    <a:p>
                      <a:r>
                        <a:rPr lang="en-US" sz="800" dirty="0">
                          <a:solidFill>
                            <a:schemeClr val="tx1"/>
                          </a:solidFill>
                          <a:latin typeface="Aptos" panose="020B0004020202020204" pitchFamily="34" charset="0"/>
                        </a:rPr>
                        <a:t>1238.5 ± 719.1</a:t>
                      </a:r>
                    </a:p>
                  </a:txBody>
                  <a:tcPr/>
                </a:tc>
                <a:tc>
                  <a:txBody>
                    <a:bodyPr/>
                    <a:lstStyle/>
                    <a:p>
                      <a:r>
                        <a:rPr lang="en-US" sz="800" dirty="0">
                          <a:solidFill>
                            <a:schemeClr val="tx1"/>
                          </a:solidFill>
                          <a:latin typeface="Aptos" panose="020B0004020202020204" pitchFamily="34" charset="0"/>
                        </a:rPr>
                        <a:t>3.2 ± 0.8</a:t>
                      </a:r>
                    </a:p>
                  </a:txBody>
                  <a:tcPr/>
                </a:tc>
                <a:tc>
                  <a:txBody>
                    <a:bodyPr/>
                    <a:lstStyle/>
                    <a:p>
                      <a:r>
                        <a:rPr lang="en-US" sz="800" dirty="0">
                          <a:solidFill>
                            <a:schemeClr val="tx1"/>
                          </a:solidFill>
                          <a:latin typeface="Aptos" panose="020B0004020202020204" pitchFamily="34" charset="0"/>
                        </a:rPr>
                        <a:t>47.5 ± 22.1</a:t>
                      </a:r>
                    </a:p>
                  </a:txBody>
                  <a:tcPr/>
                </a:tc>
                <a:extLst>
                  <a:ext uri="{0D108BD9-81ED-4DB2-BD59-A6C34878D82A}">
                    <a16:rowId xmlns:a16="http://schemas.microsoft.com/office/drawing/2014/main" val="185980164"/>
                  </a:ext>
                </a:extLst>
              </a:tr>
              <a:tr h="346220">
                <a:tc>
                  <a:txBody>
                    <a:bodyPr/>
                    <a:lstStyle/>
                    <a:p>
                      <a:r>
                        <a:rPr lang="en-US" sz="800" b="1" dirty="0">
                          <a:latin typeface="Aptos" panose="020B0004020202020204" pitchFamily="34" charset="0"/>
                        </a:rPr>
                        <a:t>Literature Hemp</a:t>
                      </a:r>
                    </a:p>
                    <a:p>
                      <a:endParaRPr lang="en-US" sz="800" b="1" dirty="0">
                        <a:latin typeface="Aptos" panose="020B0004020202020204" pitchFamily="34" charset="0"/>
                      </a:endParaRPr>
                    </a:p>
                  </a:txBody>
                  <a:tcPr/>
                </a:tc>
                <a:tc>
                  <a:txBody>
                    <a:bodyPr/>
                    <a:lstStyle/>
                    <a:p>
                      <a:r>
                        <a:rPr lang="en-US" sz="800" dirty="0">
                          <a:latin typeface="Aptos" panose="020B0004020202020204" pitchFamily="34" charset="0"/>
                        </a:rPr>
                        <a:t>~500-900</a:t>
                      </a:r>
                    </a:p>
                  </a:txBody>
                  <a:tcPr/>
                </a:tc>
                <a:tc>
                  <a:txBody>
                    <a:bodyPr/>
                    <a:lstStyle/>
                    <a:p>
                      <a:r>
                        <a:rPr lang="en-US" sz="800" dirty="0">
                          <a:latin typeface="Aptos" panose="020B0004020202020204" pitchFamily="34" charset="0"/>
                        </a:rPr>
                        <a:t>~1.2-3.5</a:t>
                      </a:r>
                    </a:p>
                  </a:txBody>
                  <a:tcPr/>
                </a:tc>
                <a:tc>
                  <a:txBody>
                    <a:bodyPr/>
                    <a:lstStyle/>
                    <a:p>
                      <a:r>
                        <a:rPr lang="en-US" sz="800" dirty="0">
                          <a:latin typeface="Aptos" panose="020B0004020202020204" pitchFamily="34" charset="0"/>
                        </a:rPr>
                        <a:t>~60</a:t>
                      </a:r>
                    </a:p>
                  </a:txBody>
                  <a:tcPr/>
                </a:tc>
                <a:extLst>
                  <a:ext uri="{0D108BD9-81ED-4DB2-BD59-A6C34878D82A}">
                    <a16:rowId xmlns:a16="http://schemas.microsoft.com/office/drawing/2014/main" val="499379408"/>
                  </a:ext>
                </a:extLst>
              </a:tr>
              <a:tr h="220322">
                <a:tc>
                  <a:txBody>
                    <a:bodyPr/>
                    <a:lstStyle/>
                    <a:p>
                      <a:r>
                        <a:rPr lang="en-US" sz="800" b="1" dirty="0">
                          <a:latin typeface="Aptos" panose="020B0004020202020204" pitchFamily="34" charset="0"/>
                        </a:rPr>
                        <a:t>Literature Flax</a:t>
                      </a:r>
                    </a:p>
                  </a:txBody>
                  <a:tcPr/>
                </a:tc>
                <a:tc>
                  <a:txBody>
                    <a:bodyPr/>
                    <a:lstStyle/>
                    <a:p>
                      <a:r>
                        <a:rPr lang="en-US" sz="800" dirty="0">
                          <a:latin typeface="Aptos" panose="020B0004020202020204" pitchFamily="34" charset="0"/>
                        </a:rPr>
                        <a:t>~340-1500</a:t>
                      </a:r>
                    </a:p>
                  </a:txBody>
                  <a:tcPr/>
                </a:tc>
                <a:tc>
                  <a:txBody>
                    <a:bodyPr/>
                    <a:lstStyle/>
                    <a:p>
                      <a:r>
                        <a:rPr lang="en-US" sz="800" dirty="0">
                          <a:latin typeface="Aptos" panose="020B0004020202020204" pitchFamily="34" charset="0"/>
                        </a:rPr>
                        <a:t>~1.2-3.2</a:t>
                      </a:r>
                    </a:p>
                  </a:txBody>
                  <a:tcPr/>
                </a:tc>
                <a:tc>
                  <a:txBody>
                    <a:bodyPr/>
                    <a:lstStyle/>
                    <a:p>
                      <a:r>
                        <a:rPr lang="en-US" sz="800" dirty="0">
                          <a:latin typeface="Aptos" panose="020B0004020202020204" pitchFamily="34" charset="0"/>
                        </a:rPr>
                        <a:t>~30-80</a:t>
                      </a:r>
                    </a:p>
                  </a:txBody>
                  <a:tcPr/>
                </a:tc>
                <a:extLst>
                  <a:ext uri="{0D108BD9-81ED-4DB2-BD59-A6C34878D82A}">
                    <a16:rowId xmlns:a16="http://schemas.microsoft.com/office/drawing/2014/main" val="1856457251"/>
                  </a:ext>
                </a:extLst>
              </a:tr>
            </a:tbl>
          </a:graphicData>
        </a:graphic>
      </p:graphicFrame>
      <p:pic>
        <p:nvPicPr>
          <p:cNvPr id="9" name="Picture 8">
            <a:extLst>
              <a:ext uri="{FF2B5EF4-FFF2-40B4-BE49-F238E27FC236}">
                <a16:creationId xmlns:a16="http://schemas.microsoft.com/office/drawing/2014/main" id="{37D210F8-4B96-FF24-7F9C-C6C5F809B82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3675" y="2275375"/>
            <a:ext cx="1191315" cy="1607924"/>
          </a:xfrm>
          <a:prstGeom prst="rect">
            <a:avLst/>
          </a:prstGeom>
        </p:spPr>
      </p:pic>
      <p:sp>
        <p:nvSpPr>
          <p:cNvPr id="13" name="TextBox 12">
            <a:extLst>
              <a:ext uri="{FF2B5EF4-FFF2-40B4-BE49-F238E27FC236}">
                <a16:creationId xmlns:a16="http://schemas.microsoft.com/office/drawing/2014/main" id="{9D4AD6BC-A272-ED9E-67D4-7F955B8FC629}"/>
              </a:ext>
            </a:extLst>
          </p:cNvPr>
          <p:cNvSpPr txBox="1"/>
          <p:nvPr/>
        </p:nvSpPr>
        <p:spPr>
          <a:xfrm>
            <a:off x="275840" y="3883299"/>
            <a:ext cx="1269181" cy="646331"/>
          </a:xfrm>
          <a:prstGeom prst="rect">
            <a:avLst/>
          </a:prstGeom>
          <a:noFill/>
        </p:spPr>
        <p:txBody>
          <a:bodyPr wrap="square" rtlCol="0">
            <a:spAutoFit/>
          </a:bodyPr>
          <a:lstStyle/>
          <a:p>
            <a:r>
              <a:rPr lang="en-US" sz="1200" dirty="0">
                <a:latin typeface="Aptos" panose="020B0004020202020204" pitchFamily="34" charset="0"/>
              </a:rPr>
              <a:t>Scale used to calculate linear density.</a:t>
            </a:r>
          </a:p>
        </p:txBody>
      </p:sp>
      <p:sp>
        <p:nvSpPr>
          <p:cNvPr id="6" name="TextBox 5">
            <a:extLst>
              <a:ext uri="{FF2B5EF4-FFF2-40B4-BE49-F238E27FC236}">
                <a16:creationId xmlns:a16="http://schemas.microsoft.com/office/drawing/2014/main" id="{E5A5A544-19A5-8470-A5CF-9256B6C6996A}"/>
              </a:ext>
            </a:extLst>
          </p:cNvPr>
          <p:cNvSpPr txBox="1"/>
          <p:nvPr/>
        </p:nvSpPr>
        <p:spPr>
          <a:xfrm>
            <a:off x="5638800" y="3000703"/>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74EEF3-02E9-6B32-3B5A-0D1695CF7DB8}"/>
                  </a:ext>
                </a:extLst>
              </p:cNvPr>
              <p:cNvSpPr txBox="1"/>
              <p:nvPr/>
            </p:nvSpPr>
            <p:spPr>
              <a:xfrm>
                <a:off x="120562" y="5281433"/>
                <a:ext cx="1818290" cy="5666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𝑡𝑒𝑥</m:t>
                      </m:r>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𝑔𝑟𝑎𝑚𝑠</m:t>
                          </m:r>
                        </m:num>
                        <m:den>
                          <m:r>
                            <a:rPr lang="en-US" i="1">
                              <a:latin typeface="Cambria Math" panose="02040503050406030204" pitchFamily="18" charset="0"/>
                            </a:rPr>
                            <m:t>𝑘𝑚</m:t>
                          </m:r>
                        </m:den>
                      </m:f>
                    </m:oMath>
                  </m:oMathPara>
                </a14:m>
                <a:endParaRPr lang="en-US" dirty="0"/>
              </a:p>
            </p:txBody>
          </p:sp>
        </mc:Choice>
        <mc:Fallback xmlns="">
          <p:sp>
            <p:nvSpPr>
              <p:cNvPr id="11" name="TextBox 10">
                <a:extLst>
                  <a:ext uri="{FF2B5EF4-FFF2-40B4-BE49-F238E27FC236}">
                    <a16:creationId xmlns:a16="http://schemas.microsoft.com/office/drawing/2014/main" id="{FE74EEF3-02E9-6B32-3B5A-0D1695CF7DB8}"/>
                  </a:ext>
                </a:extLst>
              </p:cNvPr>
              <p:cNvSpPr txBox="1">
                <a:spLocks noRot="1" noChangeAspect="1" noMove="1" noResize="1" noEditPoints="1" noAdjustHandles="1" noChangeArrowheads="1" noChangeShapeType="1" noTextEdit="1"/>
              </p:cNvSpPr>
              <p:nvPr/>
            </p:nvSpPr>
            <p:spPr>
              <a:xfrm>
                <a:off x="120562" y="5281433"/>
                <a:ext cx="1818290" cy="56669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35762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9A2121-6E2A-1B67-E4B2-38D33F5D588F}"/>
              </a:ext>
            </a:extLst>
          </p:cNvPr>
          <p:cNvSpPr>
            <a:spLocks noGrp="1"/>
          </p:cNvSpPr>
          <p:nvPr>
            <p:ph type="sldNum" sz="quarter" idx="12"/>
          </p:nvPr>
        </p:nvSpPr>
        <p:spPr/>
        <p:txBody>
          <a:bodyPr/>
          <a:lstStyle/>
          <a:p>
            <a:fld id="{224C0C37-3CEC-4CB4-B902-37F94E20E969}" type="slidenum">
              <a:rPr lang="en-US" smtClean="0"/>
              <a:pPr/>
              <a:t>11</a:t>
            </a:fld>
            <a:endParaRPr lang="en-US"/>
          </a:p>
        </p:txBody>
      </p:sp>
      <p:sp>
        <p:nvSpPr>
          <p:cNvPr id="7" name="Title 1">
            <a:extLst>
              <a:ext uri="{FF2B5EF4-FFF2-40B4-BE49-F238E27FC236}">
                <a16:creationId xmlns:a16="http://schemas.microsoft.com/office/drawing/2014/main" id="{ED8A6047-23AB-D66F-4BC6-F060CB21906B}"/>
              </a:ext>
            </a:extLst>
          </p:cNvPr>
          <p:cNvSpPr>
            <a:spLocks noGrp="1"/>
          </p:cNvSpPr>
          <p:nvPr>
            <p:ph type="title"/>
          </p:nvPr>
        </p:nvSpPr>
        <p:spPr>
          <a:xfrm>
            <a:off x="663559" y="188439"/>
            <a:ext cx="10864881" cy="588148"/>
          </a:xfrm>
        </p:spPr>
        <p:txBody>
          <a:bodyPr>
            <a:noAutofit/>
          </a:bodyPr>
          <a:lstStyle/>
          <a:p>
            <a:r>
              <a:rPr lang="en-US" sz="3000" b="1" dirty="0">
                <a:latin typeface="Aptos" panose="020B0004020202020204" pitchFamily="34" charset="0"/>
              </a:rPr>
              <a:t>Natural Fiber Mechanical Properties</a:t>
            </a:r>
            <a:endParaRPr lang="en-US" sz="3000" b="1" i="1" dirty="0">
              <a:latin typeface="Aptos" panose="020B0004020202020204" pitchFamily="34" charset="0"/>
            </a:endParaRPr>
          </a:p>
        </p:txBody>
      </p:sp>
      <p:sp>
        <p:nvSpPr>
          <p:cNvPr id="12" name="TextBox 11">
            <a:extLst>
              <a:ext uri="{FF2B5EF4-FFF2-40B4-BE49-F238E27FC236}">
                <a16:creationId xmlns:a16="http://schemas.microsoft.com/office/drawing/2014/main" id="{59F515B3-FAB5-1D48-1784-B462F6A797FB}"/>
              </a:ext>
            </a:extLst>
          </p:cNvPr>
          <p:cNvSpPr txBox="1"/>
          <p:nvPr/>
        </p:nvSpPr>
        <p:spPr>
          <a:xfrm>
            <a:off x="2122340" y="5281433"/>
            <a:ext cx="3379921" cy="1015663"/>
          </a:xfrm>
          <a:prstGeom prst="rect">
            <a:avLst/>
          </a:prstGeom>
          <a:noFill/>
        </p:spPr>
        <p:txBody>
          <a:bodyPr wrap="square" rtlCol="0">
            <a:spAutoFit/>
          </a:bodyPr>
          <a:lstStyle/>
          <a:p>
            <a:r>
              <a:rPr lang="en-US" sz="1200" b="1" dirty="0">
                <a:latin typeface="Aptos" panose="020B0004020202020204" pitchFamily="34" charset="0"/>
              </a:rPr>
              <a:t>Note:</a:t>
            </a:r>
            <a:br>
              <a:rPr lang="en-US" sz="1200" dirty="0">
                <a:latin typeface="Aptos" panose="020B0004020202020204" pitchFamily="34" charset="0"/>
              </a:rPr>
            </a:br>
            <a:r>
              <a:rPr lang="en-US" sz="1200" dirty="0">
                <a:latin typeface="Aptos" panose="020B0004020202020204" pitchFamily="34" charset="0"/>
              </a:rPr>
              <a:t>Yarn’s Tensile Strength is only a ballpark value. Measuring diameters for yarn is highly subjective. Force/linear density (</a:t>
            </a:r>
            <a:r>
              <a:rPr lang="en-US" sz="1200" dirty="0" err="1">
                <a:latin typeface="Aptos" panose="020B0004020202020204" pitchFamily="34" charset="0"/>
              </a:rPr>
              <a:t>tex</a:t>
            </a:r>
            <a:r>
              <a:rPr lang="en-US" sz="1200" dirty="0">
                <a:latin typeface="Aptos" panose="020B0004020202020204" pitchFamily="34" charset="0"/>
              </a:rPr>
              <a:t>) is better for yarns.</a:t>
            </a:r>
          </a:p>
        </p:txBody>
      </p:sp>
      <p:sp>
        <p:nvSpPr>
          <p:cNvPr id="2" name="TextBox 1">
            <a:extLst>
              <a:ext uri="{FF2B5EF4-FFF2-40B4-BE49-F238E27FC236}">
                <a16:creationId xmlns:a16="http://schemas.microsoft.com/office/drawing/2014/main" id="{A1EE1C37-3B4C-5548-0217-1C4B2CA7737F}"/>
              </a:ext>
            </a:extLst>
          </p:cNvPr>
          <p:cNvSpPr txBox="1"/>
          <p:nvPr/>
        </p:nvSpPr>
        <p:spPr>
          <a:xfrm>
            <a:off x="360450" y="682137"/>
            <a:ext cx="5365980" cy="1415772"/>
          </a:xfrm>
          <a:prstGeom prst="rect">
            <a:avLst/>
          </a:prstGeom>
          <a:noFill/>
        </p:spPr>
        <p:txBody>
          <a:bodyPr wrap="square" rtlCol="0">
            <a:spAutoFit/>
          </a:bodyPr>
          <a:lstStyle/>
          <a:p>
            <a:r>
              <a:rPr lang="en-US" dirty="0">
                <a:latin typeface="Aptos" panose="020B0004020202020204" pitchFamily="34" charset="0"/>
              </a:rPr>
              <a:t>I charactered many individual fibers and yarn </a:t>
            </a:r>
          </a:p>
          <a:p>
            <a:pPr marL="285750" indent="-285750">
              <a:buFont typeface="Wingdings" panose="05000000000000000000" pitchFamily="2" charset="2"/>
              <a:buChar char="v"/>
            </a:pPr>
            <a:r>
              <a:rPr lang="en-US" dirty="0">
                <a:latin typeface="Aptos" panose="020B0004020202020204" pitchFamily="34" charset="0"/>
              </a:rPr>
              <a:t>Identified the most favorable mechanical characteristics</a:t>
            </a:r>
          </a:p>
          <a:p>
            <a:pPr marL="742950" lvl="1" indent="-285750">
              <a:buFont typeface="Wingdings" panose="05000000000000000000" pitchFamily="2" charset="2"/>
              <a:buChar char="v"/>
            </a:pPr>
            <a:r>
              <a:rPr lang="en-US" sz="1600" dirty="0">
                <a:latin typeface="Aptos" panose="020B0004020202020204" pitchFamily="34" charset="0"/>
              </a:rPr>
              <a:t>Tensile Strength, % Elongation at Break, Modulus, Force/Linear Density, and Toughness</a:t>
            </a:r>
          </a:p>
        </p:txBody>
      </p:sp>
      <p:graphicFrame>
        <p:nvGraphicFramePr>
          <p:cNvPr id="3" name="Table 2">
            <a:extLst>
              <a:ext uri="{FF2B5EF4-FFF2-40B4-BE49-F238E27FC236}">
                <a16:creationId xmlns:a16="http://schemas.microsoft.com/office/drawing/2014/main" id="{992F5E3F-CEF9-ABB9-3B39-C468080ABA68}"/>
              </a:ext>
            </a:extLst>
          </p:cNvPr>
          <p:cNvGraphicFramePr>
            <a:graphicFrameLocks noGrp="1"/>
          </p:cNvGraphicFramePr>
          <p:nvPr/>
        </p:nvGraphicFramePr>
        <p:xfrm>
          <a:off x="5642322" y="1028600"/>
          <a:ext cx="6189228" cy="5448300"/>
        </p:xfrm>
        <a:graphic>
          <a:graphicData uri="http://schemas.openxmlformats.org/drawingml/2006/table">
            <a:tbl>
              <a:tblPr firstRow="1" bandRow="1">
                <a:tableStyleId>{ED083AE6-46FA-4A59-8FB0-9F97EB10719F}</a:tableStyleId>
              </a:tblPr>
              <a:tblGrid>
                <a:gridCol w="1031538">
                  <a:extLst>
                    <a:ext uri="{9D8B030D-6E8A-4147-A177-3AD203B41FA5}">
                      <a16:colId xmlns:a16="http://schemas.microsoft.com/office/drawing/2014/main" val="4115799051"/>
                    </a:ext>
                  </a:extLst>
                </a:gridCol>
                <a:gridCol w="1031538">
                  <a:extLst>
                    <a:ext uri="{9D8B030D-6E8A-4147-A177-3AD203B41FA5}">
                      <a16:colId xmlns:a16="http://schemas.microsoft.com/office/drawing/2014/main" val="1787267720"/>
                    </a:ext>
                  </a:extLst>
                </a:gridCol>
                <a:gridCol w="1031538">
                  <a:extLst>
                    <a:ext uri="{9D8B030D-6E8A-4147-A177-3AD203B41FA5}">
                      <a16:colId xmlns:a16="http://schemas.microsoft.com/office/drawing/2014/main" val="1690438979"/>
                    </a:ext>
                  </a:extLst>
                </a:gridCol>
                <a:gridCol w="1031538">
                  <a:extLst>
                    <a:ext uri="{9D8B030D-6E8A-4147-A177-3AD203B41FA5}">
                      <a16:colId xmlns:a16="http://schemas.microsoft.com/office/drawing/2014/main" val="427705437"/>
                    </a:ext>
                  </a:extLst>
                </a:gridCol>
                <a:gridCol w="1031538">
                  <a:extLst>
                    <a:ext uri="{9D8B030D-6E8A-4147-A177-3AD203B41FA5}">
                      <a16:colId xmlns:a16="http://schemas.microsoft.com/office/drawing/2014/main" val="3360961692"/>
                    </a:ext>
                  </a:extLst>
                </a:gridCol>
                <a:gridCol w="1031538">
                  <a:extLst>
                    <a:ext uri="{9D8B030D-6E8A-4147-A177-3AD203B41FA5}">
                      <a16:colId xmlns:a16="http://schemas.microsoft.com/office/drawing/2014/main" val="709190868"/>
                    </a:ext>
                  </a:extLst>
                </a:gridCol>
              </a:tblGrid>
              <a:tr h="304628">
                <a:tc>
                  <a:txBody>
                    <a:bodyPr/>
                    <a:lstStyle/>
                    <a:p>
                      <a:r>
                        <a:rPr lang="en-US" sz="650" b="1" dirty="0">
                          <a:latin typeface="Aptos" panose="020B0004020202020204" pitchFamily="34" charset="0"/>
                        </a:rPr>
                        <a:t>Yarn Sample &amp; Notes</a:t>
                      </a:r>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solidFill>
                            <a:schemeClr val="tx1"/>
                          </a:solidFill>
                          <a:latin typeface="Aptos" panose="020B0004020202020204" pitchFamily="34" charset="0"/>
                        </a:rPr>
                        <a:t>Force/</a:t>
                      </a:r>
                      <a:r>
                        <a:rPr lang="en-US" sz="650" b="1" dirty="0" err="1">
                          <a:solidFill>
                            <a:schemeClr val="tx1"/>
                          </a:solidFill>
                          <a:latin typeface="Aptos" panose="020B0004020202020204" pitchFamily="34" charset="0"/>
                        </a:rPr>
                        <a:t>LinearDensity</a:t>
                      </a:r>
                      <a:br>
                        <a:rPr lang="en-US" sz="650" b="1" dirty="0">
                          <a:solidFill>
                            <a:schemeClr val="tx1"/>
                          </a:solidFill>
                          <a:latin typeface="Aptos" panose="020B0004020202020204" pitchFamily="34" charset="0"/>
                        </a:rPr>
                      </a:br>
                      <a:r>
                        <a:rPr lang="en-US" sz="650" b="1" dirty="0">
                          <a:solidFill>
                            <a:schemeClr val="tx1"/>
                          </a:solidFill>
                          <a:latin typeface="Aptos" panose="020B0004020202020204" pitchFamily="34" charset="0"/>
                        </a:rPr>
                        <a:t>(N/</a:t>
                      </a:r>
                      <a:r>
                        <a:rPr lang="en-US" sz="650" b="1" dirty="0" err="1">
                          <a:solidFill>
                            <a:schemeClr val="tx1"/>
                          </a:solidFill>
                          <a:latin typeface="Aptos" panose="020B0004020202020204" pitchFamily="34" charset="0"/>
                        </a:rPr>
                        <a:t>tex</a:t>
                      </a:r>
                      <a:r>
                        <a:rPr lang="en-US" sz="650" b="1" dirty="0">
                          <a:solidFill>
                            <a:schemeClr val="tx1"/>
                          </a:solidFill>
                          <a:latin typeface="Aptos" panose="020B0004020202020204" pitchFamily="34" charset="0"/>
                        </a:rPr>
                        <a:t>)</a:t>
                      </a:r>
                      <a:br>
                        <a:rPr lang="en-US" sz="650" b="1" dirty="0">
                          <a:solidFill>
                            <a:schemeClr val="tx1"/>
                          </a:solidFill>
                          <a:latin typeface="Aptos" panose="020B0004020202020204" pitchFamily="34" charset="0"/>
                        </a:rPr>
                      </a:br>
                      <a:r>
                        <a:rPr lang="en-US" sz="650" b="1" dirty="0">
                          <a:solidFill>
                            <a:schemeClr val="tx1"/>
                          </a:solidFill>
                          <a:latin typeface="Aptos" panose="020B0004020202020204" pitchFamily="34" charset="0"/>
                        </a:rPr>
                        <a:t>[</a:t>
                      </a:r>
                      <a:r>
                        <a:rPr lang="en-US" sz="650" b="1" baseline="0" dirty="0">
                          <a:solidFill>
                            <a:schemeClr val="tx1"/>
                          </a:solidFill>
                          <a:latin typeface="Aptos" panose="020B0004020202020204" pitchFamily="34" charset="0"/>
                        </a:rPr>
                        <a:t>N/(kg/m)]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 Elongation at Break</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Young’s Modulus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a:t>
                      </a:r>
                      <a:r>
                        <a:rPr lang="en-US" sz="650" b="1" dirty="0" err="1">
                          <a:latin typeface="Aptos" panose="020B0004020202020204" pitchFamily="34" charset="0"/>
                        </a:rPr>
                        <a:t>GPa</a:t>
                      </a:r>
                      <a:r>
                        <a:rPr lang="en-US" sz="650" b="1" dirty="0">
                          <a:latin typeface="Aptos" panose="020B0004020202020204" pitchFamily="34" charset="0"/>
                        </a:rPr>
                        <a:t>)</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Linear Density </a:t>
                      </a:r>
                    </a:p>
                    <a:p>
                      <a:r>
                        <a:rPr lang="en-US" sz="650" dirty="0">
                          <a:latin typeface="Aptos" panose="020B0004020202020204" pitchFamily="34" charset="0"/>
                        </a:rPr>
                        <a:t>(</a:t>
                      </a:r>
                      <a:r>
                        <a:rPr lang="en-US" sz="650" dirty="0" err="1">
                          <a:latin typeface="Aptos" panose="020B0004020202020204" pitchFamily="34" charset="0"/>
                        </a:rPr>
                        <a:t>tex</a:t>
                      </a:r>
                      <a:r>
                        <a:rPr lang="en-US" sz="650" dirty="0">
                          <a:latin typeface="Aptos" panose="020B0004020202020204" pitchFamily="34" charset="0"/>
                        </a:rPr>
                        <a:t>)</a:t>
                      </a:r>
                    </a:p>
                    <a:p>
                      <a:r>
                        <a:rPr lang="en-US" sz="650" dirty="0">
                          <a:latin typeface="Aptos" panose="020B0004020202020204" pitchFamily="34" charset="0"/>
                        </a:rPr>
                        <a:t>1 </a:t>
                      </a:r>
                      <a:r>
                        <a:rPr lang="en-US" sz="650" dirty="0" err="1">
                          <a:latin typeface="Aptos" panose="020B0004020202020204" pitchFamily="34" charset="0"/>
                        </a:rPr>
                        <a:t>tex</a:t>
                      </a:r>
                      <a:r>
                        <a:rPr lang="en-US" sz="650" dirty="0">
                          <a:latin typeface="Aptos" panose="020B0004020202020204" pitchFamily="34" charset="0"/>
                        </a:rPr>
                        <a:t> = 1 gram/km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Tensile Strength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(MPa)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latin typeface="Aptos" panose="020B0004020202020204" pitchFamily="34" charset="0"/>
                        </a:rPr>
                        <a:t>Diameter is subjective, approximate </a:t>
                      </a:r>
                    </a:p>
                  </a:txBody>
                  <a:tcPr/>
                </a:tc>
                <a:extLst>
                  <a:ext uri="{0D108BD9-81ED-4DB2-BD59-A6C34878D82A}">
                    <a16:rowId xmlns:a16="http://schemas.microsoft.com/office/drawing/2014/main" val="155946586"/>
                  </a:ext>
                </a:extLst>
              </a:tr>
              <a:tr h="2269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BComp</a:t>
                      </a:r>
                      <a:r>
                        <a:rPr lang="en-US" sz="650" b="1" dirty="0">
                          <a:solidFill>
                            <a:schemeClr val="tx1"/>
                          </a:solidFill>
                          <a:latin typeface="Aptos" panose="020B0004020202020204" pitchFamily="34" charset="0"/>
                        </a:rPr>
                        <a:t> Flax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0.172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[172238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19657]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1.5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0.1</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12.0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1.7</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273.0 </a:t>
                      </a:r>
                      <a:r>
                        <a:rPr lang="en-US" sz="650" dirty="0">
                          <a:solidFill>
                            <a:schemeClr val="tx1"/>
                          </a:solidFill>
                          <a:latin typeface="Aptos" panose="020B0004020202020204" pitchFamily="34" charset="0"/>
                        </a:rPr>
                        <a:t>± </a:t>
                      </a:r>
                      <a:r>
                        <a:rPr lang="en-US" sz="650" dirty="0">
                          <a:latin typeface="Aptos" panose="020B0004020202020204" pitchFamily="34" charset="0"/>
                        </a:rPr>
                        <a:t>77.4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143.2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23.0</a:t>
                      </a:r>
                    </a:p>
                  </a:txBody>
                  <a:tcPr/>
                </a:tc>
                <a:extLst>
                  <a:ext uri="{0D108BD9-81ED-4DB2-BD59-A6C34878D82A}">
                    <a16:rowId xmlns:a16="http://schemas.microsoft.com/office/drawing/2014/main" val="1735877004"/>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a:solidFill>
                            <a:schemeClr val="tx1"/>
                          </a:solidFill>
                          <a:latin typeface="Aptos" panose="020B0004020202020204" pitchFamily="34" charset="0"/>
                        </a:rPr>
                        <a:t>A&amp;P “Braided/Woven” Flax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0.082 0.031</a:t>
                      </a:r>
                      <a:br>
                        <a:rPr lang="en-US" sz="650" b="0" dirty="0">
                          <a:solidFill>
                            <a:schemeClr val="tx1"/>
                          </a:solidFill>
                          <a:latin typeface="Aptos" panose="020B0004020202020204" pitchFamily="34" charset="0"/>
                        </a:rPr>
                      </a:br>
                      <a:r>
                        <a:rPr lang="en-US" sz="650" b="0" dirty="0">
                          <a:solidFill>
                            <a:schemeClr val="tx1"/>
                          </a:solidFill>
                          <a:latin typeface="Aptos" panose="020B0004020202020204" pitchFamily="34" charset="0"/>
                        </a:rPr>
                        <a:t>[82342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30739]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1.4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0.4</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4.3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1.4</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171.8 </a:t>
                      </a:r>
                      <a:r>
                        <a:rPr lang="en-US" sz="650" dirty="0">
                          <a:solidFill>
                            <a:schemeClr val="tx1"/>
                          </a:solidFill>
                          <a:latin typeface="Aptos" panose="020B0004020202020204" pitchFamily="34" charset="0"/>
                        </a:rPr>
                        <a:t>±</a:t>
                      </a:r>
                      <a:r>
                        <a:rPr lang="en-US" sz="650" dirty="0">
                          <a:latin typeface="Aptos" panose="020B0004020202020204" pitchFamily="34" charset="0"/>
                        </a:rPr>
                        <a:t> 91.6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45.5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19.5</a:t>
                      </a:r>
                    </a:p>
                  </a:txBody>
                  <a:tcPr/>
                </a:tc>
                <a:extLst>
                  <a:ext uri="{0D108BD9-81ED-4DB2-BD59-A6C34878D82A}">
                    <a16:rowId xmlns:a16="http://schemas.microsoft.com/office/drawing/2014/main" val="382305545"/>
                  </a:ext>
                </a:extLst>
              </a:tr>
              <a:tr h="382279">
                <a:tc>
                  <a:txBody>
                    <a:bodyPr/>
                    <a:lstStyle/>
                    <a:p>
                      <a:r>
                        <a:rPr lang="en-US" sz="650" b="1" dirty="0">
                          <a:solidFill>
                            <a:schemeClr val="tx1"/>
                          </a:solidFill>
                          <a:latin typeface="Aptos" panose="020B0004020202020204" pitchFamily="34" charset="0"/>
                        </a:rPr>
                        <a:t>“Hemp” 1</a:t>
                      </a:r>
                    </a:p>
                    <a:p>
                      <a:r>
                        <a:rPr lang="en-US" sz="650" b="1" dirty="0">
                          <a:solidFill>
                            <a:schemeClr val="tx1"/>
                          </a:solidFill>
                          <a:latin typeface="Aptos" panose="020B0004020202020204" pitchFamily="34" charset="0"/>
                        </a:rPr>
                        <a:t>Yarn</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Not assessed, unknown fiber origin, decided not to proceed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4.5 ± 0.9</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7.51 ± 3.3</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259.7 ± 32.8</a:t>
                      </a:r>
                    </a:p>
                  </a:txBody>
                  <a:tcPr/>
                </a:tc>
                <a:extLst>
                  <a:ext uri="{0D108BD9-81ED-4DB2-BD59-A6C34878D82A}">
                    <a16:rowId xmlns:a16="http://schemas.microsoft.com/office/drawing/2014/main" val="1169553558"/>
                  </a:ext>
                </a:extLst>
              </a:tr>
              <a:tr h="382279">
                <a:tc>
                  <a:txBody>
                    <a:bodyPr/>
                    <a:lstStyle/>
                    <a:p>
                      <a:r>
                        <a:rPr lang="en-US" sz="650" b="1" dirty="0">
                          <a:solidFill>
                            <a:schemeClr val="tx1"/>
                          </a:solidFill>
                          <a:latin typeface="Aptos" panose="020B0004020202020204" pitchFamily="34" charset="0"/>
                        </a:rPr>
                        <a:t>“Hemp” 2</a:t>
                      </a:r>
                    </a:p>
                    <a:p>
                      <a:r>
                        <a:rPr lang="en-US" sz="650" b="1" dirty="0">
                          <a:solidFill>
                            <a:schemeClr val="tx1"/>
                          </a:solidFill>
                          <a:latin typeface="Aptos" panose="020B0004020202020204" pitchFamily="34" charset="0"/>
                        </a:rPr>
                        <a:t>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4.9 ± 1.1</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7.19 ± 3.6</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253.8 ± 134.8</a:t>
                      </a:r>
                    </a:p>
                  </a:txBody>
                  <a:tcPr/>
                </a:tc>
                <a:extLst>
                  <a:ext uri="{0D108BD9-81ED-4DB2-BD59-A6C34878D82A}">
                    <a16:rowId xmlns:a16="http://schemas.microsoft.com/office/drawing/2014/main" val="2258816647"/>
                  </a:ext>
                </a:extLst>
              </a:tr>
              <a:tr h="382279">
                <a:tc>
                  <a:txBody>
                    <a:bodyPr/>
                    <a:lstStyle/>
                    <a:p>
                      <a:r>
                        <a:rPr lang="en-US" sz="650" b="1" dirty="0">
                          <a:solidFill>
                            <a:schemeClr val="tx1"/>
                          </a:solidFill>
                          <a:latin typeface="Aptos" panose="020B0004020202020204" pitchFamily="34" charset="0"/>
                        </a:rPr>
                        <a:t>“Hemp” 3</a:t>
                      </a:r>
                    </a:p>
                    <a:p>
                      <a:r>
                        <a:rPr lang="en-US" sz="650" b="1" dirty="0">
                          <a:solidFill>
                            <a:schemeClr val="tx1"/>
                          </a:solidFill>
                          <a:latin typeface="Aptos" panose="020B0004020202020204" pitchFamily="34" charset="0"/>
                        </a:rPr>
                        <a:t>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13.1 ± 8.3</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5.08 ± 2.5</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latin typeface="Aptos" panose="020B0004020202020204" pitchFamily="34" charset="0"/>
                        </a:rPr>
                        <a:t>Not assessed, unknown fiber origin, decided not to proceed</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228.8 ± 80.7</a:t>
                      </a:r>
                    </a:p>
                  </a:txBody>
                  <a:tcPr/>
                </a:tc>
                <a:extLst>
                  <a:ext uri="{0D108BD9-81ED-4DB2-BD59-A6C34878D82A}">
                    <a16:rowId xmlns:a16="http://schemas.microsoft.com/office/drawing/2014/main" val="3197506873"/>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B601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0.215 ±</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0.021</a:t>
                      </a:r>
                      <a:br>
                        <a:rPr lang="en-US" sz="650" dirty="0">
                          <a:solidFill>
                            <a:schemeClr val="tx1"/>
                          </a:solidFill>
                          <a:latin typeface="Aptos" panose="020B0004020202020204" pitchFamily="34" charset="0"/>
                        </a:rPr>
                      </a:br>
                      <a:r>
                        <a:rPr lang="en-US" sz="650" dirty="0">
                          <a:solidFill>
                            <a:schemeClr val="tx1"/>
                          </a:solidFill>
                          <a:latin typeface="Aptos" panose="020B0004020202020204" pitchFamily="34" charset="0"/>
                        </a:rPr>
                        <a:t>[214686 ± 20611]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6.1 ± 0.7</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7.1 ± 1.3</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148.0 </a:t>
                      </a:r>
                      <a:r>
                        <a:rPr lang="en-US" sz="650" dirty="0">
                          <a:solidFill>
                            <a:schemeClr val="tx1"/>
                          </a:solidFill>
                          <a:latin typeface="Aptos" panose="020B0004020202020204" pitchFamily="34" charset="0"/>
                        </a:rPr>
                        <a:t>± </a:t>
                      </a:r>
                      <a:r>
                        <a:rPr lang="en-US" sz="650" dirty="0">
                          <a:latin typeface="Aptos" panose="020B0004020202020204" pitchFamily="34" charset="0"/>
                        </a:rPr>
                        <a:t>23.4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329.0 ± 54.5</a:t>
                      </a:r>
                    </a:p>
                  </a:txBody>
                  <a:tcPr/>
                </a:tc>
                <a:extLst>
                  <a:ext uri="{0D108BD9-81ED-4DB2-BD59-A6C34878D82A}">
                    <a16:rowId xmlns:a16="http://schemas.microsoft.com/office/drawing/2014/main" val="3327327653"/>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B602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0.071 ±</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0.012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[70668 ± 11918]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10.1 ± 1.6</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1.0. ± 0.2</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267.0 </a:t>
                      </a:r>
                      <a:r>
                        <a:rPr lang="en-US" sz="650" dirty="0">
                          <a:solidFill>
                            <a:schemeClr val="tx1"/>
                          </a:solidFill>
                          <a:latin typeface="Aptos" panose="020B0004020202020204" pitchFamily="34" charset="0"/>
                        </a:rPr>
                        <a:t>± </a:t>
                      </a:r>
                      <a:r>
                        <a:rPr lang="en-US" sz="650" dirty="0">
                          <a:latin typeface="Aptos" panose="020B0004020202020204" pitchFamily="34" charset="0"/>
                        </a:rPr>
                        <a:t>13.5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dirty="0">
                          <a:solidFill>
                            <a:schemeClr val="tx1"/>
                          </a:solidFill>
                          <a:latin typeface="Aptos" panose="020B0004020202020204" pitchFamily="34" charset="0"/>
                        </a:rPr>
                        <a:t>73.1 ± 15.8</a:t>
                      </a:r>
                    </a:p>
                  </a:txBody>
                  <a:tcPr/>
                </a:tc>
                <a:extLst>
                  <a:ext uri="{0D108BD9-81ED-4DB2-BD59-A6C34878D82A}">
                    <a16:rowId xmlns:a16="http://schemas.microsoft.com/office/drawing/2014/main" val="1240579180"/>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B605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0.207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[207062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49517]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7.5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1.2</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3.6 </a:t>
                      </a:r>
                      <a:r>
                        <a:rPr lang="en-US" sz="650" b="0" dirty="0">
                          <a:solidFill>
                            <a:schemeClr val="tx1"/>
                          </a:solidFill>
                          <a:effectLst/>
                          <a:latin typeface="Aptos" panose="020B0004020202020204" pitchFamily="34" charset="0"/>
                        </a:rPr>
                        <a:t>±</a:t>
                      </a:r>
                      <a:r>
                        <a:rPr lang="en-US" sz="650" b="0" dirty="0">
                          <a:solidFill>
                            <a:schemeClr val="tx1"/>
                          </a:solidFill>
                          <a:latin typeface="Aptos" panose="020B0004020202020204" pitchFamily="34" charset="0"/>
                        </a:rPr>
                        <a:t> 1.0</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82.8 </a:t>
                      </a:r>
                      <a:r>
                        <a:rPr lang="en-US" sz="650" dirty="0">
                          <a:solidFill>
                            <a:schemeClr val="tx1"/>
                          </a:solidFill>
                          <a:latin typeface="Aptos" panose="020B0004020202020204" pitchFamily="34" charset="0"/>
                        </a:rPr>
                        <a:t>±</a:t>
                      </a:r>
                      <a:r>
                        <a:rPr lang="en-US" sz="650" dirty="0">
                          <a:latin typeface="Aptos" panose="020B0004020202020204" pitchFamily="34" charset="0"/>
                        </a:rPr>
                        <a:t> 46.3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198.9 </a:t>
                      </a:r>
                      <a:r>
                        <a:rPr lang="en-US" sz="650" b="0" dirty="0">
                          <a:solidFill>
                            <a:schemeClr val="tx1"/>
                          </a:solidFill>
                          <a:effectLst/>
                          <a:latin typeface="Aptos" panose="020B0004020202020204" pitchFamily="34" charset="0"/>
                        </a:rPr>
                        <a:t>± 33</a:t>
                      </a:r>
                      <a:r>
                        <a:rPr lang="en-US" sz="650" b="0" dirty="0">
                          <a:solidFill>
                            <a:schemeClr val="tx1"/>
                          </a:solidFill>
                          <a:latin typeface="Aptos" panose="020B0004020202020204" pitchFamily="34" charset="0"/>
                        </a:rPr>
                        <a:t>.1</a:t>
                      </a:r>
                    </a:p>
                  </a:txBody>
                  <a:tcPr/>
                </a:tc>
                <a:extLst>
                  <a:ext uri="{0D108BD9-81ED-4DB2-BD59-A6C34878D82A}">
                    <a16:rowId xmlns:a16="http://schemas.microsoft.com/office/drawing/2014/main" val="4272042734"/>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B607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0.222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0.023</a:t>
                      </a:r>
                      <a:br>
                        <a:rPr lang="en-US" sz="650" b="0" dirty="0">
                          <a:solidFill>
                            <a:schemeClr val="tx1"/>
                          </a:solidFill>
                          <a:latin typeface="Aptos" panose="020B0004020202020204" pitchFamily="34" charset="0"/>
                        </a:rPr>
                      </a:br>
                      <a:r>
                        <a:rPr lang="en-US" sz="650" b="0" dirty="0">
                          <a:solidFill>
                            <a:schemeClr val="tx1"/>
                          </a:solidFill>
                          <a:latin typeface="Aptos" panose="020B0004020202020204" pitchFamily="34" charset="0"/>
                        </a:rPr>
                        <a:t>[222045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23066]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9.25 </a:t>
                      </a:r>
                      <a:r>
                        <a:rPr lang="en-US" sz="650" dirty="0">
                          <a:solidFill>
                            <a:schemeClr val="tx1"/>
                          </a:solidFill>
                          <a:latin typeface="Aptos" panose="020B0004020202020204" pitchFamily="34" charset="0"/>
                        </a:rPr>
                        <a:t>± </a:t>
                      </a:r>
                      <a:r>
                        <a:rPr lang="en-US" sz="650" b="0" dirty="0">
                          <a:solidFill>
                            <a:schemeClr val="tx1"/>
                          </a:solidFill>
                          <a:latin typeface="Aptos" panose="020B0004020202020204" pitchFamily="34" charset="0"/>
                        </a:rPr>
                        <a:t>1.4</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5.3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0.9</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55.6 </a:t>
                      </a:r>
                      <a:r>
                        <a:rPr lang="en-US" sz="650" dirty="0">
                          <a:solidFill>
                            <a:schemeClr val="tx1"/>
                          </a:solidFill>
                          <a:latin typeface="Aptos" panose="020B0004020202020204" pitchFamily="34" charset="0"/>
                        </a:rPr>
                        <a:t>± </a:t>
                      </a:r>
                      <a:r>
                        <a:rPr lang="en-US" sz="650" dirty="0">
                          <a:latin typeface="Aptos" panose="020B0004020202020204" pitchFamily="34" charset="0"/>
                        </a:rPr>
                        <a:t>11.4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381.5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67.2</a:t>
                      </a:r>
                    </a:p>
                  </a:txBody>
                  <a:tcPr/>
                </a:tc>
                <a:extLst>
                  <a:ext uri="{0D108BD9-81ED-4DB2-BD59-A6C34878D82A}">
                    <a16:rowId xmlns:a16="http://schemas.microsoft.com/office/drawing/2014/main" val="216908256"/>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B608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0.284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[284286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28314]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6.7 </a:t>
                      </a:r>
                      <a:r>
                        <a:rPr lang="en-US" sz="650" dirty="0">
                          <a:solidFill>
                            <a:schemeClr val="tx1"/>
                          </a:solidFill>
                          <a:latin typeface="Aptos" panose="020B0004020202020204" pitchFamily="34" charset="0"/>
                        </a:rPr>
                        <a:t>± </a:t>
                      </a:r>
                      <a:r>
                        <a:rPr lang="en-US" sz="650" b="0" dirty="0">
                          <a:solidFill>
                            <a:schemeClr val="tx1"/>
                          </a:solidFill>
                          <a:latin typeface="Aptos" panose="020B0004020202020204" pitchFamily="34" charset="0"/>
                        </a:rPr>
                        <a:t>1.2</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6.1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1.0</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26.0 </a:t>
                      </a:r>
                      <a:r>
                        <a:rPr lang="en-US" sz="650" dirty="0">
                          <a:solidFill>
                            <a:schemeClr val="tx1"/>
                          </a:solidFill>
                          <a:latin typeface="Aptos" panose="020B0004020202020204" pitchFamily="34" charset="0"/>
                        </a:rPr>
                        <a:t>± </a:t>
                      </a:r>
                      <a:r>
                        <a:rPr lang="en-US" sz="650" dirty="0">
                          <a:latin typeface="Aptos" panose="020B0004020202020204" pitchFamily="34" charset="0"/>
                        </a:rPr>
                        <a:t>4.3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343.7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38.3</a:t>
                      </a:r>
                    </a:p>
                  </a:txBody>
                  <a:tcPr/>
                </a:tc>
                <a:extLst>
                  <a:ext uri="{0D108BD9-81ED-4DB2-BD59-A6C34878D82A}">
                    <a16:rowId xmlns:a16="http://schemas.microsoft.com/office/drawing/2014/main" val="1620582310"/>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Hemp B610 Yarn</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0.230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0.051</a:t>
                      </a:r>
                      <a:br>
                        <a:rPr lang="en-US" sz="650" b="0" dirty="0">
                          <a:solidFill>
                            <a:schemeClr val="tx1"/>
                          </a:solidFill>
                          <a:latin typeface="Aptos" panose="020B0004020202020204" pitchFamily="34" charset="0"/>
                        </a:rPr>
                      </a:br>
                      <a:r>
                        <a:rPr lang="en-US" sz="650" b="0" dirty="0">
                          <a:solidFill>
                            <a:schemeClr val="tx1"/>
                          </a:solidFill>
                          <a:latin typeface="Aptos" panose="020B0004020202020204" pitchFamily="34" charset="0"/>
                        </a:rPr>
                        <a:t>[230273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51278]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5.7 </a:t>
                      </a:r>
                      <a:r>
                        <a:rPr lang="en-US" sz="650" dirty="0">
                          <a:solidFill>
                            <a:schemeClr val="tx1"/>
                          </a:solidFill>
                          <a:latin typeface="Aptos" panose="020B0004020202020204" pitchFamily="34" charset="0"/>
                        </a:rPr>
                        <a:t>± </a:t>
                      </a:r>
                      <a:r>
                        <a:rPr lang="en-US" sz="650" b="0" dirty="0">
                          <a:solidFill>
                            <a:schemeClr val="tx1"/>
                          </a:solidFill>
                          <a:latin typeface="Aptos" panose="020B0004020202020204" pitchFamily="34" charset="0"/>
                        </a:rPr>
                        <a:t>1.3</a:t>
                      </a:r>
                    </a:p>
                    <a:p>
                      <a:endParaRPr lang="en-US" sz="65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8.7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3.6</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24.5 </a:t>
                      </a:r>
                      <a:r>
                        <a:rPr lang="en-US" sz="650" dirty="0">
                          <a:solidFill>
                            <a:schemeClr val="tx1"/>
                          </a:solidFill>
                          <a:latin typeface="Aptos" panose="020B0004020202020204" pitchFamily="34" charset="0"/>
                        </a:rPr>
                        <a:t>± </a:t>
                      </a:r>
                      <a:r>
                        <a:rPr lang="en-US" sz="650" dirty="0">
                          <a:latin typeface="Aptos" panose="020B0004020202020204" pitchFamily="34" charset="0"/>
                        </a:rPr>
                        <a:t>7.3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Aptos" panose="020B0004020202020204" pitchFamily="34" charset="0"/>
                        </a:rPr>
                        <a:t>310.7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103.7</a:t>
                      </a:r>
                    </a:p>
                  </a:txBody>
                  <a:tcPr/>
                </a:tc>
                <a:extLst>
                  <a:ext uri="{0D108BD9-81ED-4DB2-BD59-A6C34878D82A}">
                    <a16:rowId xmlns:a16="http://schemas.microsoft.com/office/drawing/2014/main" val="3442376477"/>
                  </a:ext>
                </a:extLst>
              </a:tr>
              <a:tr h="3046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50" b="1" dirty="0" err="1">
                          <a:solidFill>
                            <a:schemeClr val="tx1"/>
                          </a:solidFill>
                          <a:latin typeface="Aptos" panose="020B0004020202020204" pitchFamily="34" charset="0"/>
                        </a:rPr>
                        <a:t>EnviroTexiles</a:t>
                      </a:r>
                      <a:r>
                        <a:rPr lang="en-US" sz="650" b="1" dirty="0">
                          <a:solidFill>
                            <a:schemeClr val="tx1"/>
                          </a:solidFill>
                          <a:latin typeface="Aptos" panose="020B0004020202020204" pitchFamily="34" charset="0"/>
                        </a:rPr>
                        <a:t> 100% Hemp Yarn</a:t>
                      </a:r>
                    </a:p>
                    <a:p>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0.295</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0.340</a:t>
                      </a:r>
                    </a:p>
                    <a:p>
                      <a:r>
                        <a:rPr lang="en-US" sz="650" dirty="0">
                          <a:latin typeface="Aptos" panose="020B0004020202020204" pitchFamily="34" charset="0"/>
                        </a:rPr>
                        <a:t>[295023</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33508]</a:t>
                      </a:r>
                      <a:endParaRPr lang="en-US" sz="650" dirty="0">
                        <a:latin typeface="Aptos" panose="020B0004020202020204" pitchFamily="34" charset="0"/>
                      </a:endParaRPr>
                    </a:p>
                  </a:txBody>
                  <a:tcPr/>
                </a:tc>
                <a:tc>
                  <a:txBody>
                    <a:bodyPr/>
                    <a:lstStyle/>
                    <a:p>
                      <a:r>
                        <a:rPr lang="en-US" sz="650" dirty="0">
                          <a:latin typeface="Aptos" panose="020B0004020202020204" pitchFamily="34" charset="0"/>
                        </a:rPr>
                        <a:t>4.1</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0.8</a:t>
                      </a:r>
                    </a:p>
                  </a:txBody>
                  <a:tcPr/>
                </a:tc>
                <a:tc>
                  <a:txBody>
                    <a:bodyPr/>
                    <a:lstStyle/>
                    <a:p>
                      <a:r>
                        <a:rPr lang="en-US" sz="650" dirty="0">
                          <a:latin typeface="Aptos" panose="020B0004020202020204" pitchFamily="34" charset="0"/>
                        </a:rPr>
                        <a:t>10.3</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2.1</a:t>
                      </a:r>
                    </a:p>
                  </a:txBody>
                  <a:tcPr/>
                </a:tc>
                <a:tc>
                  <a:txBody>
                    <a:bodyPr/>
                    <a:lstStyle/>
                    <a:p>
                      <a:r>
                        <a:rPr lang="en-US" sz="650" dirty="0">
                          <a:latin typeface="Aptos" panose="020B0004020202020204" pitchFamily="34" charset="0"/>
                        </a:rPr>
                        <a:t>32.4</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a:t>
                      </a:r>
                      <a:r>
                        <a:rPr lang="en-US" sz="650" dirty="0">
                          <a:latin typeface="Aptos" panose="020B0004020202020204" pitchFamily="34" charset="0"/>
                        </a:rPr>
                        <a:t>13.2</a:t>
                      </a:r>
                    </a:p>
                  </a:txBody>
                  <a:tcPr/>
                </a:tc>
                <a:tc>
                  <a:txBody>
                    <a:bodyPr/>
                    <a:lstStyle/>
                    <a:p>
                      <a:r>
                        <a:rPr lang="en-US" sz="650" dirty="0">
                          <a:latin typeface="Aptos" panose="020B0004020202020204" pitchFamily="34" charset="0"/>
                        </a:rPr>
                        <a:t>378.0 </a:t>
                      </a:r>
                      <a:r>
                        <a:rPr lang="en-US" sz="650" b="0" dirty="0">
                          <a:solidFill>
                            <a:schemeClr val="tx1"/>
                          </a:solidFill>
                          <a:latin typeface="Aptos" panose="020B0004020202020204" pitchFamily="34" charset="0"/>
                        </a:rPr>
                        <a:t> </a:t>
                      </a:r>
                      <a:r>
                        <a:rPr lang="en-US" sz="650" dirty="0">
                          <a:solidFill>
                            <a:schemeClr val="tx1"/>
                          </a:solidFill>
                          <a:latin typeface="Aptos" panose="020B0004020202020204" pitchFamily="34" charset="0"/>
                        </a:rPr>
                        <a:t>±</a:t>
                      </a:r>
                      <a:r>
                        <a:rPr lang="en-US" sz="650" b="0" dirty="0">
                          <a:solidFill>
                            <a:schemeClr val="tx1"/>
                          </a:solidFill>
                          <a:latin typeface="Aptos" panose="020B0004020202020204" pitchFamily="34" charset="0"/>
                        </a:rPr>
                        <a:t> 101.4</a:t>
                      </a:r>
                      <a:endParaRPr lang="en-US" sz="650" dirty="0">
                        <a:latin typeface="Aptos" panose="020B0004020202020204" pitchFamily="34" charset="0"/>
                      </a:endParaRPr>
                    </a:p>
                  </a:txBody>
                  <a:tcPr/>
                </a:tc>
                <a:extLst>
                  <a:ext uri="{0D108BD9-81ED-4DB2-BD59-A6C34878D82A}">
                    <a16:rowId xmlns:a16="http://schemas.microsoft.com/office/drawing/2014/main" val="2253206057"/>
                  </a:ext>
                </a:extLst>
              </a:tr>
            </a:tbl>
          </a:graphicData>
        </a:graphic>
      </p:graphicFrame>
      <p:graphicFrame>
        <p:nvGraphicFramePr>
          <p:cNvPr id="5" name="Table 4">
            <a:extLst>
              <a:ext uri="{FF2B5EF4-FFF2-40B4-BE49-F238E27FC236}">
                <a16:creationId xmlns:a16="http://schemas.microsoft.com/office/drawing/2014/main" id="{09BF60F9-A23F-9025-EEEC-F20B4D952AA7}"/>
              </a:ext>
            </a:extLst>
          </p:cNvPr>
          <p:cNvGraphicFramePr>
            <a:graphicFrameLocks noGrp="1"/>
          </p:cNvGraphicFramePr>
          <p:nvPr/>
        </p:nvGraphicFramePr>
        <p:xfrm>
          <a:off x="1545021" y="2275375"/>
          <a:ext cx="3957240" cy="2864184"/>
        </p:xfrm>
        <a:graphic>
          <a:graphicData uri="http://schemas.openxmlformats.org/drawingml/2006/table">
            <a:tbl>
              <a:tblPr firstRow="1" bandRow="1">
                <a:tableStyleId>{E8B1032C-EA38-4F05-BA0D-38AFFFC7BED3}</a:tableStyleId>
              </a:tblPr>
              <a:tblGrid>
                <a:gridCol w="989310">
                  <a:extLst>
                    <a:ext uri="{9D8B030D-6E8A-4147-A177-3AD203B41FA5}">
                      <a16:colId xmlns:a16="http://schemas.microsoft.com/office/drawing/2014/main" val="3846826028"/>
                    </a:ext>
                  </a:extLst>
                </a:gridCol>
                <a:gridCol w="989310">
                  <a:extLst>
                    <a:ext uri="{9D8B030D-6E8A-4147-A177-3AD203B41FA5}">
                      <a16:colId xmlns:a16="http://schemas.microsoft.com/office/drawing/2014/main" val="3025799011"/>
                    </a:ext>
                  </a:extLst>
                </a:gridCol>
                <a:gridCol w="989310">
                  <a:extLst>
                    <a:ext uri="{9D8B030D-6E8A-4147-A177-3AD203B41FA5}">
                      <a16:colId xmlns:a16="http://schemas.microsoft.com/office/drawing/2014/main" val="1390915351"/>
                    </a:ext>
                  </a:extLst>
                </a:gridCol>
                <a:gridCol w="989310">
                  <a:extLst>
                    <a:ext uri="{9D8B030D-6E8A-4147-A177-3AD203B41FA5}">
                      <a16:colId xmlns:a16="http://schemas.microsoft.com/office/drawing/2014/main" val="3489509960"/>
                    </a:ext>
                  </a:extLst>
                </a:gridCol>
              </a:tblGrid>
              <a:tr h="346220">
                <a:tc>
                  <a:txBody>
                    <a:bodyPr/>
                    <a:lstStyle/>
                    <a:p>
                      <a:r>
                        <a:rPr lang="en-US" sz="800" b="1" dirty="0">
                          <a:latin typeface="Aptos" panose="020B0004020202020204" pitchFamily="34" charset="0"/>
                        </a:rPr>
                        <a:t>Individual Fiber Sample &amp; Notes</a:t>
                      </a:r>
                    </a:p>
                  </a:txBody>
                  <a:tcPr/>
                </a:tc>
                <a:tc>
                  <a:txBody>
                    <a:bodyPr/>
                    <a:lstStyle/>
                    <a:p>
                      <a:r>
                        <a:rPr lang="en-US" sz="800" b="1" dirty="0">
                          <a:latin typeface="Aptos" panose="020B0004020202020204" pitchFamily="34" charset="0"/>
                        </a:rPr>
                        <a:t>Tensile Strength (MPa)</a:t>
                      </a:r>
                    </a:p>
                  </a:txBody>
                  <a:tcPr/>
                </a:tc>
                <a:tc>
                  <a:txBody>
                    <a:bodyPr/>
                    <a:lstStyle/>
                    <a:p>
                      <a:r>
                        <a:rPr lang="en-US" sz="800" b="1" dirty="0">
                          <a:latin typeface="Aptos" panose="020B0004020202020204" pitchFamily="34" charset="0"/>
                        </a:rPr>
                        <a:t>% Elongation at Break</a:t>
                      </a:r>
                    </a:p>
                  </a:txBody>
                  <a:tcPr/>
                </a:tc>
                <a:tc>
                  <a:txBody>
                    <a:bodyPr/>
                    <a:lstStyle/>
                    <a:p>
                      <a:r>
                        <a:rPr lang="en-US" sz="800" b="1" dirty="0">
                          <a:latin typeface="Aptos" panose="020B0004020202020204" pitchFamily="34" charset="0"/>
                        </a:rPr>
                        <a:t>Young’s Modulus (</a:t>
                      </a:r>
                      <a:r>
                        <a:rPr lang="en-US" sz="800" b="1" dirty="0" err="1">
                          <a:latin typeface="Aptos" panose="020B0004020202020204" pitchFamily="34" charset="0"/>
                        </a:rPr>
                        <a:t>GPa</a:t>
                      </a:r>
                      <a:r>
                        <a:rPr lang="en-US" sz="800" b="1" dirty="0">
                          <a:latin typeface="Aptos" panose="020B0004020202020204" pitchFamily="34" charset="0"/>
                        </a:rPr>
                        <a:t>)</a:t>
                      </a:r>
                    </a:p>
                  </a:txBody>
                  <a:tcPr/>
                </a:tc>
                <a:extLst>
                  <a:ext uri="{0D108BD9-81ED-4DB2-BD59-A6C34878D82A}">
                    <a16:rowId xmlns:a16="http://schemas.microsoft.com/office/drawing/2014/main" val="2468352496"/>
                  </a:ext>
                </a:extLst>
              </a:tr>
              <a:tr h="346220">
                <a:tc>
                  <a:txBody>
                    <a:bodyPr/>
                    <a:lstStyle/>
                    <a:p>
                      <a:r>
                        <a:rPr lang="en-US" sz="800" b="1" dirty="0">
                          <a:latin typeface="Aptos" panose="020B0004020202020204" pitchFamily="34" charset="0"/>
                        </a:rPr>
                        <a:t>ET Hemp B608</a:t>
                      </a:r>
                    </a:p>
                  </a:txBody>
                  <a:tcPr/>
                </a:tc>
                <a:tc>
                  <a:txBody>
                    <a:bodyPr/>
                    <a:lstStyle/>
                    <a:p>
                      <a:r>
                        <a:rPr lang="en-US" sz="800" dirty="0">
                          <a:latin typeface="Aptos" panose="020B0004020202020204" pitchFamily="34" charset="0"/>
                        </a:rPr>
                        <a:t>800.4 ± 366.4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ptos" panose="020B0004020202020204" pitchFamily="34" charset="0"/>
                        </a:rPr>
                        <a:t>3.0 ± 0.4</a:t>
                      </a:r>
                    </a:p>
                    <a:p>
                      <a:endParaRPr lang="en-US" sz="80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ptos" panose="020B0004020202020204" pitchFamily="34" charset="0"/>
                        </a:rPr>
                        <a:t>35.1 ±  1.7</a:t>
                      </a:r>
                    </a:p>
                    <a:p>
                      <a:endParaRPr lang="en-US" sz="800" dirty="0">
                        <a:latin typeface="Aptos" panose="020B0004020202020204" pitchFamily="34" charset="0"/>
                      </a:endParaRPr>
                    </a:p>
                  </a:txBody>
                  <a:tcPr/>
                </a:tc>
                <a:extLst>
                  <a:ext uri="{0D108BD9-81ED-4DB2-BD59-A6C34878D82A}">
                    <a16:rowId xmlns:a16="http://schemas.microsoft.com/office/drawing/2014/main" val="1719607480"/>
                  </a:ext>
                </a:extLst>
              </a:tr>
              <a:tr h="220322">
                <a:tc>
                  <a:txBody>
                    <a:bodyPr/>
                    <a:lstStyle/>
                    <a:p>
                      <a:r>
                        <a:rPr lang="en-US" sz="800" b="1" dirty="0" err="1">
                          <a:latin typeface="Aptos" panose="020B0004020202020204" pitchFamily="34" charset="0"/>
                        </a:rPr>
                        <a:t>BComp</a:t>
                      </a:r>
                      <a:r>
                        <a:rPr lang="en-US" sz="800" b="1" dirty="0">
                          <a:latin typeface="Aptos" panose="020B0004020202020204" pitchFamily="34" charset="0"/>
                        </a:rPr>
                        <a:t> Flax</a:t>
                      </a:r>
                    </a:p>
                  </a:txBody>
                  <a:tcPr/>
                </a:tc>
                <a:tc>
                  <a:txBody>
                    <a:bodyPr/>
                    <a:lstStyle/>
                    <a:p>
                      <a:r>
                        <a:rPr lang="en-US" sz="800" dirty="0">
                          <a:latin typeface="Aptos" panose="020B0004020202020204" pitchFamily="34" charset="0"/>
                        </a:rPr>
                        <a:t>880.2 ±  596.3</a:t>
                      </a:r>
                    </a:p>
                  </a:txBody>
                  <a:tcPr/>
                </a:tc>
                <a:tc>
                  <a:txBody>
                    <a:bodyPr/>
                    <a:lstStyle/>
                    <a:p>
                      <a:r>
                        <a:rPr lang="en-US" sz="800" dirty="0">
                          <a:latin typeface="Aptos" panose="020B0004020202020204" pitchFamily="34" charset="0"/>
                        </a:rPr>
                        <a:t>2.4 ± 0.8</a:t>
                      </a:r>
                    </a:p>
                  </a:txBody>
                  <a:tcPr/>
                </a:tc>
                <a:tc>
                  <a:txBody>
                    <a:bodyPr/>
                    <a:lstStyle/>
                    <a:p>
                      <a:r>
                        <a:rPr lang="en-US" sz="800" dirty="0">
                          <a:latin typeface="Aptos" panose="020B0004020202020204" pitchFamily="34" charset="0"/>
                        </a:rPr>
                        <a:t>42.1 ±  21.7</a:t>
                      </a:r>
                    </a:p>
                  </a:txBody>
                  <a:tcPr/>
                </a:tc>
                <a:extLst>
                  <a:ext uri="{0D108BD9-81ED-4DB2-BD59-A6C34878D82A}">
                    <a16:rowId xmlns:a16="http://schemas.microsoft.com/office/drawing/2014/main" val="4040121969"/>
                  </a:ext>
                </a:extLst>
              </a:tr>
              <a:tr h="346220">
                <a:tc>
                  <a:txBody>
                    <a:bodyPr/>
                    <a:lstStyle/>
                    <a:p>
                      <a:r>
                        <a:rPr lang="en-US" sz="800" b="1" dirty="0">
                          <a:latin typeface="Aptos" panose="020B0004020202020204" pitchFamily="34" charset="0"/>
                        </a:rPr>
                        <a:t>Hemp 1(Bleached)</a:t>
                      </a:r>
                    </a:p>
                  </a:txBody>
                  <a:tcPr/>
                </a:tc>
                <a:tc>
                  <a:txBody>
                    <a:bodyPr/>
                    <a:lstStyle/>
                    <a:p>
                      <a:r>
                        <a:rPr lang="en-US" sz="800" dirty="0">
                          <a:latin typeface="Aptos" panose="020B0004020202020204" pitchFamily="34" charset="0"/>
                        </a:rPr>
                        <a:t>518.1 ± 318.3</a:t>
                      </a:r>
                    </a:p>
                  </a:txBody>
                  <a:tcPr/>
                </a:tc>
                <a:tc>
                  <a:txBody>
                    <a:bodyPr/>
                    <a:lstStyle/>
                    <a:p>
                      <a:r>
                        <a:rPr lang="en-US" sz="800" dirty="0">
                          <a:latin typeface="Aptos" panose="020B0004020202020204" pitchFamily="34" charset="0"/>
                        </a:rPr>
                        <a:t>3.0 ± 0.4</a:t>
                      </a:r>
                    </a:p>
                  </a:txBody>
                  <a:tcPr/>
                </a:tc>
                <a:tc>
                  <a:txBody>
                    <a:bodyPr/>
                    <a:lstStyle/>
                    <a:p>
                      <a:r>
                        <a:rPr lang="en-US" sz="800" dirty="0">
                          <a:latin typeface="Aptos" panose="020B0004020202020204" pitchFamily="34" charset="0"/>
                        </a:rPr>
                        <a:t>20.7 ± 11.3</a:t>
                      </a:r>
                    </a:p>
                  </a:txBody>
                  <a:tcPr/>
                </a:tc>
                <a:extLst>
                  <a:ext uri="{0D108BD9-81ED-4DB2-BD59-A6C34878D82A}">
                    <a16:rowId xmlns:a16="http://schemas.microsoft.com/office/drawing/2014/main" val="3833526046"/>
                  </a:ext>
                </a:extLst>
              </a:tr>
              <a:tr h="346220">
                <a:tc>
                  <a:txBody>
                    <a:bodyPr/>
                    <a:lstStyle/>
                    <a:p>
                      <a:r>
                        <a:rPr lang="en-US" sz="800" b="1" dirty="0">
                          <a:latin typeface="Aptos" panose="020B0004020202020204" pitchFamily="34" charset="0"/>
                        </a:rPr>
                        <a:t>A&amp;P Braided Flax</a:t>
                      </a:r>
                    </a:p>
                  </a:txBody>
                  <a:tcPr/>
                </a:tc>
                <a:tc>
                  <a:txBody>
                    <a:bodyPr/>
                    <a:lstStyle/>
                    <a:p>
                      <a:r>
                        <a:rPr lang="en-US" sz="800" dirty="0">
                          <a:latin typeface="Aptos" panose="020B0004020202020204" pitchFamily="34" charset="0"/>
                        </a:rPr>
                        <a:t>906 ± 768.5</a:t>
                      </a:r>
                    </a:p>
                  </a:txBody>
                  <a:tcPr/>
                </a:tc>
                <a:tc>
                  <a:txBody>
                    <a:bodyPr/>
                    <a:lstStyle/>
                    <a:p>
                      <a:r>
                        <a:rPr lang="en-US" sz="800" dirty="0">
                          <a:latin typeface="Aptos" panose="020B0004020202020204" pitchFamily="34" charset="0"/>
                        </a:rPr>
                        <a:t>2.0 ±  1.0</a:t>
                      </a:r>
                    </a:p>
                  </a:txBody>
                  <a:tcPr/>
                </a:tc>
                <a:tc>
                  <a:txBody>
                    <a:bodyPr/>
                    <a:lstStyle/>
                    <a:p>
                      <a:r>
                        <a:rPr lang="en-US" sz="800" dirty="0">
                          <a:latin typeface="Aptos" panose="020B0004020202020204" pitchFamily="34" charset="0"/>
                        </a:rPr>
                        <a:t>52.9 ± 27.2</a:t>
                      </a:r>
                    </a:p>
                  </a:txBody>
                  <a:tcPr/>
                </a:tc>
                <a:extLst>
                  <a:ext uri="{0D108BD9-81ED-4DB2-BD59-A6C34878D82A}">
                    <a16:rowId xmlns:a16="http://schemas.microsoft.com/office/drawing/2014/main" val="381590094"/>
                  </a:ext>
                </a:extLst>
              </a:tr>
              <a:tr h="34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latin typeface="Aptos" panose="020B0004020202020204" pitchFamily="34" charset="0"/>
                        </a:rPr>
                        <a:t>ET Hemp B607</a:t>
                      </a:r>
                    </a:p>
                    <a:p>
                      <a:endParaRPr lang="en-US" sz="800" b="1" dirty="0">
                        <a:latin typeface="Aptos" panose="020B0004020202020204" pitchFamily="34" charset="0"/>
                      </a:endParaRPr>
                    </a:p>
                  </a:txBody>
                  <a:tcPr/>
                </a:tc>
                <a:tc>
                  <a:txBody>
                    <a:bodyPr/>
                    <a:lstStyle/>
                    <a:p>
                      <a:r>
                        <a:rPr lang="en-US" sz="800" dirty="0">
                          <a:latin typeface="Aptos" panose="020B0004020202020204" pitchFamily="34" charset="0"/>
                        </a:rPr>
                        <a:t>492.6 ± 233.6</a:t>
                      </a:r>
                    </a:p>
                  </a:txBody>
                  <a:tcPr/>
                </a:tc>
                <a:tc>
                  <a:txBody>
                    <a:bodyPr/>
                    <a:lstStyle/>
                    <a:p>
                      <a:r>
                        <a:rPr lang="en-US" sz="800" dirty="0">
                          <a:latin typeface="Aptos" panose="020B0004020202020204" pitchFamily="34" charset="0"/>
                        </a:rPr>
                        <a:t>4.4 ± 1.5</a:t>
                      </a:r>
                    </a:p>
                  </a:txBody>
                  <a:tcPr/>
                </a:tc>
                <a:tc>
                  <a:txBody>
                    <a:bodyPr/>
                    <a:lstStyle/>
                    <a:p>
                      <a:r>
                        <a:rPr lang="en-US" sz="800" dirty="0">
                          <a:latin typeface="Aptos" panose="020B0004020202020204" pitchFamily="34" charset="0"/>
                        </a:rPr>
                        <a:t>15.8 ± 4.3</a:t>
                      </a:r>
                    </a:p>
                  </a:txBody>
                  <a:tcPr/>
                </a:tc>
                <a:extLst>
                  <a:ext uri="{0D108BD9-81ED-4DB2-BD59-A6C34878D82A}">
                    <a16:rowId xmlns:a16="http://schemas.microsoft.com/office/drawing/2014/main" val="2174100668"/>
                  </a:ext>
                </a:extLst>
              </a:tr>
              <a:tr h="346220">
                <a:tc>
                  <a:txBody>
                    <a:bodyPr/>
                    <a:lstStyle/>
                    <a:p>
                      <a:r>
                        <a:rPr lang="en-US" sz="800" b="1" dirty="0">
                          <a:solidFill>
                            <a:schemeClr val="tx1"/>
                          </a:solidFill>
                          <a:latin typeface="Aptos" panose="020B0004020202020204" pitchFamily="34" charset="0"/>
                        </a:rPr>
                        <a:t>ET 100% Hemp twill</a:t>
                      </a:r>
                    </a:p>
                  </a:txBody>
                  <a:tcPr/>
                </a:tc>
                <a:tc>
                  <a:txBody>
                    <a:bodyPr/>
                    <a:lstStyle/>
                    <a:p>
                      <a:r>
                        <a:rPr lang="en-US" sz="800" dirty="0">
                          <a:solidFill>
                            <a:schemeClr val="tx1"/>
                          </a:solidFill>
                          <a:latin typeface="Aptos" panose="020B0004020202020204" pitchFamily="34" charset="0"/>
                        </a:rPr>
                        <a:t>1238.5 ± 719.1</a:t>
                      </a:r>
                    </a:p>
                  </a:txBody>
                  <a:tcPr/>
                </a:tc>
                <a:tc>
                  <a:txBody>
                    <a:bodyPr/>
                    <a:lstStyle/>
                    <a:p>
                      <a:r>
                        <a:rPr lang="en-US" sz="800" dirty="0">
                          <a:solidFill>
                            <a:schemeClr val="tx1"/>
                          </a:solidFill>
                          <a:latin typeface="Aptos" panose="020B0004020202020204" pitchFamily="34" charset="0"/>
                        </a:rPr>
                        <a:t>3.2 ± 0.8</a:t>
                      </a:r>
                    </a:p>
                  </a:txBody>
                  <a:tcPr/>
                </a:tc>
                <a:tc>
                  <a:txBody>
                    <a:bodyPr/>
                    <a:lstStyle/>
                    <a:p>
                      <a:r>
                        <a:rPr lang="en-US" sz="800" dirty="0">
                          <a:solidFill>
                            <a:schemeClr val="tx1"/>
                          </a:solidFill>
                          <a:latin typeface="Aptos" panose="020B0004020202020204" pitchFamily="34" charset="0"/>
                        </a:rPr>
                        <a:t>47.5 ± 22.1</a:t>
                      </a:r>
                    </a:p>
                  </a:txBody>
                  <a:tcPr/>
                </a:tc>
                <a:extLst>
                  <a:ext uri="{0D108BD9-81ED-4DB2-BD59-A6C34878D82A}">
                    <a16:rowId xmlns:a16="http://schemas.microsoft.com/office/drawing/2014/main" val="185980164"/>
                  </a:ext>
                </a:extLst>
              </a:tr>
              <a:tr h="346220">
                <a:tc>
                  <a:txBody>
                    <a:bodyPr/>
                    <a:lstStyle/>
                    <a:p>
                      <a:r>
                        <a:rPr lang="en-US" sz="800" b="1" dirty="0">
                          <a:latin typeface="Aptos" panose="020B0004020202020204" pitchFamily="34" charset="0"/>
                        </a:rPr>
                        <a:t>Literature Hemp</a:t>
                      </a:r>
                    </a:p>
                    <a:p>
                      <a:endParaRPr lang="en-US" sz="800" b="1" dirty="0">
                        <a:latin typeface="Aptos" panose="020B0004020202020204" pitchFamily="34" charset="0"/>
                      </a:endParaRPr>
                    </a:p>
                  </a:txBody>
                  <a:tcPr/>
                </a:tc>
                <a:tc>
                  <a:txBody>
                    <a:bodyPr/>
                    <a:lstStyle/>
                    <a:p>
                      <a:r>
                        <a:rPr lang="en-US" sz="800" dirty="0">
                          <a:latin typeface="Aptos" panose="020B0004020202020204" pitchFamily="34" charset="0"/>
                        </a:rPr>
                        <a:t>~500-900</a:t>
                      </a:r>
                    </a:p>
                  </a:txBody>
                  <a:tcPr/>
                </a:tc>
                <a:tc>
                  <a:txBody>
                    <a:bodyPr/>
                    <a:lstStyle/>
                    <a:p>
                      <a:r>
                        <a:rPr lang="en-US" sz="800" dirty="0">
                          <a:latin typeface="Aptos" panose="020B0004020202020204" pitchFamily="34" charset="0"/>
                        </a:rPr>
                        <a:t>~1.2-3.5</a:t>
                      </a:r>
                    </a:p>
                  </a:txBody>
                  <a:tcPr/>
                </a:tc>
                <a:tc>
                  <a:txBody>
                    <a:bodyPr/>
                    <a:lstStyle/>
                    <a:p>
                      <a:r>
                        <a:rPr lang="en-US" sz="800" dirty="0">
                          <a:latin typeface="Aptos" panose="020B0004020202020204" pitchFamily="34" charset="0"/>
                        </a:rPr>
                        <a:t>~60</a:t>
                      </a:r>
                    </a:p>
                  </a:txBody>
                  <a:tcPr/>
                </a:tc>
                <a:extLst>
                  <a:ext uri="{0D108BD9-81ED-4DB2-BD59-A6C34878D82A}">
                    <a16:rowId xmlns:a16="http://schemas.microsoft.com/office/drawing/2014/main" val="499379408"/>
                  </a:ext>
                </a:extLst>
              </a:tr>
              <a:tr h="220322">
                <a:tc>
                  <a:txBody>
                    <a:bodyPr/>
                    <a:lstStyle/>
                    <a:p>
                      <a:r>
                        <a:rPr lang="en-US" sz="800" b="1" dirty="0">
                          <a:latin typeface="Aptos" panose="020B0004020202020204" pitchFamily="34" charset="0"/>
                        </a:rPr>
                        <a:t>Literature Flax</a:t>
                      </a:r>
                    </a:p>
                  </a:txBody>
                  <a:tcPr/>
                </a:tc>
                <a:tc>
                  <a:txBody>
                    <a:bodyPr/>
                    <a:lstStyle/>
                    <a:p>
                      <a:r>
                        <a:rPr lang="en-US" sz="800" dirty="0">
                          <a:latin typeface="Aptos" panose="020B0004020202020204" pitchFamily="34" charset="0"/>
                        </a:rPr>
                        <a:t>~340-1500</a:t>
                      </a:r>
                    </a:p>
                  </a:txBody>
                  <a:tcPr/>
                </a:tc>
                <a:tc>
                  <a:txBody>
                    <a:bodyPr/>
                    <a:lstStyle/>
                    <a:p>
                      <a:r>
                        <a:rPr lang="en-US" sz="800" dirty="0">
                          <a:latin typeface="Aptos" panose="020B0004020202020204" pitchFamily="34" charset="0"/>
                        </a:rPr>
                        <a:t>~1.2-3.2</a:t>
                      </a:r>
                    </a:p>
                  </a:txBody>
                  <a:tcPr/>
                </a:tc>
                <a:tc>
                  <a:txBody>
                    <a:bodyPr/>
                    <a:lstStyle/>
                    <a:p>
                      <a:r>
                        <a:rPr lang="en-US" sz="800" dirty="0">
                          <a:latin typeface="Aptos" panose="020B0004020202020204" pitchFamily="34" charset="0"/>
                        </a:rPr>
                        <a:t>~30-80</a:t>
                      </a:r>
                    </a:p>
                  </a:txBody>
                  <a:tcPr/>
                </a:tc>
                <a:extLst>
                  <a:ext uri="{0D108BD9-81ED-4DB2-BD59-A6C34878D82A}">
                    <a16:rowId xmlns:a16="http://schemas.microsoft.com/office/drawing/2014/main" val="1856457251"/>
                  </a:ext>
                </a:extLst>
              </a:tr>
            </a:tbl>
          </a:graphicData>
        </a:graphic>
      </p:graphicFrame>
      <p:pic>
        <p:nvPicPr>
          <p:cNvPr id="9" name="Picture 8">
            <a:extLst>
              <a:ext uri="{FF2B5EF4-FFF2-40B4-BE49-F238E27FC236}">
                <a16:creationId xmlns:a16="http://schemas.microsoft.com/office/drawing/2014/main" id="{37D210F8-4B96-FF24-7F9C-C6C5F809B82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3675" y="2275375"/>
            <a:ext cx="1191315" cy="1607924"/>
          </a:xfrm>
          <a:prstGeom prst="rect">
            <a:avLst/>
          </a:prstGeom>
        </p:spPr>
      </p:pic>
      <p:sp>
        <p:nvSpPr>
          <p:cNvPr id="13" name="TextBox 12">
            <a:extLst>
              <a:ext uri="{FF2B5EF4-FFF2-40B4-BE49-F238E27FC236}">
                <a16:creationId xmlns:a16="http://schemas.microsoft.com/office/drawing/2014/main" id="{9D4AD6BC-A272-ED9E-67D4-7F955B8FC629}"/>
              </a:ext>
            </a:extLst>
          </p:cNvPr>
          <p:cNvSpPr txBox="1"/>
          <p:nvPr/>
        </p:nvSpPr>
        <p:spPr>
          <a:xfrm>
            <a:off x="275840" y="3883299"/>
            <a:ext cx="1269181" cy="646331"/>
          </a:xfrm>
          <a:prstGeom prst="rect">
            <a:avLst/>
          </a:prstGeom>
          <a:noFill/>
        </p:spPr>
        <p:txBody>
          <a:bodyPr wrap="square" rtlCol="0">
            <a:spAutoFit/>
          </a:bodyPr>
          <a:lstStyle/>
          <a:p>
            <a:r>
              <a:rPr lang="en-US" sz="1200" dirty="0">
                <a:latin typeface="Aptos" panose="020B0004020202020204" pitchFamily="34" charset="0"/>
              </a:rPr>
              <a:t>Scale used to calculate linear density.</a:t>
            </a:r>
          </a:p>
        </p:txBody>
      </p:sp>
      <p:sp>
        <p:nvSpPr>
          <p:cNvPr id="6" name="TextBox 5">
            <a:extLst>
              <a:ext uri="{FF2B5EF4-FFF2-40B4-BE49-F238E27FC236}">
                <a16:creationId xmlns:a16="http://schemas.microsoft.com/office/drawing/2014/main" id="{E5A5A544-19A5-8470-A5CF-9256B6C6996A}"/>
              </a:ext>
            </a:extLst>
          </p:cNvPr>
          <p:cNvSpPr txBox="1"/>
          <p:nvPr/>
        </p:nvSpPr>
        <p:spPr>
          <a:xfrm>
            <a:off x="5638800" y="3000703"/>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74EEF3-02E9-6B32-3B5A-0D1695CF7DB8}"/>
                  </a:ext>
                </a:extLst>
              </p:cNvPr>
              <p:cNvSpPr txBox="1"/>
              <p:nvPr/>
            </p:nvSpPr>
            <p:spPr>
              <a:xfrm>
                <a:off x="120562" y="5281433"/>
                <a:ext cx="1818290" cy="5666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𝑡𝑒𝑥</m:t>
                      </m:r>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𝑔𝑟𝑎𝑚𝑠</m:t>
                          </m:r>
                        </m:num>
                        <m:den>
                          <m:r>
                            <a:rPr lang="en-US" i="1">
                              <a:latin typeface="Cambria Math" panose="02040503050406030204" pitchFamily="18" charset="0"/>
                            </a:rPr>
                            <m:t>𝑘𝑚</m:t>
                          </m:r>
                        </m:den>
                      </m:f>
                    </m:oMath>
                  </m:oMathPara>
                </a14:m>
                <a:endParaRPr lang="en-US" dirty="0"/>
              </a:p>
            </p:txBody>
          </p:sp>
        </mc:Choice>
        <mc:Fallback xmlns="">
          <p:sp>
            <p:nvSpPr>
              <p:cNvPr id="11" name="TextBox 10">
                <a:extLst>
                  <a:ext uri="{FF2B5EF4-FFF2-40B4-BE49-F238E27FC236}">
                    <a16:creationId xmlns:a16="http://schemas.microsoft.com/office/drawing/2014/main" id="{FE74EEF3-02E9-6B32-3B5A-0D1695CF7DB8}"/>
                  </a:ext>
                </a:extLst>
              </p:cNvPr>
              <p:cNvSpPr txBox="1">
                <a:spLocks noRot="1" noChangeAspect="1" noMove="1" noResize="1" noEditPoints="1" noAdjustHandles="1" noChangeArrowheads="1" noChangeShapeType="1" noTextEdit="1"/>
              </p:cNvSpPr>
              <p:nvPr/>
            </p:nvSpPr>
            <p:spPr>
              <a:xfrm>
                <a:off x="120562" y="5281433"/>
                <a:ext cx="1818290" cy="566694"/>
              </a:xfrm>
              <a:prstGeom prst="rect">
                <a:avLst/>
              </a:prstGeom>
              <a:blipFill>
                <a:blip r:embed="rId3"/>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8E7BBBA0-251F-071A-EA3B-93350680DB2D}"/>
              </a:ext>
            </a:extLst>
          </p:cNvPr>
          <p:cNvSpPr/>
          <p:nvPr/>
        </p:nvSpPr>
        <p:spPr>
          <a:xfrm>
            <a:off x="2065829" y="1752600"/>
            <a:ext cx="8060339" cy="2945936"/>
          </a:xfrm>
          <a:prstGeom prst="rect">
            <a:avLst/>
          </a:prstGeom>
          <a:solidFill>
            <a:srgbClr val="00CC99">
              <a:alpha val="85000"/>
            </a:srgbClr>
          </a:solidFill>
          <a:ln w="38100">
            <a:solidFill>
              <a:srgbClr val="00CC99"/>
            </a:solidFill>
          </a:ln>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8561585-BE0D-2F90-346B-E0A3BC2265A9}"/>
              </a:ext>
            </a:extLst>
          </p:cNvPr>
          <p:cNvSpPr txBox="1"/>
          <p:nvPr/>
        </p:nvSpPr>
        <p:spPr>
          <a:xfrm>
            <a:off x="1148343" y="1934733"/>
            <a:ext cx="9895309" cy="846386"/>
          </a:xfrm>
          <a:prstGeom prst="rect">
            <a:avLst/>
          </a:prstGeom>
          <a:noFill/>
        </p:spPr>
        <p:txBody>
          <a:bodyPr wrap="square" rtlCol="0">
            <a:spAutoFit/>
          </a:bodyPr>
          <a:lstStyle/>
          <a:p>
            <a:pPr algn="ctr"/>
            <a:r>
              <a:rPr lang="en-US" sz="2500" b="1" dirty="0">
                <a:latin typeface="Aptos" panose="020B0004020202020204" pitchFamily="34" charset="0"/>
              </a:rPr>
              <a:t>Number of Samples Tensile Tested</a:t>
            </a:r>
          </a:p>
          <a:p>
            <a:pPr algn="ctr"/>
            <a:r>
              <a:rPr lang="en-US" sz="1200" b="1" dirty="0">
                <a:latin typeface="Aptos" panose="020B0004020202020204" pitchFamily="34" charset="0"/>
              </a:rPr>
              <a:t>128 Individual Fibers, 134 Yarns</a:t>
            </a:r>
          </a:p>
          <a:p>
            <a:pPr algn="ctr"/>
            <a:r>
              <a:rPr lang="en-US" sz="1200" b="1" dirty="0">
                <a:latin typeface="Aptos" panose="020B0004020202020204" pitchFamily="34" charset="0"/>
              </a:rPr>
              <a:t>Totaling:</a:t>
            </a:r>
          </a:p>
        </p:txBody>
      </p:sp>
      <p:sp>
        <p:nvSpPr>
          <p:cNvPr id="14" name="TextBox 13">
            <a:extLst>
              <a:ext uri="{FF2B5EF4-FFF2-40B4-BE49-F238E27FC236}">
                <a16:creationId xmlns:a16="http://schemas.microsoft.com/office/drawing/2014/main" id="{C08D83F6-5E34-3B88-0E7F-BFF8EE8EFD78}"/>
              </a:ext>
            </a:extLst>
          </p:cNvPr>
          <p:cNvSpPr txBox="1"/>
          <p:nvPr/>
        </p:nvSpPr>
        <p:spPr>
          <a:xfrm>
            <a:off x="1358897" y="2486636"/>
            <a:ext cx="9474200" cy="2862322"/>
          </a:xfrm>
          <a:prstGeom prst="rect">
            <a:avLst/>
          </a:prstGeom>
          <a:noFill/>
        </p:spPr>
        <p:txBody>
          <a:bodyPr wrap="square" rtlCol="0">
            <a:spAutoFit/>
          </a:bodyPr>
          <a:lstStyle/>
          <a:p>
            <a:pPr algn="ctr"/>
            <a:r>
              <a:rPr lang="en-US" sz="9000" b="1" dirty="0">
                <a:latin typeface="Aptos" panose="020B0004020202020204" pitchFamily="34" charset="0"/>
              </a:rPr>
              <a:t>262 samples</a:t>
            </a:r>
          </a:p>
          <a:p>
            <a:endParaRPr lang="en-US" sz="9000" b="1" dirty="0">
              <a:latin typeface="Aptos" panose="020B0004020202020204" pitchFamily="34" charset="0"/>
            </a:endParaRPr>
          </a:p>
        </p:txBody>
      </p:sp>
    </p:spTree>
    <p:extLst>
      <p:ext uri="{BB962C8B-B14F-4D97-AF65-F5344CB8AC3E}">
        <p14:creationId xmlns:p14="http://schemas.microsoft.com/office/powerpoint/2010/main" val="3039633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1295A37-3F64-EF1C-4324-0C13AB5AC69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09671" y="3768036"/>
            <a:ext cx="2560503" cy="1442870"/>
          </a:xfrm>
          <a:prstGeom prst="rect">
            <a:avLst/>
          </a:prstGeom>
        </p:spPr>
      </p:pic>
      <p:sp>
        <p:nvSpPr>
          <p:cNvPr id="4" name="Slide Number Placeholder 3"/>
          <p:cNvSpPr>
            <a:spLocks noGrp="1"/>
          </p:cNvSpPr>
          <p:nvPr>
            <p:ph type="sldNum" sz="quarter" idx="12"/>
          </p:nvPr>
        </p:nvSpPr>
        <p:spPr/>
        <p:txBody>
          <a:bodyPr/>
          <a:lstStyle/>
          <a:p>
            <a:fld id="{224C0C37-3CEC-4CB4-B902-37F94E20E969}" type="slidenum">
              <a:rPr lang="en-US" smtClean="0"/>
              <a:pPr/>
              <a:t>12</a:t>
            </a:fld>
            <a:endParaRPr lang="en-US"/>
          </a:p>
        </p:txBody>
      </p:sp>
      <p:pic>
        <p:nvPicPr>
          <p:cNvPr id="9" name="Picture 8" descr="Chart&#10;&#10;AI-generated content may be incorrect.">
            <a:extLst>
              <a:ext uri="{FF2B5EF4-FFF2-40B4-BE49-F238E27FC236}">
                <a16:creationId xmlns:a16="http://schemas.microsoft.com/office/drawing/2014/main" id="{6CD6B988-DBFE-2635-3288-1445A9B57BF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621" t="3374" r="14655" b="2516"/>
          <a:stretch/>
        </p:blipFill>
        <p:spPr>
          <a:xfrm>
            <a:off x="195311" y="3088511"/>
            <a:ext cx="4637490" cy="2849167"/>
          </a:xfrm>
          <a:prstGeom prst="rect">
            <a:avLst/>
          </a:prstGeom>
        </p:spPr>
      </p:pic>
      <p:graphicFrame>
        <p:nvGraphicFramePr>
          <p:cNvPr id="11" name="Table 10">
            <a:extLst>
              <a:ext uri="{FF2B5EF4-FFF2-40B4-BE49-F238E27FC236}">
                <a16:creationId xmlns:a16="http://schemas.microsoft.com/office/drawing/2014/main" id="{9F74A94D-B64F-235E-07E8-FF7B838441FF}"/>
              </a:ext>
            </a:extLst>
          </p:cNvPr>
          <p:cNvGraphicFramePr>
            <a:graphicFrameLocks noGrp="1"/>
          </p:cNvGraphicFramePr>
          <p:nvPr>
            <p:extLst>
              <p:ext uri="{D42A27DB-BD31-4B8C-83A1-F6EECF244321}">
                <p14:modId xmlns:p14="http://schemas.microsoft.com/office/powerpoint/2010/main" val="3840019835"/>
              </p:ext>
            </p:extLst>
          </p:nvPr>
        </p:nvGraphicFramePr>
        <p:xfrm>
          <a:off x="3040375" y="3639148"/>
          <a:ext cx="4656430" cy="1645920"/>
        </p:xfrm>
        <a:graphic>
          <a:graphicData uri="http://schemas.openxmlformats.org/drawingml/2006/table">
            <a:tbl>
              <a:tblPr firstRow="1" bandRow="1">
                <a:tableStyleId>{616DA210-FB5B-4158-B5E0-FEB733F419BA}</a:tableStyleId>
              </a:tblPr>
              <a:tblGrid>
                <a:gridCol w="931286">
                  <a:extLst>
                    <a:ext uri="{9D8B030D-6E8A-4147-A177-3AD203B41FA5}">
                      <a16:colId xmlns:a16="http://schemas.microsoft.com/office/drawing/2014/main" val="3846826028"/>
                    </a:ext>
                  </a:extLst>
                </a:gridCol>
                <a:gridCol w="931286">
                  <a:extLst>
                    <a:ext uri="{9D8B030D-6E8A-4147-A177-3AD203B41FA5}">
                      <a16:colId xmlns:a16="http://schemas.microsoft.com/office/drawing/2014/main" val="3025799011"/>
                    </a:ext>
                  </a:extLst>
                </a:gridCol>
                <a:gridCol w="931286">
                  <a:extLst>
                    <a:ext uri="{9D8B030D-6E8A-4147-A177-3AD203B41FA5}">
                      <a16:colId xmlns:a16="http://schemas.microsoft.com/office/drawing/2014/main" val="1390915351"/>
                    </a:ext>
                  </a:extLst>
                </a:gridCol>
                <a:gridCol w="931286">
                  <a:extLst>
                    <a:ext uri="{9D8B030D-6E8A-4147-A177-3AD203B41FA5}">
                      <a16:colId xmlns:a16="http://schemas.microsoft.com/office/drawing/2014/main" val="3489509960"/>
                    </a:ext>
                  </a:extLst>
                </a:gridCol>
                <a:gridCol w="931286">
                  <a:extLst>
                    <a:ext uri="{9D8B030D-6E8A-4147-A177-3AD203B41FA5}">
                      <a16:colId xmlns:a16="http://schemas.microsoft.com/office/drawing/2014/main" val="2895094372"/>
                    </a:ext>
                  </a:extLst>
                </a:gridCol>
              </a:tblGrid>
              <a:tr h="405043">
                <a:tc>
                  <a:txBody>
                    <a:bodyPr/>
                    <a:lstStyle/>
                    <a:p>
                      <a:r>
                        <a:rPr lang="en-US" sz="1000" b="1" dirty="0">
                          <a:latin typeface="Aptos" panose="020B0004020202020204" pitchFamily="34" charset="0"/>
                        </a:rPr>
                        <a:t>Individual Fiber Sample</a:t>
                      </a:r>
                    </a:p>
                  </a:txBody>
                  <a:tcPr/>
                </a:tc>
                <a:tc>
                  <a:txBody>
                    <a:bodyPr/>
                    <a:lstStyle/>
                    <a:p>
                      <a:r>
                        <a:rPr lang="en-US" sz="1000" b="1" dirty="0">
                          <a:latin typeface="Aptos" panose="020B0004020202020204" pitchFamily="34" charset="0"/>
                        </a:rPr>
                        <a:t>Tensile Strength (MPa)</a:t>
                      </a:r>
                    </a:p>
                  </a:txBody>
                  <a:tcPr/>
                </a:tc>
                <a:tc>
                  <a:txBody>
                    <a:bodyPr/>
                    <a:lstStyle/>
                    <a:p>
                      <a:r>
                        <a:rPr lang="en-US" sz="1000" b="1" dirty="0">
                          <a:latin typeface="Aptos" panose="020B0004020202020204" pitchFamily="34" charset="0"/>
                        </a:rPr>
                        <a:t>% Elongation at Break</a:t>
                      </a:r>
                    </a:p>
                  </a:txBody>
                  <a:tcPr/>
                </a:tc>
                <a:tc>
                  <a:txBody>
                    <a:bodyPr/>
                    <a:lstStyle/>
                    <a:p>
                      <a:r>
                        <a:rPr lang="en-US" sz="1000" b="1" dirty="0">
                          <a:latin typeface="Aptos" panose="020B0004020202020204" pitchFamily="34" charset="0"/>
                        </a:rPr>
                        <a:t>Young’s Modulus (</a:t>
                      </a:r>
                      <a:r>
                        <a:rPr lang="en-US" sz="1000" b="1" dirty="0" err="1">
                          <a:latin typeface="Aptos" panose="020B0004020202020204" pitchFamily="34" charset="0"/>
                        </a:rPr>
                        <a:t>GPa</a:t>
                      </a:r>
                      <a:r>
                        <a:rPr lang="en-US" sz="1000" b="1" dirty="0">
                          <a:latin typeface="Aptos" panose="020B0004020202020204" pitchFamily="34" charset="0"/>
                        </a:rPr>
                        <a:t>)</a:t>
                      </a:r>
                    </a:p>
                  </a:txBody>
                  <a:tcPr/>
                </a:tc>
                <a:tc>
                  <a:txBody>
                    <a:bodyPr/>
                    <a:lstStyle/>
                    <a:p>
                      <a:r>
                        <a:rPr lang="en-US" sz="1000" b="1" dirty="0">
                          <a:latin typeface="Aptos" panose="020B0004020202020204" pitchFamily="34" charset="0"/>
                        </a:rPr>
                        <a:t>Toughness (MPa)</a:t>
                      </a:r>
                    </a:p>
                  </a:txBody>
                  <a:tcPr/>
                </a:tc>
                <a:extLst>
                  <a:ext uri="{0D108BD9-81ED-4DB2-BD59-A6C34878D82A}">
                    <a16:rowId xmlns:a16="http://schemas.microsoft.com/office/drawing/2014/main" val="2468352496"/>
                  </a:ext>
                </a:extLst>
              </a:tr>
              <a:tr h="405043">
                <a:tc>
                  <a:txBody>
                    <a:bodyPr/>
                    <a:lstStyle/>
                    <a:p>
                      <a:r>
                        <a:rPr lang="en-US" sz="1000" dirty="0">
                          <a:latin typeface="Aptos" panose="020B0004020202020204" pitchFamily="34" charset="0"/>
                        </a:rPr>
                        <a:t>1wt%BNNT + PAN</a:t>
                      </a:r>
                    </a:p>
                  </a:txBody>
                  <a:tcPr>
                    <a:solidFill>
                      <a:schemeClr val="accent5">
                        <a:lumMod val="40000"/>
                        <a:lumOff val="60000"/>
                        <a:alpha val="20000"/>
                      </a:schemeClr>
                    </a:solidFill>
                  </a:tcPr>
                </a:tc>
                <a:tc>
                  <a:txBody>
                    <a:bodyPr/>
                    <a:lstStyle/>
                    <a:p>
                      <a:r>
                        <a:rPr lang="en-US" sz="1000" dirty="0">
                          <a:latin typeface="Aptos" panose="020B0004020202020204" pitchFamily="34" charset="0"/>
                        </a:rPr>
                        <a:t>556.1 ± 48.9</a:t>
                      </a:r>
                    </a:p>
                  </a:txBody>
                  <a:tcPr>
                    <a:solidFill>
                      <a:schemeClr val="accent5">
                        <a:lumMod val="40000"/>
                        <a:lumOff val="60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7.8 ± 1.2</a:t>
                      </a:r>
                    </a:p>
                    <a:p>
                      <a:endParaRPr lang="en-US" sz="1000" dirty="0">
                        <a:latin typeface="Aptos" panose="020B0004020202020204" pitchFamily="34" charset="0"/>
                      </a:endParaRPr>
                    </a:p>
                  </a:txBody>
                  <a:tcPr>
                    <a:solidFill>
                      <a:schemeClr val="accent5">
                        <a:lumMod val="40000"/>
                        <a:lumOff val="60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12.5 ±  2.4</a:t>
                      </a:r>
                    </a:p>
                    <a:p>
                      <a:endParaRPr lang="en-US" sz="1000" dirty="0">
                        <a:latin typeface="Aptos" panose="020B0004020202020204" pitchFamily="34" charset="0"/>
                      </a:endParaRPr>
                    </a:p>
                  </a:txBody>
                  <a:tcPr>
                    <a:solidFill>
                      <a:schemeClr val="accent5">
                        <a:lumMod val="40000"/>
                        <a:lumOff val="60000"/>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248279.5 ± 40404.1</a:t>
                      </a:r>
                    </a:p>
                    <a:p>
                      <a:endParaRPr lang="en-US" sz="1000" dirty="0">
                        <a:latin typeface="Aptos" panose="020B0004020202020204" pitchFamily="34" charset="0"/>
                      </a:endParaRPr>
                    </a:p>
                  </a:txBody>
                  <a:tcPr>
                    <a:solidFill>
                      <a:schemeClr val="accent5">
                        <a:lumMod val="40000"/>
                        <a:lumOff val="60000"/>
                        <a:alpha val="20000"/>
                      </a:schemeClr>
                    </a:solidFill>
                  </a:tcPr>
                </a:tc>
                <a:extLst>
                  <a:ext uri="{0D108BD9-81ED-4DB2-BD59-A6C34878D82A}">
                    <a16:rowId xmlns:a16="http://schemas.microsoft.com/office/drawing/2014/main" val="1719607480"/>
                  </a:ext>
                </a:extLst>
              </a:tr>
              <a:tr h="405043">
                <a:tc>
                  <a:txBody>
                    <a:bodyPr/>
                    <a:lstStyle/>
                    <a:p>
                      <a:r>
                        <a:rPr lang="en-US" sz="1000" dirty="0">
                          <a:latin typeface="Aptos" panose="020B0004020202020204" pitchFamily="34" charset="0"/>
                        </a:rPr>
                        <a:t>PAN</a:t>
                      </a:r>
                    </a:p>
                  </a:txBody>
                  <a:tcPr>
                    <a:solidFill>
                      <a:schemeClr val="accent2">
                        <a:lumMod val="20000"/>
                        <a:lumOff val="80000"/>
                      </a:schemeClr>
                    </a:solidFill>
                  </a:tcPr>
                </a:tc>
                <a:tc>
                  <a:txBody>
                    <a:bodyPr/>
                    <a:lstStyle/>
                    <a:p>
                      <a:r>
                        <a:rPr lang="en-US" sz="1000" dirty="0">
                          <a:latin typeface="Aptos" panose="020B0004020202020204" pitchFamily="34" charset="0"/>
                        </a:rPr>
                        <a:t>428.3 ± 95.7</a:t>
                      </a:r>
                    </a:p>
                    <a:p>
                      <a:endParaRPr lang="en-US" sz="1000" dirty="0">
                        <a:latin typeface="Aptos" panose="020B0004020202020204" pitchFamily="34" charset="0"/>
                      </a:endParaRP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8.8 ± 1.4</a:t>
                      </a:r>
                    </a:p>
                    <a:p>
                      <a:endParaRPr lang="en-US" sz="1000" dirty="0">
                        <a:latin typeface="Aptos" panose="020B0004020202020204" pitchFamily="34" charset="0"/>
                      </a:endParaRP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7.1 ± 1.3</a:t>
                      </a:r>
                    </a:p>
                    <a:p>
                      <a:endParaRPr lang="en-US" sz="1000" dirty="0">
                        <a:latin typeface="Aptos" panose="020B0004020202020204" pitchFamily="34" charset="0"/>
                      </a:endParaRP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201274.9 ±  58573.8</a:t>
                      </a:r>
                    </a:p>
                    <a:p>
                      <a:endParaRPr lang="en-US" sz="1000" dirty="0">
                        <a:latin typeface="Aptos" panose="020B0004020202020204" pitchFamily="34" charset="0"/>
                      </a:endParaRPr>
                    </a:p>
                  </a:txBody>
                  <a:tcPr>
                    <a:solidFill>
                      <a:schemeClr val="accent2">
                        <a:lumMod val="20000"/>
                        <a:lumOff val="80000"/>
                      </a:schemeClr>
                    </a:solidFill>
                  </a:tcPr>
                </a:tc>
                <a:extLst>
                  <a:ext uri="{0D108BD9-81ED-4DB2-BD59-A6C34878D82A}">
                    <a16:rowId xmlns:a16="http://schemas.microsoft.com/office/drawing/2014/main" val="1140003551"/>
                  </a:ext>
                </a:extLst>
              </a:tr>
            </a:tbl>
          </a:graphicData>
        </a:graphic>
      </p:graphicFrame>
      <p:pic>
        <p:nvPicPr>
          <p:cNvPr id="12" name="Picture 11" descr="A picture containing white&#10;&#10;AI-generated content may be incorrect.">
            <a:extLst>
              <a:ext uri="{FF2B5EF4-FFF2-40B4-BE49-F238E27FC236}">
                <a16:creationId xmlns:a16="http://schemas.microsoft.com/office/drawing/2014/main" id="{238B638C-4251-ECE5-03DE-65A75D6BE73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34442" y="5385340"/>
            <a:ext cx="1586778" cy="1190083"/>
          </a:xfrm>
          <a:prstGeom prst="rect">
            <a:avLst/>
          </a:prstGeom>
        </p:spPr>
      </p:pic>
      <p:pic>
        <p:nvPicPr>
          <p:cNvPr id="13" name="Picture 12" descr="A close-up of a pen&#10;&#10;AI-generated content may be incorrect.">
            <a:extLst>
              <a:ext uri="{FF2B5EF4-FFF2-40B4-BE49-F238E27FC236}">
                <a16:creationId xmlns:a16="http://schemas.microsoft.com/office/drawing/2014/main" id="{A853F033-9C51-71B6-15EA-62AA9E4E6CA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59155" y="5386155"/>
            <a:ext cx="1586779" cy="1190085"/>
          </a:xfrm>
          <a:prstGeom prst="rect">
            <a:avLst/>
          </a:prstGeom>
        </p:spPr>
      </p:pic>
      <p:sp>
        <p:nvSpPr>
          <p:cNvPr id="14" name="TextBox 13">
            <a:extLst>
              <a:ext uri="{FF2B5EF4-FFF2-40B4-BE49-F238E27FC236}">
                <a16:creationId xmlns:a16="http://schemas.microsoft.com/office/drawing/2014/main" id="{4C1AA47A-14A7-7454-0AA8-90EEE2B9C88D}"/>
              </a:ext>
            </a:extLst>
          </p:cNvPr>
          <p:cNvSpPr txBox="1"/>
          <p:nvPr/>
        </p:nvSpPr>
        <p:spPr>
          <a:xfrm>
            <a:off x="3118494" y="5372369"/>
            <a:ext cx="1417946" cy="246221"/>
          </a:xfrm>
          <a:prstGeom prst="rect">
            <a:avLst/>
          </a:prstGeom>
          <a:noFill/>
        </p:spPr>
        <p:txBody>
          <a:bodyPr wrap="square" rtlCol="0">
            <a:spAutoFit/>
          </a:bodyPr>
          <a:lstStyle/>
          <a:p>
            <a:r>
              <a:rPr lang="en-US" sz="1000" dirty="0">
                <a:latin typeface="Aptos" panose="020B0004020202020204" pitchFamily="34" charset="0"/>
              </a:rPr>
              <a:t>1wt% BNNT PAN</a:t>
            </a:r>
          </a:p>
        </p:txBody>
      </p:sp>
      <p:sp>
        <p:nvSpPr>
          <p:cNvPr id="15" name="TextBox 14">
            <a:extLst>
              <a:ext uri="{FF2B5EF4-FFF2-40B4-BE49-F238E27FC236}">
                <a16:creationId xmlns:a16="http://schemas.microsoft.com/office/drawing/2014/main" id="{DB4FCD7B-EB02-5543-A7CA-50DD816069A0}"/>
              </a:ext>
            </a:extLst>
          </p:cNvPr>
          <p:cNvSpPr txBox="1"/>
          <p:nvPr/>
        </p:nvSpPr>
        <p:spPr>
          <a:xfrm>
            <a:off x="4794154" y="5353715"/>
            <a:ext cx="1090507" cy="246221"/>
          </a:xfrm>
          <a:prstGeom prst="rect">
            <a:avLst/>
          </a:prstGeom>
          <a:noFill/>
        </p:spPr>
        <p:txBody>
          <a:bodyPr wrap="square" rtlCol="0">
            <a:spAutoFit/>
          </a:bodyPr>
          <a:lstStyle/>
          <a:p>
            <a:r>
              <a:rPr lang="en-US" sz="1000" dirty="0">
                <a:latin typeface="Aptos" panose="020B0004020202020204" pitchFamily="34" charset="0"/>
              </a:rPr>
              <a:t>PAN</a:t>
            </a:r>
          </a:p>
        </p:txBody>
      </p:sp>
      <p:sp>
        <p:nvSpPr>
          <p:cNvPr id="16" name="TextBox 15">
            <a:extLst>
              <a:ext uri="{FF2B5EF4-FFF2-40B4-BE49-F238E27FC236}">
                <a16:creationId xmlns:a16="http://schemas.microsoft.com/office/drawing/2014/main" id="{4AE46BA8-DF7C-E07B-5004-7C862CEE785F}"/>
              </a:ext>
            </a:extLst>
          </p:cNvPr>
          <p:cNvSpPr txBox="1"/>
          <p:nvPr/>
        </p:nvSpPr>
        <p:spPr>
          <a:xfrm>
            <a:off x="3107343" y="6419962"/>
            <a:ext cx="2509337" cy="200055"/>
          </a:xfrm>
          <a:prstGeom prst="rect">
            <a:avLst/>
          </a:prstGeom>
          <a:noFill/>
        </p:spPr>
        <p:txBody>
          <a:bodyPr wrap="square" rtlCol="0">
            <a:spAutoFit/>
          </a:bodyPr>
          <a:lstStyle/>
          <a:p>
            <a:r>
              <a:rPr lang="en-US" sz="700" dirty="0">
                <a:solidFill>
                  <a:schemeClr val="bg1"/>
                </a:solidFill>
                <a:latin typeface="Aptos" panose="020B0004020202020204" pitchFamily="34" charset="0"/>
              </a:rPr>
              <a:t>Optical Microscope 50 x</a:t>
            </a:r>
          </a:p>
        </p:txBody>
      </p:sp>
      <p:sp>
        <p:nvSpPr>
          <p:cNvPr id="18" name="TextBox 17">
            <a:extLst>
              <a:ext uri="{FF2B5EF4-FFF2-40B4-BE49-F238E27FC236}">
                <a16:creationId xmlns:a16="http://schemas.microsoft.com/office/drawing/2014/main" id="{8DD06BCD-E944-119D-4B58-AA44CFFAEDDB}"/>
              </a:ext>
            </a:extLst>
          </p:cNvPr>
          <p:cNvSpPr txBox="1"/>
          <p:nvPr/>
        </p:nvSpPr>
        <p:spPr>
          <a:xfrm>
            <a:off x="1807289" y="5917879"/>
            <a:ext cx="1276640" cy="707886"/>
          </a:xfrm>
          <a:prstGeom prst="rect">
            <a:avLst/>
          </a:prstGeom>
          <a:noFill/>
        </p:spPr>
        <p:txBody>
          <a:bodyPr wrap="square" rtlCol="0">
            <a:spAutoFit/>
          </a:bodyPr>
          <a:lstStyle/>
          <a:p>
            <a:r>
              <a:rPr lang="en-US" sz="1000" dirty="0">
                <a:solidFill>
                  <a:srgbClr val="FF0000"/>
                </a:solidFill>
                <a:latin typeface="Aptos" panose="020B0004020202020204" pitchFamily="34" charset="0"/>
              </a:rPr>
              <a:t>BNNT PAN seems spikier than the PAN, the edges are more rough</a:t>
            </a:r>
          </a:p>
        </p:txBody>
      </p:sp>
      <p:cxnSp>
        <p:nvCxnSpPr>
          <p:cNvPr id="19" name="Straight Arrow Connector 18">
            <a:extLst>
              <a:ext uri="{FF2B5EF4-FFF2-40B4-BE49-F238E27FC236}">
                <a16:creationId xmlns:a16="http://schemas.microsoft.com/office/drawing/2014/main" id="{39164544-AE9F-ADA2-B05B-1B880C6E18EC}"/>
              </a:ext>
            </a:extLst>
          </p:cNvPr>
          <p:cNvCxnSpPr>
            <a:cxnSpLocks/>
            <a:stCxn id="18" idx="3"/>
          </p:cNvCxnSpPr>
          <p:nvPr/>
        </p:nvCxnSpPr>
        <p:spPr>
          <a:xfrm flipV="1">
            <a:off x="3083929" y="5867624"/>
            <a:ext cx="784542" cy="4041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6E8D7A2-F573-9926-CB5E-C52DCA394FED}"/>
              </a:ext>
            </a:extLst>
          </p:cNvPr>
          <p:cNvCxnSpPr>
            <a:cxnSpLocks/>
            <a:stCxn id="18" idx="3"/>
          </p:cNvCxnSpPr>
          <p:nvPr/>
        </p:nvCxnSpPr>
        <p:spPr>
          <a:xfrm flipV="1">
            <a:off x="3083929" y="5962670"/>
            <a:ext cx="2396707" cy="3091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444D898-3A1B-5485-00DE-5FB5C8C0BC2C}"/>
              </a:ext>
            </a:extLst>
          </p:cNvPr>
          <p:cNvSpPr txBox="1"/>
          <p:nvPr/>
        </p:nvSpPr>
        <p:spPr>
          <a:xfrm>
            <a:off x="4786595" y="6419962"/>
            <a:ext cx="2509337" cy="200055"/>
          </a:xfrm>
          <a:prstGeom prst="rect">
            <a:avLst/>
          </a:prstGeom>
          <a:noFill/>
        </p:spPr>
        <p:txBody>
          <a:bodyPr wrap="square" rtlCol="0">
            <a:spAutoFit/>
          </a:bodyPr>
          <a:lstStyle/>
          <a:p>
            <a:r>
              <a:rPr lang="en-US" sz="700" dirty="0">
                <a:solidFill>
                  <a:schemeClr val="bg1"/>
                </a:solidFill>
                <a:latin typeface="Aptos" panose="020B0004020202020204" pitchFamily="34" charset="0"/>
              </a:rPr>
              <a:t>Optical Microscope 50 x</a:t>
            </a:r>
          </a:p>
        </p:txBody>
      </p:sp>
      <p:graphicFrame>
        <p:nvGraphicFramePr>
          <p:cNvPr id="22" name="Table 21">
            <a:extLst>
              <a:ext uri="{FF2B5EF4-FFF2-40B4-BE49-F238E27FC236}">
                <a16:creationId xmlns:a16="http://schemas.microsoft.com/office/drawing/2014/main" id="{C14A5F84-1C52-26C7-6C3C-24ACDEA06DA8}"/>
              </a:ext>
            </a:extLst>
          </p:cNvPr>
          <p:cNvGraphicFramePr>
            <a:graphicFrameLocks noGrp="1"/>
          </p:cNvGraphicFramePr>
          <p:nvPr>
            <p:extLst>
              <p:ext uri="{D42A27DB-BD31-4B8C-83A1-F6EECF244321}">
                <p14:modId xmlns:p14="http://schemas.microsoft.com/office/powerpoint/2010/main" val="3980797407"/>
              </p:ext>
            </p:extLst>
          </p:nvPr>
        </p:nvGraphicFramePr>
        <p:xfrm>
          <a:off x="6809887" y="5425271"/>
          <a:ext cx="3486160" cy="944880"/>
        </p:xfrm>
        <a:graphic>
          <a:graphicData uri="http://schemas.openxmlformats.org/drawingml/2006/table">
            <a:tbl>
              <a:tblPr firstRow="1" bandRow="1">
                <a:tableStyleId>{8A107856-5554-42FB-B03E-39F5DBC370BA}</a:tableStyleId>
              </a:tblPr>
              <a:tblGrid>
                <a:gridCol w="871540">
                  <a:extLst>
                    <a:ext uri="{9D8B030D-6E8A-4147-A177-3AD203B41FA5}">
                      <a16:colId xmlns:a16="http://schemas.microsoft.com/office/drawing/2014/main" val="3846826028"/>
                    </a:ext>
                  </a:extLst>
                </a:gridCol>
                <a:gridCol w="871540">
                  <a:extLst>
                    <a:ext uri="{9D8B030D-6E8A-4147-A177-3AD203B41FA5}">
                      <a16:colId xmlns:a16="http://schemas.microsoft.com/office/drawing/2014/main" val="3025799011"/>
                    </a:ext>
                  </a:extLst>
                </a:gridCol>
                <a:gridCol w="871540">
                  <a:extLst>
                    <a:ext uri="{9D8B030D-6E8A-4147-A177-3AD203B41FA5}">
                      <a16:colId xmlns:a16="http://schemas.microsoft.com/office/drawing/2014/main" val="1390915351"/>
                    </a:ext>
                  </a:extLst>
                </a:gridCol>
                <a:gridCol w="871540">
                  <a:extLst>
                    <a:ext uri="{9D8B030D-6E8A-4147-A177-3AD203B41FA5}">
                      <a16:colId xmlns:a16="http://schemas.microsoft.com/office/drawing/2014/main" val="3489509960"/>
                    </a:ext>
                  </a:extLst>
                </a:gridCol>
              </a:tblGrid>
              <a:tr h="342993">
                <a:tc>
                  <a:txBody>
                    <a:bodyPr/>
                    <a:lstStyle/>
                    <a:p>
                      <a:r>
                        <a:rPr lang="en-US" sz="1000" b="1" dirty="0">
                          <a:latin typeface="Aptos" panose="020B0004020202020204" pitchFamily="34" charset="0"/>
                        </a:rPr>
                        <a:t>Individual Fiber Sample</a:t>
                      </a:r>
                    </a:p>
                  </a:txBody>
                  <a:tcPr/>
                </a:tc>
                <a:tc>
                  <a:txBody>
                    <a:bodyPr/>
                    <a:lstStyle/>
                    <a:p>
                      <a:r>
                        <a:rPr lang="en-US" sz="1000" b="1" dirty="0">
                          <a:latin typeface="Aptos" panose="020B0004020202020204" pitchFamily="34" charset="0"/>
                        </a:rPr>
                        <a:t>Tensile Strength (MPa)</a:t>
                      </a:r>
                    </a:p>
                  </a:txBody>
                  <a:tcPr/>
                </a:tc>
                <a:tc>
                  <a:txBody>
                    <a:bodyPr/>
                    <a:lstStyle/>
                    <a:p>
                      <a:r>
                        <a:rPr lang="en-US" sz="1000" b="1" dirty="0">
                          <a:latin typeface="Aptos" panose="020B0004020202020204" pitchFamily="34" charset="0"/>
                        </a:rPr>
                        <a:t>% Elongation at Break</a:t>
                      </a:r>
                    </a:p>
                  </a:txBody>
                  <a:tcPr/>
                </a:tc>
                <a:tc>
                  <a:txBody>
                    <a:bodyPr/>
                    <a:lstStyle/>
                    <a:p>
                      <a:r>
                        <a:rPr lang="en-US" sz="1000" b="1" dirty="0">
                          <a:latin typeface="Aptos" panose="020B0004020202020204" pitchFamily="34" charset="0"/>
                        </a:rPr>
                        <a:t>Young’s Modulus (</a:t>
                      </a:r>
                      <a:r>
                        <a:rPr lang="en-US" sz="1000" b="1" dirty="0" err="1">
                          <a:latin typeface="Aptos" panose="020B0004020202020204" pitchFamily="34" charset="0"/>
                        </a:rPr>
                        <a:t>GPa</a:t>
                      </a:r>
                      <a:r>
                        <a:rPr lang="en-US" sz="1000" b="1" dirty="0">
                          <a:latin typeface="Aptos" panose="020B0004020202020204" pitchFamily="34" charset="0"/>
                        </a:rPr>
                        <a:t>)</a:t>
                      </a:r>
                    </a:p>
                  </a:txBody>
                  <a:tcPr/>
                </a:tc>
                <a:extLst>
                  <a:ext uri="{0D108BD9-81ED-4DB2-BD59-A6C34878D82A}">
                    <a16:rowId xmlns:a16="http://schemas.microsoft.com/office/drawing/2014/main" val="2468352496"/>
                  </a:ext>
                </a:extLst>
              </a:tr>
              <a:tr h="342993">
                <a:tc>
                  <a:txBody>
                    <a:bodyPr/>
                    <a:lstStyle/>
                    <a:p>
                      <a:r>
                        <a:rPr lang="en-US" sz="1000" dirty="0">
                          <a:latin typeface="Aptos" panose="020B0004020202020204" pitchFamily="34" charset="0"/>
                        </a:rPr>
                        <a:t>Carbon Fiber</a:t>
                      </a:r>
                    </a:p>
                  </a:txBody>
                  <a:tcPr/>
                </a:tc>
                <a:tc>
                  <a:txBody>
                    <a:bodyPr/>
                    <a:lstStyle/>
                    <a:p>
                      <a:r>
                        <a:rPr lang="en-US" sz="1000" dirty="0">
                          <a:latin typeface="Aptos" panose="020B0004020202020204" pitchFamily="34" charset="0"/>
                        </a:rPr>
                        <a:t>3568.2 ± 446.7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2.1 ± 0.2</a:t>
                      </a:r>
                    </a:p>
                    <a:p>
                      <a:endParaRPr lang="en-US" sz="1000" dirty="0">
                        <a:latin typeface="Aptos" panose="020B00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205.2 ± 14.0</a:t>
                      </a:r>
                    </a:p>
                  </a:txBody>
                  <a:tcPr/>
                </a:tc>
                <a:extLst>
                  <a:ext uri="{0D108BD9-81ED-4DB2-BD59-A6C34878D82A}">
                    <a16:rowId xmlns:a16="http://schemas.microsoft.com/office/drawing/2014/main" val="1719607480"/>
                  </a:ext>
                </a:extLst>
              </a:tr>
            </a:tbl>
          </a:graphicData>
        </a:graphic>
      </p:graphicFrame>
      <p:pic>
        <p:nvPicPr>
          <p:cNvPr id="24" name="Picture 23">
            <a:extLst>
              <a:ext uri="{FF2B5EF4-FFF2-40B4-BE49-F238E27FC236}">
                <a16:creationId xmlns:a16="http://schemas.microsoft.com/office/drawing/2014/main" id="{FAA852AD-E459-A775-77B7-970459E6A5BC}"/>
              </a:ext>
            </a:extLst>
          </p:cNvPr>
          <p:cNvPicPr>
            <a:picLocks noChangeAspect="1"/>
          </p:cNvPicPr>
          <p:nvPr/>
        </p:nvPicPr>
        <p:blipFill>
          <a:blip r:embed="rId6" cstate="screen">
            <a:extLst>
              <a:ext uri="{BEBA8EAE-BF5A-486C-A8C5-ECC9F3942E4B}">
                <a14:imgProps xmlns:a14="http://schemas.microsoft.com/office/drawing/2010/main">
                  <a14:imgLayer r:embed="rId7">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10117446" y="3810921"/>
            <a:ext cx="1819416" cy="1248001"/>
          </a:xfrm>
          <a:prstGeom prst="rect">
            <a:avLst/>
          </a:prstGeom>
        </p:spPr>
      </p:pic>
      <p:sp>
        <p:nvSpPr>
          <p:cNvPr id="25" name="Oval 24">
            <a:extLst>
              <a:ext uri="{FF2B5EF4-FFF2-40B4-BE49-F238E27FC236}">
                <a16:creationId xmlns:a16="http://schemas.microsoft.com/office/drawing/2014/main" id="{141677B5-9AA4-7C6B-9A2D-674D1FEA4DFF}"/>
              </a:ext>
            </a:extLst>
          </p:cNvPr>
          <p:cNvSpPr/>
          <p:nvPr/>
        </p:nvSpPr>
        <p:spPr>
          <a:xfrm>
            <a:off x="10790181" y="4046866"/>
            <a:ext cx="393427" cy="200056"/>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C928B81-46E0-718E-5A1B-234030610082}"/>
              </a:ext>
            </a:extLst>
          </p:cNvPr>
          <p:cNvSpPr txBox="1"/>
          <p:nvPr/>
        </p:nvSpPr>
        <p:spPr>
          <a:xfrm>
            <a:off x="9395546" y="3763784"/>
            <a:ext cx="2436004" cy="246221"/>
          </a:xfrm>
          <a:prstGeom prst="rect">
            <a:avLst/>
          </a:prstGeom>
          <a:noFill/>
        </p:spPr>
        <p:txBody>
          <a:bodyPr wrap="square" rtlCol="0">
            <a:spAutoFit/>
          </a:bodyPr>
          <a:lstStyle/>
          <a:p>
            <a:r>
              <a:rPr lang="en-US" sz="1000" dirty="0">
                <a:solidFill>
                  <a:schemeClr val="bg1"/>
                </a:solidFill>
                <a:highlight>
                  <a:srgbClr val="FF0000"/>
                </a:highlight>
                <a:latin typeface="Aptos" panose="020B0004020202020204" pitchFamily="34" charset="0"/>
              </a:rPr>
              <a:t>Individual Carbon Fiber after fracture</a:t>
            </a:r>
          </a:p>
        </p:txBody>
      </p:sp>
      <p:cxnSp>
        <p:nvCxnSpPr>
          <p:cNvPr id="27" name="Straight Arrow Connector 26">
            <a:extLst>
              <a:ext uri="{FF2B5EF4-FFF2-40B4-BE49-F238E27FC236}">
                <a16:creationId xmlns:a16="http://schemas.microsoft.com/office/drawing/2014/main" id="{23AE3806-77FB-9965-FD18-9F4A0F52BE10}"/>
              </a:ext>
            </a:extLst>
          </p:cNvPr>
          <p:cNvCxnSpPr>
            <a:cxnSpLocks/>
            <a:stCxn id="26" idx="2"/>
            <a:endCxn id="25" idx="2"/>
          </p:cNvCxnSpPr>
          <p:nvPr/>
        </p:nvCxnSpPr>
        <p:spPr>
          <a:xfrm>
            <a:off x="10613548" y="4010005"/>
            <a:ext cx="176633" cy="1368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7" descr="A picture containing diagram&#10;&#10;AI-generated content may be incorrect.">
            <a:extLst>
              <a:ext uri="{FF2B5EF4-FFF2-40B4-BE49-F238E27FC236}">
                <a16:creationId xmlns:a16="http://schemas.microsoft.com/office/drawing/2014/main" id="{343DE95B-FC34-D8B9-96D8-5042A335B8A6}"/>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311498" y="5108205"/>
            <a:ext cx="1586778" cy="1190083"/>
          </a:xfrm>
          <a:prstGeom prst="rect">
            <a:avLst/>
          </a:prstGeom>
        </p:spPr>
      </p:pic>
      <p:sp>
        <p:nvSpPr>
          <p:cNvPr id="29" name="TextBox 28">
            <a:extLst>
              <a:ext uri="{FF2B5EF4-FFF2-40B4-BE49-F238E27FC236}">
                <a16:creationId xmlns:a16="http://schemas.microsoft.com/office/drawing/2014/main" id="{3D5FA1C8-B816-4141-DE67-974480DB31EA}"/>
              </a:ext>
            </a:extLst>
          </p:cNvPr>
          <p:cNvSpPr txBox="1"/>
          <p:nvPr/>
        </p:nvSpPr>
        <p:spPr>
          <a:xfrm>
            <a:off x="10056231" y="5073005"/>
            <a:ext cx="3235355" cy="200055"/>
          </a:xfrm>
          <a:prstGeom prst="rect">
            <a:avLst/>
          </a:prstGeom>
          <a:noFill/>
        </p:spPr>
        <p:txBody>
          <a:bodyPr wrap="square" rtlCol="0">
            <a:spAutoFit/>
          </a:bodyPr>
          <a:lstStyle/>
          <a:p>
            <a:r>
              <a:rPr lang="en-US" sz="700" dirty="0">
                <a:latin typeface="Aptos" panose="020B0004020202020204" pitchFamily="34" charset="0"/>
              </a:rPr>
              <a:t>Optical Microscope 50x</a:t>
            </a:r>
          </a:p>
        </p:txBody>
      </p:sp>
      <p:pic>
        <p:nvPicPr>
          <p:cNvPr id="44" name="Picture 43" descr="A picture containing indoor&#10;&#10;AI-generated content may be incorrect.">
            <a:extLst>
              <a:ext uri="{FF2B5EF4-FFF2-40B4-BE49-F238E27FC236}">
                <a16:creationId xmlns:a16="http://schemas.microsoft.com/office/drawing/2014/main" id="{34E0E433-D0C5-3250-F62F-9B22829A179F}"/>
              </a:ext>
            </a:extLst>
          </p:cNvPr>
          <p:cNvPicPr>
            <a:picLocks noChangeAspect="1"/>
          </p:cNvPicPr>
          <p:nvPr/>
        </p:nvPicPr>
        <p:blipFill rotWithShape="1">
          <a:blip r:embed="rId9" cstate="screen">
            <a:extLst>
              <a:ext uri="{BEBA8EAE-BF5A-486C-A8C5-ECC9F3942E4B}">
                <a14:imgProps xmlns:a14="http://schemas.microsoft.com/office/drawing/2010/main">
                  <a14:imgLayer r:embed="rId10">
                    <a14:imgEffect>
                      <a14:brightnessContrast bright="20000" contrast="20000"/>
                    </a14:imgEffect>
                  </a14:imgLayer>
                </a14:imgProps>
              </a:ext>
              <a:ext uri="{28A0092B-C50C-407E-A947-70E740481C1C}">
                <a14:useLocalDpi xmlns:a14="http://schemas.microsoft.com/office/drawing/2010/main"/>
              </a:ext>
            </a:extLst>
          </a:blip>
          <a:srcRect/>
          <a:stretch/>
        </p:blipFill>
        <p:spPr>
          <a:xfrm>
            <a:off x="9725099" y="2237641"/>
            <a:ext cx="2211763" cy="1504146"/>
          </a:xfrm>
          <a:prstGeom prst="rect">
            <a:avLst/>
          </a:prstGeom>
        </p:spPr>
      </p:pic>
      <p:sp>
        <p:nvSpPr>
          <p:cNvPr id="45" name="Oval 44">
            <a:extLst>
              <a:ext uri="{FF2B5EF4-FFF2-40B4-BE49-F238E27FC236}">
                <a16:creationId xmlns:a16="http://schemas.microsoft.com/office/drawing/2014/main" id="{6654802A-21EB-57D8-E53E-63C52B4538D2}"/>
              </a:ext>
            </a:extLst>
          </p:cNvPr>
          <p:cNvSpPr/>
          <p:nvPr/>
        </p:nvSpPr>
        <p:spPr>
          <a:xfrm>
            <a:off x="10546492" y="2859732"/>
            <a:ext cx="586010" cy="209942"/>
          </a:xfrm>
          <a:prstGeom prst="ellipse">
            <a:avLst/>
          </a:prstGeom>
          <a:noFill/>
          <a:ln w="25400">
            <a:solidFill>
              <a:srgbClr val="0033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D23365DF-B735-CD27-F267-AD1BBDB792FE}"/>
              </a:ext>
            </a:extLst>
          </p:cNvPr>
          <p:cNvCxnSpPr>
            <a:cxnSpLocks/>
            <a:stCxn id="46" idx="2"/>
            <a:endCxn id="45" idx="0"/>
          </p:cNvCxnSpPr>
          <p:nvPr/>
        </p:nvCxnSpPr>
        <p:spPr>
          <a:xfrm>
            <a:off x="10790181" y="2704731"/>
            <a:ext cx="49316" cy="155001"/>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CB4DE6D-6023-9BE0-ABE9-5389DADAB85C}"/>
              </a:ext>
            </a:extLst>
          </p:cNvPr>
          <p:cNvSpPr txBox="1"/>
          <p:nvPr/>
        </p:nvSpPr>
        <p:spPr>
          <a:xfrm>
            <a:off x="356561" y="819236"/>
            <a:ext cx="6932338" cy="2308324"/>
          </a:xfrm>
          <a:prstGeom prst="rect">
            <a:avLst/>
          </a:prstGeom>
          <a:noFill/>
        </p:spPr>
        <p:txBody>
          <a:bodyPr wrap="square" rtlCol="0">
            <a:spAutoFit/>
          </a:bodyPr>
          <a:lstStyle/>
          <a:p>
            <a:r>
              <a:rPr lang="en-US" dirty="0">
                <a:latin typeface="Aptos" panose="020B0004020202020204" pitchFamily="34" charset="0"/>
              </a:rPr>
              <a:t>Through working with SUMAC, I gained a reputation for my technical and procedural capabilities to test individual fibers. Assisted other projects including:</a:t>
            </a:r>
          </a:p>
          <a:p>
            <a:pPr marL="285750" indent="-285750">
              <a:buFont typeface="Wingdings" panose="05000000000000000000" pitchFamily="2" charset="2"/>
              <a:buChar char="v"/>
            </a:pPr>
            <a:r>
              <a:rPr lang="en-US" dirty="0">
                <a:latin typeface="Aptos" panose="020B0004020202020204" pitchFamily="34" charset="0"/>
              </a:rPr>
              <a:t>Boron Nitride Nanotube Polyacrylonitrile (PAN) Nanocomposite research</a:t>
            </a:r>
          </a:p>
          <a:p>
            <a:pPr marL="285750" indent="-285750">
              <a:buFont typeface="Wingdings" panose="05000000000000000000" pitchFamily="2" charset="2"/>
              <a:buChar char="v"/>
            </a:pPr>
            <a:r>
              <a:rPr lang="en-US" dirty="0">
                <a:latin typeface="Aptos" panose="020B0004020202020204" pitchFamily="34" charset="0"/>
              </a:rPr>
              <a:t>Dragonfly Ablative Carbon Phenolic hybrid yarn &amp; individual fiber for Saturn's moon, Titan</a:t>
            </a:r>
          </a:p>
          <a:p>
            <a:r>
              <a:rPr lang="en-US" dirty="0">
                <a:latin typeface="Aptos" panose="020B0004020202020204" pitchFamily="34" charset="0"/>
              </a:rPr>
              <a:t>The data from other projects also validated my procedure.</a:t>
            </a:r>
          </a:p>
        </p:txBody>
      </p:sp>
      <p:pic>
        <p:nvPicPr>
          <p:cNvPr id="1026" name="Picture 2" descr="Saturn fourth-largest moon, Dione, can be seen through the haze of the planet largest moon, Titan, in this view of the two posing before the planet and its rings from NASA Cassini spacecraft.">
            <a:extLst>
              <a:ext uri="{FF2B5EF4-FFF2-40B4-BE49-F238E27FC236}">
                <a16:creationId xmlns:a16="http://schemas.microsoft.com/office/drawing/2014/main" id="{C399A1AC-6101-E05B-3A5F-B88A1738A35A}"/>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696805" y="1678431"/>
            <a:ext cx="1888876" cy="18888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9A6F5C-BC3A-18F5-EA85-3C9D9B302C87}"/>
              </a:ext>
            </a:extLst>
          </p:cNvPr>
          <p:cNvSpPr txBox="1"/>
          <p:nvPr/>
        </p:nvSpPr>
        <p:spPr>
          <a:xfrm>
            <a:off x="7660291" y="3002873"/>
            <a:ext cx="1961903" cy="538609"/>
          </a:xfrm>
          <a:prstGeom prst="rect">
            <a:avLst/>
          </a:prstGeom>
          <a:noFill/>
        </p:spPr>
        <p:txBody>
          <a:bodyPr wrap="square" rtlCol="0">
            <a:spAutoFit/>
          </a:bodyPr>
          <a:lstStyle/>
          <a:p>
            <a:r>
              <a:rPr lang="en-US" sz="1100" b="1" dirty="0">
                <a:solidFill>
                  <a:schemeClr val="bg1"/>
                </a:solidFill>
                <a:latin typeface="Aptos" panose="020B0004020202020204" pitchFamily="34" charset="0"/>
              </a:rPr>
              <a:t>Titan and Dione</a:t>
            </a:r>
            <a:br>
              <a:rPr lang="en-US" sz="1200" dirty="0">
                <a:solidFill>
                  <a:schemeClr val="bg1"/>
                </a:solidFill>
                <a:latin typeface="Aptos" panose="020B0004020202020204" pitchFamily="34" charset="0"/>
              </a:rPr>
            </a:br>
            <a:r>
              <a:rPr lang="en-US" sz="900" dirty="0">
                <a:solidFill>
                  <a:schemeClr val="accent5">
                    <a:lumMod val="60000"/>
                    <a:lumOff val="40000"/>
                  </a:schemeClr>
                </a:solidFill>
                <a:latin typeface="Aptos" panose="020B0004020202020204" pitchFamily="34" charset="0"/>
                <a:hlinkClick r:id="rId12">
                  <a:extLst>
                    <a:ext uri="{A12FA001-AC4F-418D-AE19-62706E023703}">
                      <ahyp:hlinkClr xmlns:ahyp="http://schemas.microsoft.com/office/drawing/2018/hyperlinkcolor" val="tx"/>
                    </a:ext>
                  </a:extLst>
                </a:hlinkClick>
              </a:rPr>
              <a:t>Titan and Dione | NASA Image and Video Library</a:t>
            </a:r>
            <a:endParaRPr lang="en-US" sz="900" dirty="0">
              <a:solidFill>
                <a:schemeClr val="accent5">
                  <a:lumMod val="60000"/>
                  <a:lumOff val="40000"/>
                </a:schemeClr>
              </a:solidFill>
              <a:latin typeface="Aptos" panose="020B0004020202020204" pitchFamily="34" charset="0"/>
            </a:endParaRPr>
          </a:p>
        </p:txBody>
      </p:sp>
      <p:sp>
        <p:nvSpPr>
          <p:cNvPr id="38" name="Title 1">
            <a:extLst>
              <a:ext uri="{FF2B5EF4-FFF2-40B4-BE49-F238E27FC236}">
                <a16:creationId xmlns:a16="http://schemas.microsoft.com/office/drawing/2014/main" id="{0A1F1E27-EB65-60B1-6BE3-B3B00C47D70F}"/>
              </a:ext>
            </a:extLst>
          </p:cNvPr>
          <p:cNvSpPr txBox="1">
            <a:spLocks/>
          </p:cNvSpPr>
          <p:nvPr/>
        </p:nvSpPr>
        <p:spPr>
          <a:xfrm>
            <a:off x="663559" y="188439"/>
            <a:ext cx="10864881" cy="58814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b="1" i="0" kern="1200">
                <a:solidFill>
                  <a:schemeClr val="tx1"/>
                </a:solidFill>
                <a:latin typeface="Aptos" panose="020B0004020202020204" pitchFamily="34" charset="0"/>
                <a:ea typeface="+mj-ea"/>
                <a:cs typeface="Calibri" panose="020F0502020204030204" pitchFamily="34" charset="0"/>
              </a:defRPr>
            </a:lvl1pPr>
          </a:lstStyle>
          <a:p>
            <a:r>
              <a:rPr lang="en-US" sz="3000" dirty="0"/>
              <a:t>Gaining a Reputation</a:t>
            </a:r>
            <a:endParaRPr lang="en-US" sz="3000" i="1" dirty="0"/>
          </a:p>
        </p:txBody>
      </p:sp>
      <p:sp>
        <p:nvSpPr>
          <p:cNvPr id="46" name="TextBox 45">
            <a:extLst>
              <a:ext uri="{FF2B5EF4-FFF2-40B4-BE49-F238E27FC236}">
                <a16:creationId xmlns:a16="http://schemas.microsoft.com/office/drawing/2014/main" id="{3F6A8529-B824-82D6-E319-353D18A6883D}"/>
              </a:ext>
            </a:extLst>
          </p:cNvPr>
          <p:cNvSpPr txBox="1"/>
          <p:nvPr/>
        </p:nvSpPr>
        <p:spPr>
          <a:xfrm>
            <a:off x="9592317" y="2304621"/>
            <a:ext cx="2395728" cy="400110"/>
          </a:xfrm>
          <a:prstGeom prst="rect">
            <a:avLst/>
          </a:prstGeom>
          <a:noFill/>
        </p:spPr>
        <p:txBody>
          <a:bodyPr wrap="square" rtlCol="0">
            <a:spAutoFit/>
          </a:bodyPr>
          <a:lstStyle/>
          <a:p>
            <a:pPr algn="ctr"/>
            <a:r>
              <a:rPr lang="en-US" sz="1000" dirty="0">
                <a:solidFill>
                  <a:schemeClr val="bg1"/>
                </a:solidFill>
                <a:highlight>
                  <a:srgbClr val="0000FF"/>
                </a:highlight>
                <a:latin typeface="Aptos" panose="020B0004020202020204" pitchFamily="34" charset="0"/>
              </a:rPr>
              <a:t>Individual Phenolic/ </a:t>
            </a:r>
            <a:r>
              <a:rPr lang="en-US" sz="1000" dirty="0" err="1">
                <a:solidFill>
                  <a:schemeClr val="bg1"/>
                </a:solidFill>
                <a:highlight>
                  <a:srgbClr val="0000FF"/>
                </a:highlight>
                <a:latin typeface="Aptos" panose="020B0004020202020204" pitchFamily="34" charset="0"/>
              </a:rPr>
              <a:t>Kynol</a:t>
            </a:r>
            <a:r>
              <a:rPr lang="en-US" sz="1000" dirty="0">
                <a:solidFill>
                  <a:schemeClr val="bg1"/>
                </a:solidFill>
                <a:highlight>
                  <a:srgbClr val="0000FF"/>
                </a:highlight>
                <a:latin typeface="Aptos" panose="020B0004020202020204" pitchFamily="34" charset="0"/>
              </a:rPr>
              <a:t> Fiber after fracture</a:t>
            </a:r>
          </a:p>
        </p:txBody>
      </p:sp>
      <p:pic>
        <p:nvPicPr>
          <p:cNvPr id="30" name="Picture 2">
            <a:extLst>
              <a:ext uri="{FF2B5EF4-FFF2-40B4-BE49-F238E27FC236}">
                <a16:creationId xmlns:a16="http://schemas.microsoft.com/office/drawing/2014/main" id="{826B19E9-3924-B452-6610-9E7E67565DD6}"/>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8449139" y="558560"/>
            <a:ext cx="2551920" cy="1614808"/>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BDEA7395-2F95-B3AA-2716-60A74CD167A0}"/>
              </a:ext>
            </a:extLst>
          </p:cNvPr>
          <p:cNvSpPr txBox="1"/>
          <p:nvPr/>
        </p:nvSpPr>
        <p:spPr>
          <a:xfrm>
            <a:off x="8416584" y="1511938"/>
            <a:ext cx="2623237" cy="815608"/>
          </a:xfrm>
          <a:prstGeom prst="rect">
            <a:avLst/>
          </a:prstGeom>
          <a:noFill/>
        </p:spPr>
        <p:txBody>
          <a:bodyPr wrap="square" rtlCol="0">
            <a:spAutoFit/>
          </a:bodyPr>
          <a:lstStyle/>
          <a:p>
            <a:r>
              <a:rPr lang="en-US" sz="1100" b="1" dirty="0">
                <a:solidFill>
                  <a:schemeClr val="bg1"/>
                </a:solidFill>
                <a:latin typeface="Aptos" panose="020B0004020202020204" pitchFamily="34" charset="0"/>
              </a:rPr>
              <a:t>Dragonfly</a:t>
            </a:r>
            <a:br>
              <a:rPr lang="en-US" sz="1200" dirty="0">
                <a:solidFill>
                  <a:schemeClr val="bg1"/>
                </a:solidFill>
                <a:latin typeface="Aptos" panose="020B0004020202020204" pitchFamily="34" charset="0"/>
              </a:rPr>
            </a:br>
            <a:r>
              <a:rPr lang="en-US" sz="900" dirty="0">
                <a:solidFill>
                  <a:schemeClr val="accent5">
                    <a:lumMod val="60000"/>
                    <a:lumOff val="40000"/>
                  </a:schemeClr>
                </a:solidFill>
                <a:latin typeface="Aptos" panose="020B0004020202020204" pitchFamily="34" charset="0"/>
                <a:hlinkClick r:id="rId14">
                  <a:extLst>
                    <a:ext uri="{A12FA001-AC4F-418D-AE19-62706E023703}">
                      <ahyp:hlinkClr xmlns:ahyp="http://schemas.microsoft.com/office/drawing/2018/hyperlinkcolor" val="tx"/>
                    </a:ext>
                  </a:extLst>
                </a:hlinkClick>
              </a:rPr>
              <a:t>https://www.nasa.gov/news-release/nasa-awards-launch-services-contract-for-dragonfly-mission/</a:t>
            </a:r>
            <a:endParaRPr lang="en-US" sz="900" dirty="0">
              <a:solidFill>
                <a:schemeClr val="accent5">
                  <a:lumMod val="60000"/>
                  <a:lumOff val="40000"/>
                </a:schemeClr>
              </a:solidFill>
              <a:latin typeface="Aptos" panose="020B0004020202020204" pitchFamily="34" charset="0"/>
            </a:endParaRPr>
          </a:p>
          <a:p>
            <a:endParaRPr lang="en-US" sz="900" dirty="0">
              <a:solidFill>
                <a:schemeClr val="accent5">
                  <a:lumMod val="60000"/>
                  <a:lumOff val="40000"/>
                </a:schemeClr>
              </a:solidFill>
              <a:latin typeface="Aptos" panose="020B0004020202020204" pitchFamily="34" charset="0"/>
            </a:endParaRPr>
          </a:p>
        </p:txBody>
      </p:sp>
    </p:spTree>
    <p:extLst>
      <p:ext uri="{BB962C8B-B14F-4D97-AF65-F5344CB8AC3E}">
        <p14:creationId xmlns:p14="http://schemas.microsoft.com/office/powerpoint/2010/main" val="171553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03F093E-DE40-DD06-F96A-010FF5A42E97}"/>
              </a:ext>
            </a:extLst>
          </p:cNvPr>
          <p:cNvSpPr>
            <a:spLocks noGrp="1"/>
          </p:cNvSpPr>
          <p:nvPr>
            <p:ph type="title"/>
          </p:nvPr>
        </p:nvSpPr>
        <p:spPr>
          <a:xfrm>
            <a:off x="663559" y="197192"/>
            <a:ext cx="10864881" cy="588148"/>
          </a:xfrm>
        </p:spPr>
        <p:txBody>
          <a:bodyPr>
            <a:noAutofit/>
          </a:bodyPr>
          <a:lstStyle/>
          <a:p>
            <a:r>
              <a:rPr lang="en-US" sz="3000" b="1" dirty="0">
                <a:solidFill>
                  <a:srgbClr val="000000"/>
                </a:solidFill>
                <a:effectLst/>
                <a:ea typeface="Calibri" panose="020F0502020204030204" pitchFamily="34" charset="0"/>
              </a:rPr>
              <a:t>Sustainably Derived Resins Mechanical Properties</a:t>
            </a:r>
            <a:endParaRPr lang="en-US" sz="3000" b="1" dirty="0"/>
          </a:p>
        </p:txBody>
      </p:sp>
      <p:graphicFrame>
        <p:nvGraphicFramePr>
          <p:cNvPr id="2" name="Table 1">
            <a:extLst>
              <a:ext uri="{FF2B5EF4-FFF2-40B4-BE49-F238E27FC236}">
                <a16:creationId xmlns:a16="http://schemas.microsoft.com/office/drawing/2014/main" id="{EAD547B4-C12C-5019-CE6B-DD6B6EAFC358}"/>
              </a:ext>
            </a:extLst>
          </p:cNvPr>
          <p:cNvGraphicFramePr>
            <a:graphicFrameLocks noGrp="1"/>
          </p:cNvGraphicFramePr>
          <p:nvPr>
            <p:extLst>
              <p:ext uri="{D42A27DB-BD31-4B8C-83A1-F6EECF244321}">
                <p14:modId xmlns:p14="http://schemas.microsoft.com/office/powerpoint/2010/main" val="2737223467"/>
              </p:ext>
            </p:extLst>
          </p:nvPr>
        </p:nvGraphicFramePr>
        <p:xfrm>
          <a:off x="6783877" y="3133353"/>
          <a:ext cx="5074748" cy="3355249"/>
        </p:xfrm>
        <a:graphic>
          <a:graphicData uri="http://schemas.openxmlformats.org/drawingml/2006/table">
            <a:tbl>
              <a:tblPr firstRow="1" bandRow="1">
                <a:tableStyleId>{E8B1032C-EA38-4F05-BA0D-38AFFFC7BED3}</a:tableStyleId>
              </a:tblPr>
              <a:tblGrid>
                <a:gridCol w="724964">
                  <a:extLst>
                    <a:ext uri="{9D8B030D-6E8A-4147-A177-3AD203B41FA5}">
                      <a16:colId xmlns:a16="http://schemas.microsoft.com/office/drawing/2014/main" val="3883436170"/>
                    </a:ext>
                  </a:extLst>
                </a:gridCol>
                <a:gridCol w="724964">
                  <a:extLst>
                    <a:ext uri="{9D8B030D-6E8A-4147-A177-3AD203B41FA5}">
                      <a16:colId xmlns:a16="http://schemas.microsoft.com/office/drawing/2014/main" val="3232390548"/>
                    </a:ext>
                  </a:extLst>
                </a:gridCol>
                <a:gridCol w="724964">
                  <a:extLst>
                    <a:ext uri="{9D8B030D-6E8A-4147-A177-3AD203B41FA5}">
                      <a16:colId xmlns:a16="http://schemas.microsoft.com/office/drawing/2014/main" val="1318301232"/>
                    </a:ext>
                  </a:extLst>
                </a:gridCol>
                <a:gridCol w="724964">
                  <a:extLst>
                    <a:ext uri="{9D8B030D-6E8A-4147-A177-3AD203B41FA5}">
                      <a16:colId xmlns:a16="http://schemas.microsoft.com/office/drawing/2014/main" val="819328523"/>
                    </a:ext>
                  </a:extLst>
                </a:gridCol>
                <a:gridCol w="724964">
                  <a:extLst>
                    <a:ext uri="{9D8B030D-6E8A-4147-A177-3AD203B41FA5}">
                      <a16:colId xmlns:a16="http://schemas.microsoft.com/office/drawing/2014/main" val="269046285"/>
                    </a:ext>
                  </a:extLst>
                </a:gridCol>
                <a:gridCol w="724964">
                  <a:extLst>
                    <a:ext uri="{9D8B030D-6E8A-4147-A177-3AD203B41FA5}">
                      <a16:colId xmlns:a16="http://schemas.microsoft.com/office/drawing/2014/main" val="4007686614"/>
                    </a:ext>
                  </a:extLst>
                </a:gridCol>
                <a:gridCol w="724964">
                  <a:extLst>
                    <a:ext uri="{9D8B030D-6E8A-4147-A177-3AD203B41FA5}">
                      <a16:colId xmlns:a16="http://schemas.microsoft.com/office/drawing/2014/main" val="3413165791"/>
                    </a:ext>
                  </a:extLst>
                </a:gridCol>
              </a:tblGrid>
              <a:tr h="1252129">
                <a:tc>
                  <a:txBody>
                    <a:bodyPr/>
                    <a:lstStyle/>
                    <a:p>
                      <a:r>
                        <a:rPr lang="en-US" sz="1000" dirty="0">
                          <a:latin typeface="Aptos" panose="020B0004020202020204" pitchFamily="34" charset="0"/>
                        </a:rPr>
                        <a:t>Sample:</a:t>
                      </a:r>
                    </a:p>
                  </a:txBody>
                  <a:tcPr/>
                </a:tc>
                <a:tc>
                  <a:txBody>
                    <a:bodyPr/>
                    <a:lstStyle/>
                    <a:p>
                      <a:r>
                        <a:rPr lang="en-US" sz="1000" dirty="0">
                          <a:latin typeface="Aptos" panose="020B0004020202020204" pitchFamily="34" charset="0"/>
                        </a:rPr>
                        <a:t>PA-11 @ RT &amp; Humidity &gt;24hr</a:t>
                      </a:r>
                    </a:p>
                  </a:txBody>
                  <a:tcPr/>
                </a:tc>
                <a:tc>
                  <a:txBody>
                    <a:bodyPr/>
                    <a:lstStyle/>
                    <a:p>
                      <a:r>
                        <a:rPr lang="en-US" sz="1000" dirty="0">
                          <a:solidFill>
                            <a:schemeClr val="accent2">
                              <a:lumMod val="60000"/>
                              <a:lumOff val="40000"/>
                            </a:schemeClr>
                          </a:solidFill>
                          <a:latin typeface="Aptos" panose="020B0004020202020204" pitchFamily="34" charset="0"/>
                        </a:rPr>
                        <a:t>Dried PA-11 </a:t>
                      </a:r>
                      <a:r>
                        <a:rPr lang="en-US" sz="1000" dirty="0">
                          <a:latin typeface="Aptos" panose="020B0004020202020204" pitchFamily="34" charset="0"/>
                        </a:rPr>
                        <a:t>in</a:t>
                      </a:r>
                    </a:p>
                    <a:p>
                      <a:r>
                        <a:rPr lang="en-US" sz="1000" dirty="0">
                          <a:latin typeface="Aptos" panose="020B0004020202020204" pitchFamily="34" charset="0"/>
                        </a:rPr>
                        <a:t>-0.08MPa </a:t>
                      </a:r>
                      <a:r>
                        <a:rPr lang="en-US" sz="1000" b="1" dirty="0">
                          <a:latin typeface="Aptos" panose="020B0004020202020204" pitchFamily="34" charset="0"/>
                        </a:rPr>
                        <a:t>vacuum 2</a:t>
                      </a:r>
                      <a:r>
                        <a:rPr lang="en-US" sz="1000" b="1" dirty="0">
                          <a:solidFill>
                            <a:schemeClr val="tx1"/>
                          </a:solidFill>
                          <a:latin typeface="Aptos" panose="020B0004020202020204" pitchFamily="34" charset="0"/>
                        </a:rPr>
                        <a:t>5</a:t>
                      </a:r>
                      <a:r>
                        <a:rPr lang="en-US" sz="1000" b="1" kern="1200" dirty="0">
                          <a:solidFill>
                            <a:schemeClr val="tx1"/>
                          </a:solidFill>
                          <a:effectLst/>
                          <a:latin typeface="Aptos" panose="020B0004020202020204" pitchFamily="34" charset="0"/>
                        </a:rPr>
                        <a:t>°C for 1 </a:t>
                      </a:r>
                      <a:r>
                        <a:rPr lang="en-US" sz="1000" b="1" kern="1200" dirty="0" err="1">
                          <a:solidFill>
                            <a:schemeClr val="tx1"/>
                          </a:solidFill>
                          <a:effectLst/>
                          <a:latin typeface="Aptos" panose="020B0004020202020204" pitchFamily="34" charset="0"/>
                        </a:rPr>
                        <a:t>hr</a:t>
                      </a:r>
                      <a:endParaRPr lang="en-US" sz="1000" b="1" dirty="0">
                        <a:solidFill>
                          <a:schemeClr val="tx1"/>
                        </a:solidFill>
                        <a:latin typeface="Aptos" panose="020B0004020202020204" pitchFamily="34" charset="0"/>
                      </a:endParaRPr>
                    </a:p>
                  </a:txBody>
                  <a:tcPr/>
                </a:tc>
                <a:tc>
                  <a:txBody>
                    <a:bodyPr/>
                    <a:lstStyle/>
                    <a:p>
                      <a:r>
                        <a:rPr lang="en-US" sz="1000" dirty="0">
                          <a:latin typeface="Aptos" panose="020B0004020202020204" pitchFamily="34" charset="0"/>
                        </a:rPr>
                        <a:t>PHB @ RT &amp; Humidity &gt;24hr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accent2">
                              <a:lumMod val="60000"/>
                              <a:lumOff val="40000"/>
                            </a:schemeClr>
                          </a:solidFill>
                          <a:latin typeface="Aptos" panose="020B0004020202020204" pitchFamily="34" charset="0"/>
                        </a:rPr>
                        <a:t>Dried PHB </a:t>
                      </a:r>
                      <a:r>
                        <a:rPr lang="en-US" sz="1000" dirty="0">
                          <a:latin typeface="Aptos" panose="020B0004020202020204" pitchFamily="34" charset="0"/>
                        </a:rPr>
                        <a:t>in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-0.08MPa </a:t>
                      </a:r>
                      <a:r>
                        <a:rPr lang="en-US" sz="1000" b="1" dirty="0">
                          <a:latin typeface="Aptos" panose="020B0004020202020204" pitchFamily="34" charset="0"/>
                        </a:rPr>
                        <a:t>vacuum 25</a:t>
                      </a:r>
                      <a:r>
                        <a:rPr lang="en-US" sz="1000" b="1" kern="1200" dirty="0">
                          <a:solidFill>
                            <a:schemeClr val="tx1"/>
                          </a:solidFill>
                          <a:effectLst/>
                          <a:latin typeface="Aptos" panose="020B0004020202020204" pitchFamily="34" charset="0"/>
                        </a:rPr>
                        <a:t>°C for 1 </a:t>
                      </a:r>
                      <a:r>
                        <a:rPr lang="en-US" sz="1000" b="1" kern="1200" dirty="0" err="1">
                          <a:solidFill>
                            <a:schemeClr val="tx1"/>
                          </a:solidFill>
                          <a:effectLst/>
                          <a:latin typeface="Aptos" panose="020B0004020202020204" pitchFamily="34" charset="0"/>
                        </a:rPr>
                        <a:t>hr</a:t>
                      </a:r>
                      <a:endParaRPr lang="en-US" sz="1000" dirty="0">
                        <a:solidFill>
                          <a:schemeClr val="tx1"/>
                        </a:solidFill>
                        <a:latin typeface="Aptos" panose="020B0004020202020204" pitchFamily="34" charset="0"/>
                      </a:endParaRPr>
                    </a:p>
                    <a:p>
                      <a:endParaRPr lang="en-US" sz="1000" dirty="0">
                        <a:latin typeface="Aptos" panose="020B0004020202020204" pitchFamily="34" charset="0"/>
                      </a:endParaRPr>
                    </a:p>
                  </a:txBody>
                  <a:tcPr/>
                </a:tc>
                <a:tc>
                  <a:txBody>
                    <a:bodyPr/>
                    <a:lstStyle/>
                    <a:p>
                      <a:r>
                        <a:rPr lang="en-US" sz="1000" dirty="0">
                          <a:latin typeface="Aptos" panose="020B0004020202020204" pitchFamily="34" charset="0"/>
                        </a:rPr>
                        <a:t>PLA @ RT &amp; Humidity &gt;24hr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accent2">
                              <a:lumMod val="60000"/>
                              <a:lumOff val="40000"/>
                            </a:schemeClr>
                          </a:solidFill>
                          <a:latin typeface="Aptos" panose="020B0004020202020204" pitchFamily="34" charset="0"/>
                        </a:rPr>
                        <a:t>Dried PLA </a:t>
                      </a:r>
                      <a:r>
                        <a:rPr lang="en-US" sz="1000" dirty="0">
                          <a:latin typeface="Aptos" panose="020B0004020202020204" pitchFamily="34" charset="0"/>
                        </a:rPr>
                        <a:t>in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Aptos" panose="020B0004020202020204" pitchFamily="34" charset="0"/>
                        </a:rPr>
                        <a:t>-0.08MPa </a:t>
                      </a:r>
                      <a:r>
                        <a:rPr lang="en-US" sz="1000" b="1" dirty="0">
                          <a:solidFill>
                            <a:schemeClr val="tx1"/>
                          </a:solidFill>
                          <a:latin typeface="Aptos" panose="020B0004020202020204" pitchFamily="34" charset="0"/>
                        </a:rPr>
                        <a:t>vacuum 25</a:t>
                      </a:r>
                      <a:r>
                        <a:rPr lang="en-US" sz="1000" b="1" kern="1200" dirty="0">
                          <a:solidFill>
                            <a:schemeClr val="tx1"/>
                          </a:solidFill>
                          <a:effectLst/>
                          <a:latin typeface="Aptos" panose="020B0004020202020204" pitchFamily="34" charset="0"/>
                        </a:rPr>
                        <a:t>°C for 1 </a:t>
                      </a:r>
                      <a:r>
                        <a:rPr lang="en-US" sz="1000" b="1" kern="1200" dirty="0" err="1">
                          <a:solidFill>
                            <a:schemeClr val="tx1"/>
                          </a:solidFill>
                          <a:effectLst/>
                          <a:latin typeface="Aptos" panose="020B0004020202020204" pitchFamily="34" charset="0"/>
                        </a:rPr>
                        <a:t>hr</a:t>
                      </a:r>
                      <a:endParaRPr lang="en-US" sz="1000" dirty="0">
                        <a:solidFill>
                          <a:schemeClr val="tx1"/>
                        </a:solidFill>
                        <a:latin typeface="Aptos" panose="020B0004020202020204" pitchFamily="34" charset="0"/>
                      </a:endParaRPr>
                    </a:p>
                    <a:p>
                      <a:endParaRPr lang="en-US" sz="1000" dirty="0">
                        <a:latin typeface="Aptos" panose="020B0004020202020204" pitchFamily="34" charset="0"/>
                      </a:endParaRPr>
                    </a:p>
                  </a:txBody>
                  <a:tcPr/>
                </a:tc>
                <a:extLst>
                  <a:ext uri="{0D108BD9-81ED-4DB2-BD59-A6C34878D82A}">
                    <a16:rowId xmlns:a16="http://schemas.microsoft.com/office/drawing/2014/main" val="2748881830"/>
                  </a:ext>
                </a:extLst>
              </a:tr>
              <a:tr h="669744">
                <a:tc>
                  <a:txBody>
                    <a:bodyPr/>
                    <a:lstStyle/>
                    <a:p>
                      <a:r>
                        <a:rPr lang="en-US" sz="1000" b="1" dirty="0">
                          <a:latin typeface="Aptos" panose="020B0004020202020204" pitchFamily="34" charset="0"/>
                        </a:rPr>
                        <a:t>Tensile Strength in MPa </a:t>
                      </a:r>
                    </a:p>
                    <a:p>
                      <a:endParaRPr lang="en-US" sz="1000" b="1" dirty="0">
                        <a:latin typeface="Aptos" panose="020B0004020202020204" pitchFamily="34" charset="0"/>
                      </a:endParaRPr>
                    </a:p>
                  </a:txBody>
                  <a:tcPr/>
                </a:tc>
                <a:tc>
                  <a:txBody>
                    <a:bodyPr/>
                    <a:lstStyle/>
                    <a:p>
                      <a:r>
                        <a:rPr lang="en-US" sz="1000" dirty="0">
                          <a:latin typeface="Aptos" panose="020B0004020202020204" pitchFamily="34" charset="0"/>
                        </a:rPr>
                        <a:t>33.5 ± 2.0</a:t>
                      </a:r>
                    </a:p>
                  </a:txBody>
                  <a:tcPr/>
                </a:tc>
                <a:tc>
                  <a:txBody>
                    <a:bodyPr/>
                    <a:lstStyle/>
                    <a:p>
                      <a:r>
                        <a:rPr lang="en-US" sz="1000" dirty="0">
                          <a:latin typeface="Aptos" panose="020B0004020202020204" pitchFamily="34" charset="0"/>
                        </a:rPr>
                        <a:t>35.1 ± 1.3</a:t>
                      </a:r>
                    </a:p>
                  </a:txBody>
                  <a:tcPr/>
                </a:tc>
                <a:tc>
                  <a:txBody>
                    <a:bodyPr/>
                    <a:lstStyle/>
                    <a:p>
                      <a:r>
                        <a:rPr lang="en-US" sz="1000" dirty="0">
                          <a:latin typeface="Aptos" panose="020B0004020202020204" pitchFamily="34" charset="0"/>
                        </a:rPr>
                        <a:t>14.2 ± 1.6</a:t>
                      </a:r>
                    </a:p>
                  </a:txBody>
                  <a:tcPr/>
                </a:tc>
                <a:tc>
                  <a:txBody>
                    <a:bodyPr/>
                    <a:lstStyle/>
                    <a:p>
                      <a:r>
                        <a:rPr lang="en-US" sz="1000" dirty="0">
                          <a:latin typeface="Aptos" panose="020B0004020202020204" pitchFamily="34" charset="0"/>
                        </a:rPr>
                        <a:t>11.6 ± 1.0</a:t>
                      </a:r>
                    </a:p>
                  </a:txBody>
                  <a:tcPr/>
                </a:tc>
                <a:tc>
                  <a:txBody>
                    <a:bodyPr/>
                    <a:lstStyle/>
                    <a:p>
                      <a:r>
                        <a:rPr lang="en-US" sz="1000" dirty="0">
                          <a:latin typeface="Aptos" panose="020B0004020202020204" pitchFamily="34" charset="0"/>
                        </a:rPr>
                        <a:t>36.2 ± 4.8</a:t>
                      </a:r>
                    </a:p>
                  </a:txBody>
                  <a:tcPr/>
                </a:tc>
                <a:tc>
                  <a:txBody>
                    <a:bodyPr/>
                    <a:lstStyle/>
                    <a:p>
                      <a:r>
                        <a:rPr lang="en-US" sz="1000" dirty="0">
                          <a:latin typeface="Aptos" panose="020B0004020202020204" pitchFamily="34" charset="0"/>
                        </a:rPr>
                        <a:t>31.2 ± 2.9</a:t>
                      </a:r>
                    </a:p>
                  </a:txBody>
                  <a:tcPr/>
                </a:tc>
                <a:extLst>
                  <a:ext uri="{0D108BD9-81ED-4DB2-BD59-A6C34878D82A}">
                    <a16:rowId xmlns:a16="http://schemas.microsoft.com/office/drawing/2014/main" val="3743863665"/>
                  </a:ext>
                </a:extLst>
              </a:tr>
              <a:tr h="815340">
                <a:tc>
                  <a:txBody>
                    <a:bodyPr/>
                    <a:lstStyle/>
                    <a:p>
                      <a:r>
                        <a:rPr lang="en-US" sz="1000" b="1" dirty="0">
                          <a:latin typeface="Aptos" panose="020B0004020202020204" pitchFamily="34" charset="0"/>
                        </a:rPr>
                        <a:t>% Elongation at Break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latin typeface="Aptos" panose="020B0004020202020204" pitchFamily="34" charset="0"/>
                      </a:endParaRPr>
                    </a:p>
                  </a:txBody>
                  <a:tcPr/>
                </a:tc>
                <a:tc>
                  <a:txBody>
                    <a:bodyPr/>
                    <a:lstStyle/>
                    <a:p>
                      <a:r>
                        <a:rPr lang="en-US" sz="1000" dirty="0">
                          <a:latin typeface="Aptos" panose="020B0004020202020204" pitchFamily="34" charset="0"/>
                        </a:rPr>
                        <a:t>154.6 ± 60.5</a:t>
                      </a:r>
                    </a:p>
                  </a:txBody>
                  <a:tcPr/>
                </a:tc>
                <a:tc>
                  <a:txBody>
                    <a:bodyPr/>
                    <a:lstStyle/>
                    <a:p>
                      <a:r>
                        <a:rPr lang="en-US" sz="1000" dirty="0">
                          <a:latin typeface="Aptos" panose="020B0004020202020204" pitchFamily="34" charset="0"/>
                        </a:rPr>
                        <a:t>24.7 ± 2.9</a:t>
                      </a:r>
                    </a:p>
                  </a:txBody>
                  <a:tcPr/>
                </a:tc>
                <a:tc>
                  <a:txBody>
                    <a:bodyPr/>
                    <a:lstStyle/>
                    <a:p>
                      <a:r>
                        <a:rPr lang="en-US" sz="1000" dirty="0">
                          <a:latin typeface="Aptos" panose="020B0004020202020204" pitchFamily="34" charset="0"/>
                        </a:rPr>
                        <a:t>1.0 ± 0.1</a:t>
                      </a:r>
                    </a:p>
                  </a:txBody>
                  <a:tcPr/>
                </a:tc>
                <a:tc>
                  <a:txBody>
                    <a:bodyPr/>
                    <a:lstStyle/>
                    <a:p>
                      <a:r>
                        <a:rPr lang="en-US" sz="1000" dirty="0">
                          <a:latin typeface="Aptos" panose="020B0004020202020204" pitchFamily="34" charset="0"/>
                        </a:rPr>
                        <a:t>0.8 ± 0.1</a:t>
                      </a:r>
                    </a:p>
                  </a:txBody>
                  <a:tcPr/>
                </a:tc>
                <a:tc>
                  <a:txBody>
                    <a:bodyPr/>
                    <a:lstStyle/>
                    <a:p>
                      <a:r>
                        <a:rPr lang="en-US" sz="1000" dirty="0">
                          <a:latin typeface="Aptos" panose="020B0004020202020204" pitchFamily="34" charset="0"/>
                        </a:rPr>
                        <a:t>1.3 ± 0.2</a:t>
                      </a:r>
                    </a:p>
                  </a:txBody>
                  <a:tcPr/>
                </a:tc>
                <a:tc>
                  <a:txBody>
                    <a:bodyPr/>
                    <a:lstStyle/>
                    <a:p>
                      <a:r>
                        <a:rPr lang="en-US" sz="1000" dirty="0">
                          <a:latin typeface="Aptos" panose="020B0004020202020204" pitchFamily="34" charset="0"/>
                        </a:rPr>
                        <a:t>1.1 ± 0.1</a:t>
                      </a:r>
                    </a:p>
                  </a:txBody>
                  <a:tcPr/>
                </a:tc>
                <a:extLst>
                  <a:ext uri="{0D108BD9-81ED-4DB2-BD59-A6C34878D82A}">
                    <a16:rowId xmlns:a16="http://schemas.microsoft.com/office/drawing/2014/main" val="953786594"/>
                  </a:ext>
                </a:extLst>
              </a:tr>
              <a:tr h="524147">
                <a:tc>
                  <a:txBody>
                    <a:bodyPr/>
                    <a:lstStyle/>
                    <a:p>
                      <a:r>
                        <a:rPr lang="en-US" sz="1000" b="1" dirty="0">
                          <a:latin typeface="Aptos" panose="020B0004020202020204" pitchFamily="34" charset="0"/>
                        </a:rPr>
                        <a:t>Modulus in </a:t>
                      </a:r>
                      <a:r>
                        <a:rPr lang="en-US" sz="1000" b="1" dirty="0" err="1">
                          <a:latin typeface="Aptos" panose="020B0004020202020204" pitchFamily="34" charset="0"/>
                        </a:rPr>
                        <a:t>GPa</a:t>
                      </a:r>
                      <a:endParaRPr lang="en-US" sz="1000" b="1" dirty="0">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latin typeface="Aptos" panose="020B0004020202020204" pitchFamily="34" charset="0"/>
                      </a:endParaRPr>
                    </a:p>
                  </a:txBody>
                  <a:tcPr/>
                </a:tc>
                <a:tc>
                  <a:txBody>
                    <a:bodyPr/>
                    <a:lstStyle/>
                    <a:p>
                      <a:r>
                        <a:rPr lang="en-US" sz="1000" dirty="0">
                          <a:latin typeface="Aptos" panose="020B0004020202020204" pitchFamily="34" charset="0"/>
                        </a:rPr>
                        <a:t>0.9 ± 0.1</a:t>
                      </a:r>
                    </a:p>
                  </a:txBody>
                  <a:tcPr/>
                </a:tc>
                <a:tc>
                  <a:txBody>
                    <a:bodyPr/>
                    <a:lstStyle/>
                    <a:p>
                      <a:r>
                        <a:rPr lang="en-US" sz="1000" dirty="0">
                          <a:latin typeface="Aptos" panose="020B0004020202020204" pitchFamily="34" charset="0"/>
                        </a:rPr>
                        <a:t>1.2 ± 0.1</a:t>
                      </a:r>
                    </a:p>
                  </a:txBody>
                  <a:tcPr/>
                </a:tc>
                <a:tc>
                  <a:txBody>
                    <a:bodyPr/>
                    <a:lstStyle/>
                    <a:p>
                      <a:r>
                        <a:rPr lang="en-US" sz="1000" dirty="0">
                          <a:latin typeface="Aptos" panose="020B0004020202020204" pitchFamily="34" charset="0"/>
                        </a:rPr>
                        <a:t>2.5 ± 0.1</a:t>
                      </a:r>
                    </a:p>
                  </a:txBody>
                  <a:tcPr/>
                </a:tc>
                <a:tc>
                  <a:txBody>
                    <a:bodyPr/>
                    <a:lstStyle/>
                    <a:p>
                      <a:r>
                        <a:rPr lang="en-US" sz="1000" dirty="0">
                          <a:latin typeface="Aptos" panose="020B0004020202020204" pitchFamily="34" charset="0"/>
                        </a:rPr>
                        <a:t>2.6 ± 0.2</a:t>
                      </a:r>
                    </a:p>
                  </a:txBody>
                  <a:tcPr/>
                </a:tc>
                <a:tc>
                  <a:txBody>
                    <a:bodyPr/>
                    <a:lstStyle/>
                    <a:p>
                      <a:r>
                        <a:rPr lang="en-US" sz="1000" dirty="0">
                          <a:latin typeface="Aptos" panose="020B0004020202020204" pitchFamily="34" charset="0"/>
                        </a:rPr>
                        <a:t>3.0 ± 0.2</a:t>
                      </a:r>
                    </a:p>
                  </a:txBody>
                  <a:tcPr/>
                </a:tc>
                <a:tc>
                  <a:txBody>
                    <a:bodyPr/>
                    <a:lstStyle/>
                    <a:p>
                      <a:r>
                        <a:rPr lang="en-US" sz="1000" dirty="0">
                          <a:latin typeface="Aptos" panose="020B0004020202020204" pitchFamily="34" charset="0"/>
                        </a:rPr>
                        <a:t>3.2 ± 0.1</a:t>
                      </a:r>
                    </a:p>
                  </a:txBody>
                  <a:tcPr/>
                </a:tc>
                <a:extLst>
                  <a:ext uri="{0D108BD9-81ED-4DB2-BD59-A6C34878D82A}">
                    <a16:rowId xmlns:a16="http://schemas.microsoft.com/office/drawing/2014/main" val="3792844677"/>
                  </a:ext>
                </a:extLst>
              </a:tr>
            </a:tbl>
          </a:graphicData>
        </a:graphic>
      </p:graphicFrame>
      <p:sp>
        <p:nvSpPr>
          <p:cNvPr id="3" name="Title 1">
            <a:extLst>
              <a:ext uri="{FF2B5EF4-FFF2-40B4-BE49-F238E27FC236}">
                <a16:creationId xmlns:a16="http://schemas.microsoft.com/office/drawing/2014/main" id="{643FFE7D-B51F-EC2F-3E55-D40FD4BF21D5}"/>
              </a:ext>
            </a:extLst>
          </p:cNvPr>
          <p:cNvSpPr txBox="1">
            <a:spLocks/>
          </p:cNvSpPr>
          <p:nvPr/>
        </p:nvSpPr>
        <p:spPr>
          <a:xfrm>
            <a:off x="311068" y="3019398"/>
            <a:ext cx="3657062" cy="738016"/>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b="1" i="0" kern="1200">
                <a:solidFill>
                  <a:schemeClr val="tx1"/>
                </a:solidFill>
                <a:latin typeface="Aptos" panose="020B0004020202020204" pitchFamily="34" charset="0"/>
                <a:ea typeface="+mj-ea"/>
                <a:cs typeface="Calibri" panose="020F0502020204030204" pitchFamily="34" charset="0"/>
              </a:defRPr>
            </a:lvl1pPr>
          </a:lstStyle>
          <a:p>
            <a:r>
              <a:rPr lang="en-US" sz="1200" dirty="0"/>
              <a:t>Polymer Preparation for Tensile Testing</a:t>
            </a:r>
            <a:br>
              <a:rPr lang="en-US" sz="1200" dirty="0"/>
            </a:br>
            <a:r>
              <a:rPr lang="en-US" sz="1200" dirty="0"/>
              <a:t>Polyamide 11 (PA-11), Polyhydroxy Butyrate (PHB), &amp; </a:t>
            </a:r>
            <a:r>
              <a:rPr lang="en-US" sz="1200" dirty="0" err="1"/>
              <a:t>Polylatic</a:t>
            </a:r>
            <a:r>
              <a:rPr lang="en-US" sz="1200" dirty="0"/>
              <a:t> Acid (PLA)</a:t>
            </a:r>
          </a:p>
        </p:txBody>
      </p:sp>
      <p:pic>
        <p:nvPicPr>
          <p:cNvPr id="4" name="Picture 3">
            <a:extLst>
              <a:ext uri="{FF2B5EF4-FFF2-40B4-BE49-F238E27FC236}">
                <a16:creationId xmlns:a16="http://schemas.microsoft.com/office/drawing/2014/main" id="{EDBE9B27-AF76-5AD4-846F-43A4517E362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1155" y="3762620"/>
            <a:ext cx="935413" cy="1258995"/>
          </a:xfrm>
          <a:prstGeom prst="rect">
            <a:avLst/>
          </a:prstGeom>
        </p:spPr>
      </p:pic>
      <p:pic>
        <p:nvPicPr>
          <p:cNvPr id="5" name="Picture 4">
            <a:extLst>
              <a:ext uri="{FF2B5EF4-FFF2-40B4-BE49-F238E27FC236}">
                <a16:creationId xmlns:a16="http://schemas.microsoft.com/office/drawing/2014/main" id="{4AB03EE8-0890-1C32-0507-3D7BD193FA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02630" y="3762620"/>
            <a:ext cx="970633" cy="1258995"/>
          </a:xfrm>
          <a:prstGeom prst="rect">
            <a:avLst/>
          </a:prstGeom>
        </p:spPr>
      </p:pic>
      <p:pic>
        <p:nvPicPr>
          <p:cNvPr id="6" name="Picture 5">
            <a:extLst>
              <a:ext uri="{FF2B5EF4-FFF2-40B4-BE49-F238E27FC236}">
                <a16:creationId xmlns:a16="http://schemas.microsoft.com/office/drawing/2014/main" id="{2844197F-0668-C3B4-E1D2-6F9A63D549C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611806" y="3762620"/>
            <a:ext cx="1055586" cy="1258995"/>
          </a:xfrm>
          <a:prstGeom prst="rect">
            <a:avLst/>
          </a:prstGeom>
        </p:spPr>
      </p:pic>
      <p:sp>
        <p:nvSpPr>
          <p:cNvPr id="7" name="TextBox 6">
            <a:extLst>
              <a:ext uri="{FF2B5EF4-FFF2-40B4-BE49-F238E27FC236}">
                <a16:creationId xmlns:a16="http://schemas.microsoft.com/office/drawing/2014/main" id="{B3DCAF3D-32F1-078F-5051-5349641EB839}"/>
              </a:ext>
            </a:extLst>
          </p:cNvPr>
          <p:cNvSpPr txBox="1"/>
          <p:nvPr/>
        </p:nvSpPr>
        <p:spPr>
          <a:xfrm>
            <a:off x="510495" y="5032027"/>
            <a:ext cx="966073" cy="338554"/>
          </a:xfrm>
          <a:prstGeom prst="rect">
            <a:avLst/>
          </a:prstGeom>
          <a:noFill/>
        </p:spPr>
        <p:txBody>
          <a:bodyPr wrap="square" rtlCol="0">
            <a:spAutoFit/>
          </a:bodyPr>
          <a:lstStyle/>
          <a:p>
            <a:r>
              <a:rPr lang="en-US" sz="800" dirty="0">
                <a:latin typeface="Aptos" panose="020B0004020202020204" pitchFamily="34" charset="0"/>
                <a:cs typeface="Times New Roman" panose="02020603050405020304" pitchFamily="18" charset="0"/>
              </a:rPr>
              <a:t>Cut film to 3mm width</a:t>
            </a:r>
          </a:p>
        </p:txBody>
      </p:sp>
      <p:sp>
        <p:nvSpPr>
          <p:cNvPr id="8" name="TextBox 7">
            <a:extLst>
              <a:ext uri="{FF2B5EF4-FFF2-40B4-BE49-F238E27FC236}">
                <a16:creationId xmlns:a16="http://schemas.microsoft.com/office/drawing/2014/main" id="{54C1DBA0-A530-E839-AEBE-5947597FA332}"/>
              </a:ext>
            </a:extLst>
          </p:cNvPr>
          <p:cNvSpPr txBox="1"/>
          <p:nvPr/>
        </p:nvSpPr>
        <p:spPr>
          <a:xfrm>
            <a:off x="1611806" y="5032027"/>
            <a:ext cx="1055586" cy="584775"/>
          </a:xfrm>
          <a:prstGeom prst="rect">
            <a:avLst/>
          </a:prstGeom>
          <a:noFill/>
        </p:spPr>
        <p:txBody>
          <a:bodyPr wrap="square" rtlCol="0">
            <a:spAutoFit/>
          </a:bodyPr>
          <a:lstStyle/>
          <a:p>
            <a:r>
              <a:rPr lang="en-US" sz="800" dirty="0">
                <a:latin typeface="Aptos" panose="020B0004020202020204" pitchFamily="34" charset="0"/>
                <a:cs typeface="Times New Roman" panose="02020603050405020304" pitchFamily="18" charset="0"/>
              </a:rPr>
              <a:t>Image of cut films, stored at room temperature and humidity. </a:t>
            </a:r>
          </a:p>
        </p:txBody>
      </p:sp>
      <p:sp>
        <p:nvSpPr>
          <p:cNvPr id="9" name="TextBox 8">
            <a:extLst>
              <a:ext uri="{FF2B5EF4-FFF2-40B4-BE49-F238E27FC236}">
                <a16:creationId xmlns:a16="http://schemas.microsoft.com/office/drawing/2014/main" id="{37F7341E-C5F1-D316-73A9-F34F30CFBF6F}"/>
              </a:ext>
            </a:extLst>
          </p:cNvPr>
          <p:cNvSpPr txBox="1"/>
          <p:nvPr/>
        </p:nvSpPr>
        <p:spPr>
          <a:xfrm>
            <a:off x="2802630" y="5021615"/>
            <a:ext cx="966073" cy="830997"/>
          </a:xfrm>
          <a:prstGeom prst="rect">
            <a:avLst/>
          </a:prstGeom>
          <a:noFill/>
        </p:spPr>
        <p:txBody>
          <a:bodyPr wrap="square" rtlCol="0">
            <a:spAutoFit/>
          </a:bodyPr>
          <a:lstStyle/>
          <a:p>
            <a:r>
              <a:rPr lang="en-US" sz="800" dirty="0">
                <a:latin typeface="Aptos" panose="020B0004020202020204" pitchFamily="34" charset="0"/>
                <a:cs typeface="Times New Roman" panose="02020603050405020304" pitchFamily="18" charset="0"/>
              </a:rPr>
              <a:t>Film thickness measured, used smallest thickness for tensile test cross section</a:t>
            </a:r>
          </a:p>
        </p:txBody>
      </p:sp>
      <p:pic>
        <p:nvPicPr>
          <p:cNvPr id="11" name="Picture 10">
            <a:extLst>
              <a:ext uri="{FF2B5EF4-FFF2-40B4-BE49-F238E27FC236}">
                <a16:creationId xmlns:a16="http://schemas.microsoft.com/office/drawing/2014/main" id="{E06522B0-0CF7-CCC3-0DFD-56B71126CEB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470702" y="3285409"/>
            <a:ext cx="1850649" cy="1357690"/>
          </a:xfrm>
          <a:prstGeom prst="rect">
            <a:avLst/>
          </a:prstGeom>
        </p:spPr>
      </p:pic>
      <p:sp>
        <p:nvSpPr>
          <p:cNvPr id="12" name="TextBox 11">
            <a:extLst>
              <a:ext uri="{FF2B5EF4-FFF2-40B4-BE49-F238E27FC236}">
                <a16:creationId xmlns:a16="http://schemas.microsoft.com/office/drawing/2014/main" id="{0C2439A3-BF9A-F2F5-3B94-76AAE8E7967D}"/>
              </a:ext>
            </a:extLst>
          </p:cNvPr>
          <p:cNvSpPr txBox="1"/>
          <p:nvPr/>
        </p:nvSpPr>
        <p:spPr>
          <a:xfrm>
            <a:off x="4360072" y="4672151"/>
            <a:ext cx="1961280" cy="954107"/>
          </a:xfrm>
          <a:prstGeom prst="rect">
            <a:avLst/>
          </a:prstGeom>
          <a:noFill/>
        </p:spPr>
        <p:txBody>
          <a:bodyPr wrap="square" lIns="91440" tIns="45720" rIns="91440" bIns="45720" rtlCol="0" anchor="t">
            <a:spAutoFit/>
          </a:bodyPr>
          <a:lstStyle/>
          <a:p>
            <a:r>
              <a:rPr lang="en-US" sz="800" dirty="0">
                <a:latin typeface="Aptos" panose="020B0004020202020204" pitchFamily="34" charset="0"/>
              </a:rPr>
              <a:t>Polymers dried using vacuum chamber set to -0.08 MPa and 25</a:t>
            </a:r>
            <a:r>
              <a:rPr lang="en-US" sz="800" i="0" kern="1200" dirty="0">
                <a:effectLst/>
                <a:latin typeface="Aptos" panose="020B0004020202020204" pitchFamily="34" charset="0"/>
              </a:rPr>
              <a:t>°</a:t>
            </a:r>
            <a:r>
              <a:rPr lang="en-US" sz="800" dirty="0">
                <a:latin typeface="Aptos" panose="020B0004020202020204" pitchFamily="34" charset="0"/>
              </a:rPr>
              <a:t>C for 1 hour.</a:t>
            </a:r>
          </a:p>
          <a:p>
            <a:endParaRPr lang="en-US" sz="800" dirty="0">
              <a:latin typeface="Aptos" panose="020B0004020202020204" pitchFamily="34" charset="0"/>
            </a:endParaRPr>
          </a:p>
          <a:p>
            <a:r>
              <a:rPr lang="en-US" sz="800" dirty="0">
                <a:latin typeface="Aptos" panose="020B0004020202020204" pitchFamily="34" charset="0"/>
              </a:rPr>
              <a:t>Polymers tested:</a:t>
            </a:r>
          </a:p>
          <a:p>
            <a:endParaRPr lang="en-US" sz="800" dirty="0">
              <a:latin typeface="Aptos" panose="020B0004020202020204" pitchFamily="34" charset="0"/>
            </a:endParaRPr>
          </a:p>
          <a:p>
            <a:endParaRPr lang="en-US" sz="800" dirty="0">
              <a:latin typeface="Aptos" panose="020B0004020202020204" pitchFamily="34" charset="0"/>
            </a:endParaRPr>
          </a:p>
          <a:p>
            <a:endParaRPr lang="en-US" sz="800" dirty="0">
              <a:latin typeface="Aptos" panose="020B0004020202020204" pitchFamily="34" charset="0"/>
            </a:endParaRPr>
          </a:p>
        </p:txBody>
      </p:sp>
      <p:pic>
        <p:nvPicPr>
          <p:cNvPr id="14" name="Picture 2" descr="PA11: Polyamide 11 - NETZSCH Polymers">
            <a:extLst>
              <a:ext uri="{FF2B5EF4-FFF2-40B4-BE49-F238E27FC236}">
                <a16:creationId xmlns:a16="http://schemas.microsoft.com/office/drawing/2014/main" id="{D7BDF90C-300A-EDB5-9DC1-AAAE56EB803D}"/>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072091" y="5301250"/>
            <a:ext cx="1065026" cy="3982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hemical structure of poly(3-hydroxybutyrate) (PHB). | Download Scientific  Diagram">
            <a:extLst>
              <a:ext uri="{FF2B5EF4-FFF2-40B4-BE49-F238E27FC236}">
                <a16:creationId xmlns:a16="http://schemas.microsoft.com/office/drawing/2014/main" id="{58B0A0A6-DCC7-398F-4FD5-3AFA1D99EF5B}"/>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5023751" y="5716645"/>
            <a:ext cx="760123" cy="37553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76235E08-5F56-DD37-7219-6A9C6DFF58CB}"/>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119910" y="6132450"/>
            <a:ext cx="408820" cy="41431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74D61237-80A7-79FA-3724-6BE39AFD7BB6}"/>
              </a:ext>
            </a:extLst>
          </p:cNvPr>
          <p:cNvSpPr txBox="1"/>
          <p:nvPr/>
        </p:nvSpPr>
        <p:spPr>
          <a:xfrm>
            <a:off x="4360071" y="5292490"/>
            <a:ext cx="629451" cy="215444"/>
          </a:xfrm>
          <a:prstGeom prst="rect">
            <a:avLst/>
          </a:prstGeom>
          <a:noFill/>
        </p:spPr>
        <p:txBody>
          <a:bodyPr wrap="square" rtlCol="0">
            <a:spAutoFit/>
          </a:bodyPr>
          <a:lstStyle/>
          <a:p>
            <a:r>
              <a:rPr lang="en-US" sz="800" dirty="0">
                <a:latin typeface="Aptos" panose="020B0004020202020204" pitchFamily="34" charset="0"/>
              </a:rPr>
              <a:t>PA-11</a:t>
            </a:r>
          </a:p>
        </p:txBody>
      </p:sp>
      <p:sp>
        <p:nvSpPr>
          <p:cNvPr id="18" name="TextBox 17">
            <a:extLst>
              <a:ext uri="{FF2B5EF4-FFF2-40B4-BE49-F238E27FC236}">
                <a16:creationId xmlns:a16="http://schemas.microsoft.com/office/drawing/2014/main" id="{8C4EA685-2F24-C528-5EF9-7DB6448B6924}"/>
              </a:ext>
            </a:extLst>
          </p:cNvPr>
          <p:cNvSpPr txBox="1"/>
          <p:nvPr/>
        </p:nvSpPr>
        <p:spPr>
          <a:xfrm>
            <a:off x="4366766" y="5796691"/>
            <a:ext cx="475911" cy="215444"/>
          </a:xfrm>
          <a:prstGeom prst="rect">
            <a:avLst/>
          </a:prstGeom>
          <a:noFill/>
        </p:spPr>
        <p:txBody>
          <a:bodyPr wrap="square" rtlCol="0">
            <a:spAutoFit/>
          </a:bodyPr>
          <a:lstStyle/>
          <a:p>
            <a:r>
              <a:rPr lang="en-US" sz="800" dirty="0">
                <a:latin typeface="Aptos" panose="020B0004020202020204" pitchFamily="34" charset="0"/>
              </a:rPr>
              <a:t>PHB</a:t>
            </a:r>
          </a:p>
        </p:txBody>
      </p:sp>
      <p:sp>
        <p:nvSpPr>
          <p:cNvPr id="19" name="TextBox 18">
            <a:extLst>
              <a:ext uri="{FF2B5EF4-FFF2-40B4-BE49-F238E27FC236}">
                <a16:creationId xmlns:a16="http://schemas.microsoft.com/office/drawing/2014/main" id="{A7037F50-C5FA-4B6F-AB44-222EBFFCF34F}"/>
              </a:ext>
            </a:extLst>
          </p:cNvPr>
          <p:cNvSpPr txBox="1"/>
          <p:nvPr/>
        </p:nvSpPr>
        <p:spPr>
          <a:xfrm>
            <a:off x="4374826" y="6246596"/>
            <a:ext cx="475911" cy="215444"/>
          </a:xfrm>
          <a:prstGeom prst="rect">
            <a:avLst/>
          </a:prstGeom>
          <a:noFill/>
        </p:spPr>
        <p:txBody>
          <a:bodyPr wrap="square" rtlCol="0">
            <a:spAutoFit/>
          </a:bodyPr>
          <a:lstStyle/>
          <a:p>
            <a:r>
              <a:rPr lang="en-US" sz="800" dirty="0">
                <a:latin typeface="Aptos" panose="020B0004020202020204" pitchFamily="34" charset="0"/>
              </a:rPr>
              <a:t>PLA</a:t>
            </a:r>
          </a:p>
        </p:txBody>
      </p:sp>
      <p:pic>
        <p:nvPicPr>
          <p:cNvPr id="20" name="Picture 19">
            <a:extLst>
              <a:ext uri="{FF2B5EF4-FFF2-40B4-BE49-F238E27FC236}">
                <a16:creationId xmlns:a16="http://schemas.microsoft.com/office/drawing/2014/main" id="{04C20B08-1200-6700-B9E8-F99A7AAE7D2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855360" y="1023791"/>
            <a:ext cx="2145639" cy="1783628"/>
          </a:xfrm>
          <a:prstGeom prst="rect">
            <a:avLst/>
          </a:prstGeom>
        </p:spPr>
      </p:pic>
      <p:pic>
        <p:nvPicPr>
          <p:cNvPr id="21" name="Picture 20">
            <a:extLst>
              <a:ext uri="{FF2B5EF4-FFF2-40B4-BE49-F238E27FC236}">
                <a16:creationId xmlns:a16="http://schemas.microsoft.com/office/drawing/2014/main" id="{59A2F137-17AC-D33E-5D36-F9D08AD1D94D}"/>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9958332" y="1059352"/>
            <a:ext cx="2033443" cy="1783628"/>
          </a:xfrm>
          <a:prstGeom prst="rect">
            <a:avLst/>
          </a:prstGeom>
        </p:spPr>
      </p:pic>
      <p:pic>
        <p:nvPicPr>
          <p:cNvPr id="22" name="Picture 21">
            <a:extLst>
              <a:ext uri="{FF2B5EF4-FFF2-40B4-BE49-F238E27FC236}">
                <a16:creationId xmlns:a16="http://schemas.microsoft.com/office/drawing/2014/main" id="{6458D14E-F7A5-DE8E-D2BE-DA5990A012F6}"/>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7894336" y="1029719"/>
            <a:ext cx="2063996" cy="1771772"/>
          </a:xfrm>
          <a:prstGeom prst="rect">
            <a:avLst/>
          </a:prstGeom>
        </p:spPr>
      </p:pic>
      <p:sp>
        <p:nvSpPr>
          <p:cNvPr id="23" name="TextBox 22">
            <a:extLst>
              <a:ext uri="{FF2B5EF4-FFF2-40B4-BE49-F238E27FC236}">
                <a16:creationId xmlns:a16="http://schemas.microsoft.com/office/drawing/2014/main" id="{42D705D9-68A0-A500-B76B-A833956FA4AB}"/>
              </a:ext>
            </a:extLst>
          </p:cNvPr>
          <p:cNvSpPr txBox="1"/>
          <p:nvPr/>
        </p:nvSpPr>
        <p:spPr>
          <a:xfrm>
            <a:off x="6510388" y="2435973"/>
            <a:ext cx="1146597" cy="276999"/>
          </a:xfrm>
          <a:prstGeom prst="rect">
            <a:avLst/>
          </a:prstGeom>
          <a:noFill/>
        </p:spPr>
        <p:txBody>
          <a:bodyPr wrap="square" rtlCol="0">
            <a:spAutoFit/>
          </a:bodyPr>
          <a:lstStyle/>
          <a:p>
            <a:r>
              <a:rPr lang="en-US" sz="1200" b="1" dirty="0">
                <a:latin typeface="Aptos" panose="020B0004020202020204" pitchFamily="34" charset="0"/>
              </a:rPr>
              <a:t>PA-11</a:t>
            </a:r>
          </a:p>
        </p:txBody>
      </p:sp>
      <p:sp>
        <p:nvSpPr>
          <p:cNvPr id="24" name="TextBox 23">
            <a:extLst>
              <a:ext uri="{FF2B5EF4-FFF2-40B4-BE49-F238E27FC236}">
                <a16:creationId xmlns:a16="http://schemas.microsoft.com/office/drawing/2014/main" id="{EF10B823-25C5-55EA-07E7-AAEC135BDB8F}"/>
              </a:ext>
            </a:extLst>
          </p:cNvPr>
          <p:cNvSpPr txBox="1"/>
          <p:nvPr/>
        </p:nvSpPr>
        <p:spPr>
          <a:xfrm>
            <a:off x="8652756" y="2455004"/>
            <a:ext cx="1146597" cy="276999"/>
          </a:xfrm>
          <a:prstGeom prst="rect">
            <a:avLst/>
          </a:prstGeom>
          <a:noFill/>
        </p:spPr>
        <p:txBody>
          <a:bodyPr wrap="square" rtlCol="0">
            <a:spAutoFit/>
          </a:bodyPr>
          <a:lstStyle/>
          <a:p>
            <a:r>
              <a:rPr lang="en-US" sz="1200" b="1" dirty="0">
                <a:latin typeface="Aptos" panose="020B0004020202020204" pitchFamily="34" charset="0"/>
              </a:rPr>
              <a:t>PHB</a:t>
            </a:r>
          </a:p>
        </p:txBody>
      </p:sp>
      <p:sp>
        <p:nvSpPr>
          <p:cNvPr id="25" name="TextBox 24">
            <a:extLst>
              <a:ext uri="{FF2B5EF4-FFF2-40B4-BE49-F238E27FC236}">
                <a16:creationId xmlns:a16="http://schemas.microsoft.com/office/drawing/2014/main" id="{2C30CCE9-295C-E9EE-534D-34DC2EAF2ECA}"/>
              </a:ext>
            </a:extLst>
          </p:cNvPr>
          <p:cNvSpPr txBox="1"/>
          <p:nvPr/>
        </p:nvSpPr>
        <p:spPr>
          <a:xfrm>
            <a:off x="10716752" y="2455003"/>
            <a:ext cx="1146597" cy="276999"/>
          </a:xfrm>
          <a:prstGeom prst="rect">
            <a:avLst/>
          </a:prstGeom>
          <a:noFill/>
        </p:spPr>
        <p:txBody>
          <a:bodyPr wrap="square" rtlCol="0">
            <a:spAutoFit/>
          </a:bodyPr>
          <a:lstStyle/>
          <a:p>
            <a:r>
              <a:rPr lang="en-US" sz="1200" b="1" dirty="0">
                <a:latin typeface="Aptos" panose="020B0004020202020204" pitchFamily="34" charset="0"/>
              </a:rPr>
              <a:t>PLA</a:t>
            </a:r>
          </a:p>
        </p:txBody>
      </p:sp>
      <p:sp>
        <p:nvSpPr>
          <p:cNvPr id="10" name="Title 1">
            <a:extLst>
              <a:ext uri="{FF2B5EF4-FFF2-40B4-BE49-F238E27FC236}">
                <a16:creationId xmlns:a16="http://schemas.microsoft.com/office/drawing/2014/main" id="{4690B0A2-9125-EDBE-7733-44A197D2B3B1}"/>
              </a:ext>
            </a:extLst>
          </p:cNvPr>
          <p:cNvSpPr txBox="1">
            <a:spLocks/>
          </p:cNvSpPr>
          <p:nvPr/>
        </p:nvSpPr>
        <p:spPr>
          <a:xfrm>
            <a:off x="3996871" y="2981508"/>
            <a:ext cx="2813881" cy="376427"/>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b="1" i="0" kern="1200">
                <a:solidFill>
                  <a:schemeClr val="tx1"/>
                </a:solidFill>
                <a:latin typeface="Aptos" panose="020B0004020202020204" pitchFamily="34" charset="0"/>
                <a:ea typeface="+mj-ea"/>
                <a:cs typeface="Calibri" panose="020F0502020204030204" pitchFamily="34" charset="0"/>
              </a:defRPr>
            </a:lvl1pPr>
          </a:lstStyle>
          <a:p>
            <a:r>
              <a:rPr lang="en-US" sz="1200" dirty="0"/>
              <a:t>Polymer Drying Process</a:t>
            </a:r>
          </a:p>
        </p:txBody>
      </p:sp>
      <p:sp>
        <p:nvSpPr>
          <p:cNvPr id="26" name="TextBox 25">
            <a:extLst>
              <a:ext uri="{FF2B5EF4-FFF2-40B4-BE49-F238E27FC236}">
                <a16:creationId xmlns:a16="http://schemas.microsoft.com/office/drawing/2014/main" id="{A80ACFE0-1E17-ADAF-2CFC-201EB2C9A9CE}"/>
              </a:ext>
            </a:extLst>
          </p:cNvPr>
          <p:cNvSpPr txBox="1"/>
          <p:nvPr/>
        </p:nvSpPr>
        <p:spPr>
          <a:xfrm>
            <a:off x="437742" y="815150"/>
            <a:ext cx="5499261" cy="2308324"/>
          </a:xfrm>
          <a:prstGeom prst="rect">
            <a:avLst/>
          </a:prstGeom>
          <a:noFill/>
        </p:spPr>
        <p:txBody>
          <a:bodyPr wrap="square" rtlCol="0">
            <a:spAutoFit/>
          </a:bodyPr>
          <a:lstStyle/>
          <a:p>
            <a:r>
              <a:rPr lang="en-US" dirty="0">
                <a:latin typeface="Aptos" panose="020B0004020202020204" pitchFamily="34" charset="0"/>
              </a:rPr>
              <a:t>Tensile tested sustainably derived resins. Dried samples and non dried samples. </a:t>
            </a:r>
          </a:p>
          <a:p>
            <a:pPr marL="285750" indent="-285750">
              <a:buFont typeface="Wingdings" panose="05000000000000000000" pitchFamily="2" charset="2"/>
              <a:buChar char="v"/>
            </a:pPr>
            <a:r>
              <a:rPr lang="en-US" dirty="0">
                <a:latin typeface="Aptos" panose="020B0004020202020204" pitchFamily="34" charset="0"/>
              </a:rPr>
              <a:t>Dried PA-11 had significant lose in elongation at break, while a noticeable increase in Tensile Strength and Modulus</a:t>
            </a:r>
          </a:p>
          <a:p>
            <a:pPr marL="285750" indent="-285750">
              <a:buFont typeface="Wingdings" panose="05000000000000000000" pitchFamily="2" charset="2"/>
              <a:buChar char="v"/>
            </a:pPr>
            <a:r>
              <a:rPr lang="en-US" dirty="0">
                <a:latin typeface="Aptos" panose="020B0004020202020204" pitchFamily="34" charset="0"/>
              </a:rPr>
              <a:t>PHB, PLA difference were within standard deviation- drying seems to have very little effect on them</a:t>
            </a:r>
          </a:p>
        </p:txBody>
      </p:sp>
    </p:spTree>
    <p:extLst>
      <p:ext uri="{BB962C8B-B14F-4D97-AF65-F5344CB8AC3E}">
        <p14:creationId xmlns:p14="http://schemas.microsoft.com/office/powerpoint/2010/main" val="775651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E475D3-5804-47FA-3079-C5CB70C3540C}"/>
              </a:ext>
            </a:extLst>
          </p:cNvPr>
          <p:cNvSpPr>
            <a:spLocks noGrp="1"/>
          </p:cNvSpPr>
          <p:nvPr>
            <p:ph type="ctrTitle"/>
          </p:nvPr>
        </p:nvSpPr>
        <p:spPr>
          <a:xfrm>
            <a:off x="1524000" y="880633"/>
            <a:ext cx="9144000" cy="2387600"/>
          </a:xfrm>
        </p:spPr>
        <p:txBody>
          <a:bodyPr>
            <a:normAutofit/>
          </a:bodyPr>
          <a:lstStyle/>
          <a:p>
            <a:r>
              <a:rPr lang="en-US" dirty="0"/>
              <a:t>Image Segmentation &amp; Analysis</a:t>
            </a:r>
          </a:p>
        </p:txBody>
      </p:sp>
      <p:sp>
        <p:nvSpPr>
          <p:cNvPr id="4" name="Slide Number Placeholder 3">
            <a:extLst>
              <a:ext uri="{FF2B5EF4-FFF2-40B4-BE49-F238E27FC236}">
                <a16:creationId xmlns:a16="http://schemas.microsoft.com/office/drawing/2014/main" id="{27FB236B-BBEB-70E6-5505-3D4918298BDB}"/>
              </a:ext>
            </a:extLst>
          </p:cNvPr>
          <p:cNvSpPr>
            <a:spLocks noGrp="1"/>
          </p:cNvSpPr>
          <p:nvPr>
            <p:ph type="sldNum" sz="quarter" idx="12"/>
          </p:nvPr>
        </p:nvSpPr>
        <p:spPr/>
        <p:txBody>
          <a:bodyPr/>
          <a:lstStyle/>
          <a:p>
            <a:fld id="{224C0C37-3CEC-4CB4-B902-37F94E20E969}" type="slidenum">
              <a:rPr lang="en-US" smtClean="0"/>
              <a:pPr/>
              <a:t>14</a:t>
            </a:fld>
            <a:endParaRPr lang="en-US" dirty="0"/>
          </a:p>
        </p:txBody>
      </p:sp>
    </p:spTree>
    <p:extLst>
      <p:ext uri="{BB962C8B-B14F-4D97-AF65-F5344CB8AC3E}">
        <p14:creationId xmlns:p14="http://schemas.microsoft.com/office/powerpoint/2010/main" val="4009433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24C0C37-3CEC-4CB4-B902-37F94E20E969}" type="slidenum">
              <a:rPr lang="en-US" smtClean="0"/>
              <a:pPr/>
              <a:t>15</a:t>
            </a:fld>
            <a:endParaRPr lang="en-US"/>
          </a:p>
        </p:txBody>
      </p:sp>
      <p:sp>
        <p:nvSpPr>
          <p:cNvPr id="9" name="Title 1">
            <a:extLst>
              <a:ext uri="{FF2B5EF4-FFF2-40B4-BE49-F238E27FC236}">
                <a16:creationId xmlns:a16="http://schemas.microsoft.com/office/drawing/2014/main" id="{DC87FD3C-32C5-D447-1D59-1D015C0ABB8F}"/>
              </a:ext>
            </a:extLst>
          </p:cNvPr>
          <p:cNvSpPr>
            <a:spLocks noGrp="1"/>
          </p:cNvSpPr>
          <p:nvPr>
            <p:ph type="title"/>
          </p:nvPr>
        </p:nvSpPr>
        <p:spPr>
          <a:xfrm>
            <a:off x="663559" y="264313"/>
            <a:ext cx="10864881" cy="588148"/>
          </a:xfrm>
        </p:spPr>
        <p:txBody>
          <a:bodyPr>
            <a:noAutofit/>
          </a:bodyPr>
          <a:lstStyle/>
          <a:p>
            <a:r>
              <a:rPr lang="en-US" sz="3000" b="1" dirty="0">
                <a:latin typeface="Aptos" panose="020B0004020202020204" pitchFamily="34" charset="0"/>
              </a:rPr>
              <a:t>DragonFly Software Image Segmentation</a:t>
            </a:r>
            <a:endParaRPr lang="en-US" sz="3000" b="1" i="1" dirty="0">
              <a:latin typeface="Aptos" panose="020B0004020202020204" pitchFamily="34" charset="0"/>
            </a:endParaRPr>
          </a:p>
        </p:txBody>
      </p:sp>
      <p:pic>
        <p:nvPicPr>
          <p:cNvPr id="21" name="Picture 2">
            <a:extLst>
              <a:ext uri="{FF2B5EF4-FFF2-40B4-BE49-F238E27FC236}">
                <a16:creationId xmlns:a16="http://schemas.microsoft.com/office/drawing/2014/main" id="{7217D23C-5631-0458-A1E1-638750FAE31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55953" y="1016705"/>
            <a:ext cx="6979625" cy="4177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a:extLst>
              <a:ext uri="{FF2B5EF4-FFF2-40B4-BE49-F238E27FC236}">
                <a16:creationId xmlns:a16="http://schemas.microsoft.com/office/drawing/2014/main" id="{8C5DE554-24C1-47DC-E9C5-652EDDD3A30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80103" y="1040805"/>
            <a:ext cx="2434631" cy="1825974"/>
          </a:xfrm>
          <a:prstGeom prst="rect">
            <a:avLst/>
          </a:prstGeom>
        </p:spPr>
      </p:pic>
      <p:pic>
        <p:nvPicPr>
          <p:cNvPr id="23" name="Picture 2">
            <a:extLst>
              <a:ext uri="{FF2B5EF4-FFF2-40B4-BE49-F238E27FC236}">
                <a16:creationId xmlns:a16="http://schemas.microsoft.com/office/drawing/2014/main" id="{B91A90EB-3407-7C27-133D-64EF5374244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902729" y="5253358"/>
            <a:ext cx="3418430" cy="117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3">
            <a:extLst>
              <a:ext uri="{FF2B5EF4-FFF2-40B4-BE49-F238E27FC236}">
                <a16:creationId xmlns:a16="http://schemas.microsoft.com/office/drawing/2014/main" id="{0C08379E-B911-D9BB-3373-28E5563D63D5}"/>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358309" y="5253357"/>
            <a:ext cx="3402354" cy="1175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a:extLst>
              <a:ext uri="{FF2B5EF4-FFF2-40B4-BE49-F238E27FC236}">
                <a16:creationId xmlns:a16="http://schemas.microsoft.com/office/drawing/2014/main" id="{F752708E-6B1C-3310-E2A8-EC5937812CA8}"/>
              </a:ext>
            </a:extLst>
          </p:cNvPr>
          <p:cNvSpPr txBox="1"/>
          <p:nvPr/>
        </p:nvSpPr>
        <p:spPr>
          <a:xfrm>
            <a:off x="7235578" y="1040805"/>
            <a:ext cx="2293572" cy="200055"/>
          </a:xfrm>
          <a:prstGeom prst="rect">
            <a:avLst/>
          </a:prstGeom>
          <a:noFill/>
        </p:spPr>
        <p:txBody>
          <a:bodyPr wrap="square" rtlCol="0">
            <a:spAutoFit/>
          </a:bodyPr>
          <a:lstStyle/>
          <a:p>
            <a:r>
              <a:rPr lang="en-US" sz="700" dirty="0">
                <a:latin typeface="Aptos" panose="020B0004020202020204" pitchFamily="34" charset="0"/>
              </a:rPr>
              <a:t>Optical Microscope 100x</a:t>
            </a:r>
          </a:p>
        </p:txBody>
      </p:sp>
      <p:sp>
        <p:nvSpPr>
          <p:cNvPr id="2" name="TextBox 1">
            <a:extLst>
              <a:ext uri="{FF2B5EF4-FFF2-40B4-BE49-F238E27FC236}">
                <a16:creationId xmlns:a16="http://schemas.microsoft.com/office/drawing/2014/main" id="{2A4372DE-4166-051D-78CE-97AF8E464C7B}"/>
              </a:ext>
            </a:extLst>
          </p:cNvPr>
          <p:cNvSpPr txBox="1"/>
          <p:nvPr/>
        </p:nvSpPr>
        <p:spPr>
          <a:xfrm>
            <a:off x="9695989" y="1050618"/>
            <a:ext cx="2240058" cy="5355312"/>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Aptos" panose="020B0004020202020204" pitchFamily="34" charset="0"/>
              </a:rPr>
              <a:t>Segmentation used to find highly accurate area and diameters of natural fibers</a:t>
            </a:r>
          </a:p>
          <a:p>
            <a:pPr marL="285750" indent="-285750">
              <a:buFont typeface="Wingdings" panose="05000000000000000000" pitchFamily="2" charset="2"/>
              <a:buChar char="v"/>
            </a:pPr>
            <a:r>
              <a:rPr lang="en-US" dirty="0">
                <a:latin typeface="Aptos" panose="020B0004020202020204" pitchFamily="34" charset="0"/>
              </a:rPr>
              <a:t>DragonFly’s Software watershed method to segment fibers, </a:t>
            </a:r>
            <a:r>
              <a:rPr lang="en-US" dirty="0" err="1">
                <a:latin typeface="Aptos" panose="020B0004020202020204" pitchFamily="34" charset="0"/>
              </a:rPr>
              <a:t>EnviroTextiles</a:t>
            </a:r>
            <a:r>
              <a:rPr lang="en-US" dirty="0">
                <a:latin typeface="Aptos" panose="020B0004020202020204" pitchFamily="34" charset="0"/>
              </a:rPr>
              <a:t> Hemp B610</a:t>
            </a:r>
          </a:p>
          <a:p>
            <a:pPr marL="285750" indent="-285750">
              <a:buFont typeface="Wingdings" panose="05000000000000000000" pitchFamily="2" charset="2"/>
              <a:buChar char="v"/>
            </a:pPr>
            <a:r>
              <a:rPr lang="en-US" dirty="0">
                <a:latin typeface="Aptos" panose="020B0004020202020204" pitchFamily="34" charset="0"/>
              </a:rPr>
              <a:t>Watershed method creates a topographic map of image brightness to segment</a:t>
            </a:r>
          </a:p>
        </p:txBody>
      </p:sp>
      <p:pic>
        <p:nvPicPr>
          <p:cNvPr id="1026" name="Picture 2">
            <a:extLst>
              <a:ext uri="{FF2B5EF4-FFF2-40B4-BE49-F238E27FC236}">
                <a16:creationId xmlns:a16="http://schemas.microsoft.com/office/drawing/2014/main" id="{5E59444C-E6A4-0BE9-B831-D3448CAE28D0}"/>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280104" y="3031024"/>
            <a:ext cx="2464528" cy="164225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F743B6A-BBDB-B59F-1733-336C5C30186A}"/>
              </a:ext>
            </a:extLst>
          </p:cNvPr>
          <p:cNvSpPr txBox="1"/>
          <p:nvPr/>
        </p:nvSpPr>
        <p:spPr>
          <a:xfrm>
            <a:off x="7257840" y="4155406"/>
            <a:ext cx="2509055" cy="538609"/>
          </a:xfrm>
          <a:prstGeom prst="rect">
            <a:avLst/>
          </a:prstGeom>
          <a:noFill/>
        </p:spPr>
        <p:txBody>
          <a:bodyPr wrap="square" rtlCol="0">
            <a:spAutoFit/>
          </a:bodyPr>
          <a:lstStyle/>
          <a:p>
            <a:r>
              <a:rPr lang="en-US" sz="1100" b="1" i="0" dirty="0">
                <a:solidFill>
                  <a:srgbClr val="FFFFFF"/>
                </a:solidFill>
                <a:effectLst/>
                <a:latin typeface="Aptos" panose="020B0004020202020204" pitchFamily="34" charset="0"/>
              </a:rPr>
              <a:t>Sequoia National Park</a:t>
            </a:r>
          </a:p>
          <a:p>
            <a:r>
              <a:rPr lang="en-US" sz="900" dirty="0">
                <a:solidFill>
                  <a:schemeClr val="accent5">
                    <a:lumMod val="60000"/>
                    <a:lumOff val="40000"/>
                  </a:schemeClr>
                </a:solidFill>
                <a:latin typeface="Aptos" panose="020B0004020202020204" pitchFamily="34" charset="0"/>
              </a:rPr>
              <a:t>https://images.nasa.gov/details/GSFC_20171208_Archive_e000235</a:t>
            </a:r>
          </a:p>
        </p:txBody>
      </p:sp>
    </p:spTree>
    <p:extLst>
      <p:ext uri="{BB962C8B-B14F-4D97-AF65-F5344CB8AC3E}">
        <p14:creationId xmlns:p14="http://schemas.microsoft.com/office/powerpoint/2010/main" val="648415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24C0C37-3CEC-4CB4-B902-37F94E20E969}" type="slidenum">
              <a:rPr lang="en-US" smtClean="0"/>
              <a:pPr/>
              <a:t>16</a:t>
            </a:fld>
            <a:endParaRPr lang="en-US"/>
          </a:p>
        </p:txBody>
      </p:sp>
      <p:sp>
        <p:nvSpPr>
          <p:cNvPr id="9" name="Title 1">
            <a:extLst>
              <a:ext uri="{FF2B5EF4-FFF2-40B4-BE49-F238E27FC236}">
                <a16:creationId xmlns:a16="http://schemas.microsoft.com/office/drawing/2014/main" id="{DC87FD3C-32C5-D447-1D59-1D015C0ABB8F}"/>
              </a:ext>
            </a:extLst>
          </p:cNvPr>
          <p:cNvSpPr>
            <a:spLocks noGrp="1"/>
          </p:cNvSpPr>
          <p:nvPr>
            <p:ph type="title"/>
          </p:nvPr>
        </p:nvSpPr>
        <p:spPr>
          <a:xfrm>
            <a:off x="663559" y="264313"/>
            <a:ext cx="10864881" cy="588148"/>
          </a:xfrm>
        </p:spPr>
        <p:txBody>
          <a:bodyPr>
            <a:noAutofit/>
          </a:bodyPr>
          <a:lstStyle/>
          <a:p>
            <a:r>
              <a:rPr lang="en-US" sz="3000" b="1" dirty="0">
                <a:latin typeface="Aptos" panose="020B0004020202020204" pitchFamily="34" charset="0"/>
              </a:rPr>
              <a:t>Yarn Twist Angle Mechanical &amp; Imag</a:t>
            </a:r>
            <a:r>
              <a:rPr lang="en-US" sz="3000" dirty="0"/>
              <a:t>e Analysis</a:t>
            </a:r>
            <a:endParaRPr lang="en-US" sz="3000" b="1" i="1" dirty="0">
              <a:latin typeface="Aptos" panose="020B0004020202020204" pitchFamily="34" charset="0"/>
            </a:endParaRPr>
          </a:p>
        </p:txBody>
      </p:sp>
      <p:pic>
        <p:nvPicPr>
          <p:cNvPr id="19" name="Picture 18">
            <a:extLst>
              <a:ext uri="{FF2B5EF4-FFF2-40B4-BE49-F238E27FC236}">
                <a16:creationId xmlns:a16="http://schemas.microsoft.com/office/drawing/2014/main" id="{A8C8010D-6A33-32F6-9FC4-0EB7A1F861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50433" y="3353376"/>
            <a:ext cx="3581420" cy="2686064"/>
          </a:xfrm>
          <a:prstGeom prst="rect">
            <a:avLst/>
          </a:prstGeom>
        </p:spPr>
      </p:pic>
      <p:sp>
        <p:nvSpPr>
          <p:cNvPr id="20" name="TextBox 19">
            <a:extLst>
              <a:ext uri="{FF2B5EF4-FFF2-40B4-BE49-F238E27FC236}">
                <a16:creationId xmlns:a16="http://schemas.microsoft.com/office/drawing/2014/main" id="{01B5D9FD-77FA-5264-5819-4C3FB9916F76}"/>
              </a:ext>
            </a:extLst>
          </p:cNvPr>
          <p:cNvSpPr txBox="1"/>
          <p:nvPr/>
        </p:nvSpPr>
        <p:spPr>
          <a:xfrm>
            <a:off x="7645177" y="3153321"/>
            <a:ext cx="3418733" cy="261610"/>
          </a:xfrm>
          <a:prstGeom prst="rect">
            <a:avLst/>
          </a:prstGeom>
          <a:noFill/>
        </p:spPr>
        <p:txBody>
          <a:bodyPr wrap="square" rtlCol="0">
            <a:spAutoFit/>
          </a:bodyPr>
          <a:lstStyle/>
          <a:p>
            <a:r>
              <a:rPr lang="en-US" sz="1100" dirty="0">
                <a:latin typeface="Aptos" panose="020B0004020202020204" pitchFamily="34" charset="0"/>
              </a:rPr>
              <a:t>Hemp B608 Twist angle, Optical Microscope 10x</a:t>
            </a:r>
          </a:p>
        </p:txBody>
      </p:sp>
      <p:sp>
        <p:nvSpPr>
          <p:cNvPr id="5" name="TextBox 4">
            <a:extLst>
              <a:ext uri="{FF2B5EF4-FFF2-40B4-BE49-F238E27FC236}">
                <a16:creationId xmlns:a16="http://schemas.microsoft.com/office/drawing/2014/main" id="{12308EF0-CA79-076A-190D-7BD64E3BB22E}"/>
              </a:ext>
            </a:extLst>
          </p:cNvPr>
          <p:cNvSpPr txBox="1"/>
          <p:nvPr/>
        </p:nvSpPr>
        <p:spPr>
          <a:xfrm>
            <a:off x="7405805" y="1112220"/>
            <a:ext cx="2877954" cy="1754326"/>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Aptos" panose="020B0004020202020204" pitchFamily="34" charset="0"/>
              </a:rPr>
              <a:t>Yarn force/linear density has negative correlation with twist angle </a:t>
            </a:r>
          </a:p>
          <a:p>
            <a:pPr marL="285750" indent="-285750">
              <a:buFont typeface="Wingdings" panose="05000000000000000000" pitchFamily="2" charset="2"/>
              <a:buChar char="v"/>
            </a:pPr>
            <a:r>
              <a:rPr lang="en-US" dirty="0">
                <a:latin typeface="Aptos" panose="020B0004020202020204" pitchFamily="34" charset="0"/>
              </a:rPr>
              <a:t>Force at break has positive correlation with with linear density</a:t>
            </a:r>
          </a:p>
        </p:txBody>
      </p:sp>
      <p:pic>
        <p:nvPicPr>
          <p:cNvPr id="6" name="Picture 5" descr="Chart, scatter chart&#10;&#10;AI-generated content may be incorrect.">
            <a:extLst>
              <a:ext uri="{FF2B5EF4-FFF2-40B4-BE49-F238E27FC236}">
                <a16:creationId xmlns:a16="http://schemas.microsoft.com/office/drawing/2014/main" id="{1B283C60-EF88-F63E-4AEA-74BBA2B7C98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964760" y="781211"/>
            <a:ext cx="5016494" cy="2753453"/>
          </a:xfrm>
          <a:prstGeom prst="rect">
            <a:avLst/>
          </a:prstGeom>
        </p:spPr>
      </p:pic>
      <p:pic>
        <p:nvPicPr>
          <p:cNvPr id="7" name="Picture 6" descr="Table&#10;&#10;AI-generated content may be incorrect.">
            <a:extLst>
              <a:ext uri="{FF2B5EF4-FFF2-40B4-BE49-F238E27FC236}">
                <a16:creationId xmlns:a16="http://schemas.microsoft.com/office/drawing/2014/main" id="{81F3A6D9-B96D-2425-8E24-EC0729165BE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1908241" y="3518681"/>
            <a:ext cx="5279232" cy="2753453"/>
          </a:xfrm>
          <a:prstGeom prst="rect">
            <a:avLst/>
          </a:prstGeom>
        </p:spPr>
      </p:pic>
    </p:spTree>
    <p:extLst>
      <p:ext uri="{BB962C8B-B14F-4D97-AF65-F5344CB8AC3E}">
        <p14:creationId xmlns:p14="http://schemas.microsoft.com/office/powerpoint/2010/main" val="2508249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ptos" panose="020B0004020202020204" pitchFamily="34" charset="0"/>
              </a:rPr>
              <a:t>Results &amp; Analysis</a:t>
            </a:r>
          </a:p>
        </p:txBody>
      </p:sp>
      <p:sp>
        <p:nvSpPr>
          <p:cNvPr id="3" name="Content Placeholder 2"/>
          <p:cNvSpPr>
            <a:spLocks noGrp="1"/>
          </p:cNvSpPr>
          <p:nvPr>
            <p:ph idx="1"/>
          </p:nvPr>
        </p:nvSpPr>
        <p:spPr>
          <a:xfrm>
            <a:off x="838200" y="1531337"/>
            <a:ext cx="7333648" cy="4667250"/>
          </a:xfrm>
        </p:spPr>
        <p:txBody>
          <a:bodyPr>
            <a:normAutofit fontScale="62500" lnSpcReduction="20000"/>
          </a:bodyPr>
          <a:lstStyle/>
          <a:p>
            <a:pPr marL="0" indent="0">
              <a:buNone/>
            </a:pPr>
            <a:r>
              <a:rPr lang="en-US" b="1" dirty="0"/>
              <a:t>Results</a:t>
            </a:r>
          </a:p>
          <a:p>
            <a:r>
              <a:rPr lang="en-US" dirty="0"/>
              <a:t>Natural Fibers have large variations in size, shape, cross sectional area, and most properties (mechanical &amp; thermal)</a:t>
            </a:r>
          </a:p>
          <a:p>
            <a:r>
              <a:rPr lang="en-US" dirty="0"/>
              <a:t>On average flax fibers have a higher tensile strength and modulus than hemp, while hemp has a larger % elongation at break </a:t>
            </a:r>
          </a:p>
          <a:p>
            <a:pPr lvl="1"/>
            <a:r>
              <a:rPr lang="en-US" dirty="0"/>
              <a:t>This trend is not always true, as seen by </a:t>
            </a:r>
            <a:r>
              <a:rPr lang="en-US" dirty="0" err="1"/>
              <a:t>EnviroTextiles</a:t>
            </a:r>
            <a:r>
              <a:rPr lang="en-US" dirty="0"/>
              <a:t> 100% Hemp Twill, ~1200MPa Tensile Strength</a:t>
            </a:r>
          </a:p>
          <a:p>
            <a:r>
              <a:rPr lang="en-US" dirty="0"/>
              <a:t>Polyamide 11 shows promising mechanical properties</a:t>
            </a:r>
          </a:p>
          <a:p>
            <a:pPr lvl="2"/>
            <a:r>
              <a:rPr lang="en-US" dirty="0"/>
              <a:t>Similar tensile strength to Polylactic Acid when dried</a:t>
            </a:r>
          </a:p>
          <a:p>
            <a:pPr lvl="2"/>
            <a:r>
              <a:rPr lang="en-US" dirty="0">
                <a:sym typeface="Wingdings" panose="05000000000000000000" pitchFamily="2" charset="2"/>
              </a:rPr>
              <a:t>Very ductile, thus absorbs large amounts of energy before fracture (crucial for aircraft materials)</a:t>
            </a:r>
          </a:p>
          <a:p>
            <a:pPr lvl="2"/>
            <a:r>
              <a:rPr lang="en-US" dirty="0">
                <a:sym typeface="Wingdings" panose="05000000000000000000" pitchFamily="2" charset="2"/>
              </a:rPr>
              <a:t>Has lowest modulus out of the three resins</a:t>
            </a:r>
          </a:p>
          <a:p>
            <a:pPr marL="0" indent="0">
              <a:buNone/>
            </a:pPr>
            <a:r>
              <a:rPr lang="en-US" b="1" dirty="0"/>
              <a:t>Analysis</a:t>
            </a:r>
          </a:p>
          <a:p>
            <a:r>
              <a:rPr lang="en-US" dirty="0"/>
              <a:t>Literature reports flax being stronger than hemp, which is has been confirmed from my testing</a:t>
            </a:r>
          </a:p>
          <a:p>
            <a:pPr lvl="1"/>
            <a:r>
              <a:rPr lang="en-US" dirty="0"/>
              <a:t>However, </a:t>
            </a:r>
            <a:r>
              <a:rPr lang="en-US" dirty="0" err="1"/>
              <a:t>EnviroTextiles</a:t>
            </a:r>
            <a:r>
              <a:rPr lang="en-US" dirty="0"/>
              <a:t> 100% Hemp Twill is an exception</a:t>
            </a:r>
          </a:p>
          <a:p>
            <a:r>
              <a:rPr lang="en-US" dirty="0"/>
              <a:t>Since hemp requires less energy, water, and is space to grow, it is favorable over flax</a:t>
            </a:r>
          </a:p>
          <a:p>
            <a:pPr lvl="1"/>
            <a:r>
              <a:rPr lang="en-US" dirty="0"/>
              <a:t>A hemp fiber potentially stronger than flax is an exciting discovery for SUMAC</a:t>
            </a:r>
            <a:endParaRPr lang="en-US" dirty="0">
              <a:sym typeface="Wingdings" panose="05000000000000000000" pitchFamily="2" charset="2"/>
            </a:endParaRPr>
          </a:p>
          <a:p>
            <a:pPr lvl="2"/>
            <a:endParaRPr lang="en-US" dirty="0"/>
          </a:p>
          <a:p>
            <a:pPr lvl="2"/>
            <a:endParaRPr lang="en-US" dirty="0"/>
          </a:p>
          <a:p>
            <a:endParaRPr lang="en-US" dirty="0"/>
          </a:p>
        </p:txBody>
      </p:sp>
      <p:sp>
        <p:nvSpPr>
          <p:cNvPr id="4" name="Slide Number Placeholder 3"/>
          <p:cNvSpPr>
            <a:spLocks noGrp="1"/>
          </p:cNvSpPr>
          <p:nvPr>
            <p:ph type="sldNum" sz="quarter" idx="12"/>
          </p:nvPr>
        </p:nvSpPr>
        <p:spPr/>
        <p:txBody>
          <a:bodyPr/>
          <a:lstStyle/>
          <a:p>
            <a:fld id="{224C0C37-3CEC-4CB4-B902-37F94E20E969}" type="slidenum">
              <a:rPr lang="en-US" smtClean="0"/>
              <a:pPr/>
              <a:t>17</a:t>
            </a:fld>
            <a:endParaRPr lang="en-US"/>
          </a:p>
        </p:txBody>
      </p:sp>
      <p:pic>
        <p:nvPicPr>
          <p:cNvPr id="5" name="Picture 4">
            <a:extLst>
              <a:ext uri="{FF2B5EF4-FFF2-40B4-BE49-F238E27FC236}">
                <a16:creationId xmlns:a16="http://schemas.microsoft.com/office/drawing/2014/main" id="{F7E0A571-A326-F293-A08C-200B6750689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90932" y="4059169"/>
            <a:ext cx="3454400" cy="1943101"/>
          </a:xfrm>
          <a:prstGeom prst="rect">
            <a:avLst/>
          </a:prstGeom>
        </p:spPr>
      </p:pic>
      <p:pic>
        <p:nvPicPr>
          <p:cNvPr id="6" name="Picture 5" descr="Background pattern&#10;&#10;AI-generated content may be incorrect.">
            <a:extLst>
              <a:ext uri="{FF2B5EF4-FFF2-40B4-BE49-F238E27FC236}">
                <a16:creationId xmlns:a16="http://schemas.microsoft.com/office/drawing/2014/main" id="{5A5527C4-A677-37D1-384E-DCDF7FF8D8F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90932" y="1865608"/>
            <a:ext cx="3454400" cy="1943100"/>
          </a:xfrm>
          <a:prstGeom prst="rect">
            <a:avLst/>
          </a:prstGeom>
        </p:spPr>
      </p:pic>
      <p:sp>
        <p:nvSpPr>
          <p:cNvPr id="7" name="TextBox 6">
            <a:extLst>
              <a:ext uri="{FF2B5EF4-FFF2-40B4-BE49-F238E27FC236}">
                <a16:creationId xmlns:a16="http://schemas.microsoft.com/office/drawing/2014/main" id="{09858C9C-A04D-836D-176B-7B127D0DF765}"/>
              </a:ext>
            </a:extLst>
          </p:cNvPr>
          <p:cNvSpPr txBox="1"/>
          <p:nvPr/>
        </p:nvSpPr>
        <p:spPr>
          <a:xfrm>
            <a:off x="8213407" y="3814160"/>
            <a:ext cx="3978593" cy="261610"/>
          </a:xfrm>
          <a:prstGeom prst="rect">
            <a:avLst/>
          </a:prstGeom>
          <a:noFill/>
        </p:spPr>
        <p:txBody>
          <a:bodyPr wrap="square" rtlCol="0">
            <a:spAutoFit/>
          </a:bodyPr>
          <a:lstStyle/>
          <a:p>
            <a:r>
              <a:rPr lang="en-US" sz="1100" dirty="0" err="1">
                <a:latin typeface="Aptos" panose="020B0004020202020204" pitchFamily="34" charset="0"/>
              </a:rPr>
              <a:t>EnviroTextiles</a:t>
            </a:r>
            <a:r>
              <a:rPr lang="en-US" sz="1100" dirty="0">
                <a:latin typeface="Aptos" panose="020B0004020202020204" pitchFamily="34" charset="0"/>
              </a:rPr>
              <a:t> 100% Hemp Twill Stereo Microscope </a:t>
            </a:r>
          </a:p>
        </p:txBody>
      </p:sp>
      <p:sp>
        <p:nvSpPr>
          <p:cNvPr id="8" name="TextBox 7">
            <a:extLst>
              <a:ext uri="{FF2B5EF4-FFF2-40B4-BE49-F238E27FC236}">
                <a16:creationId xmlns:a16="http://schemas.microsoft.com/office/drawing/2014/main" id="{A53F1720-9992-7D3F-6009-4C409053059A}"/>
              </a:ext>
            </a:extLst>
          </p:cNvPr>
          <p:cNvSpPr txBox="1"/>
          <p:nvPr/>
        </p:nvSpPr>
        <p:spPr>
          <a:xfrm>
            <a:off x="8213407" y="1599866"/>
            <a:ext cx="3736855" cy="261610"/>
          </a:xfrm>
          <a:prstGeom prst="rect">
            <a:avLst/>
          </a:prstGeom>
          <a:noFill/>
        </p:spPr>
        <p:txBody>
          <a:bodyPr wrap="square" rtlCol="0">
            <a:spAutoFit/>
          </a:bodyPr>
          <a:lstStyle/>
          <a:p>
            <a:r>
              <a:rPr lang="en-US" sz="1100" dirty="0" err="1">
                <a:latin typeface="Aptos" panose="020B0004020202020204" pitchFamily="34" charset="0"/>
              </a:rPr>
              <a:t>EnviroTextiles</a:t>
            </a:r>
            <a:r>
              <a:rPr lang="en-US" sz="1100" dirty="0">
                <a:latin typeface="Aptos" panose="020B0004020202020204" pitchFamily="34" charset="0"/>
              </a:rPr>
              <a:t> 100% Hemp Twill Stereo Microscope </a:t>
            </a:r>
          </a:p>
        </p:txBody>
      </p:sp>
    </p:spTree>
    <p:extLst>
      <p:ext uri="{BB962C8B-B14F-4D97-AF65-F5344CB8AC3E}">
        <p14:creationId xmlns:p14="http://schemas.microsoft.com/office/powerpoint/2010/main" val="418828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ptos" panose="020B0004020202020204" pitchFamily="34" charset="0"/>
              </a:rPr>
              <a:t>Next Steps/Outlook/Future Work</a:t>
            </a:r>
          </a:p>
        </p:txBody>
      </p:sp>
      <p:sp>
        <p:nvSpPr>
          <p:cNvPr id="3" name="Content Placeholder 2"/>
          <p:cNvSpPr>
            <a:spLocks noGrp="1"/>
          </p:cNvSpPr>
          <p:nvPr>
            <p:ph idx="1"/>
          </p:nvPr>
        </p:nvSpPr>
        <p:spPr/>
        <p:txBody>
          <a:bodyPr>
            <a:normAutofit lnSpcReduction="10000"/>
          </a:bodyPr>
          <a:lstStyle/>
          <a:p>
            <a:r>
              <a:rPr lang="en-US" dirty="0"/>
              <a:t>Continue to gather data on new natural fibers and resins</a:t>
            </a:r>
          </a:p>
          <a:p>
            <a:r>
              <a:rPr lang="en-US" dirty="0">
                <a:latin typeface="Aptos" panose="020B0004020202020204" pitchFamily="34" charset="0"/>
              </a:rPr>
              <a:t>Attempt to decrease standard deviation further</a:t>
            </a:r>
          </a:p>
          <a:p>
            <a:pPr lvl="1"/>
            <a:r>
              <a:rPr lang="en-US" dirty="0">
                <a:latin typeface="Aptos" panose="020B0004020202020204" pitchFamily="34" charset="0"/>
              </a:rPr>
              <a:t>Utilizing </a:t>
            </a:r>
            <a:r>
              <a:rPr lang="en-US" dirty="0"/>
              <a:t>image segmentation cross sectional areas for the most accurate tensile strength</a:t>
            </a:r>
          </a:p>
          <a:p>
            <a:r>
              <a:rPr lang="en-US" dirty="0">
                <a:latin typeface="Aptos" panose="020B0004020202020204" pitchFamily="34" charset="0"/>
              </a:rPr>
              <a:t>Segment Anything Microscopy by Meta for streamlined </a:t>
            </a:r>
            <a:r>
              <a:rPr lang="en-US" dirty="0"/>
              <a:t>and </a:t>
            </a:r>
            <a:r>
              <a:rPr lang="en-US" dirty="0">
                <a:latin typeface="Aptos" panose="020B0004020202020204" pitchFamily="34" charset="0"/>
              </a:rPr>
              <a:t>accurate image segmentation</a:t>
            </a:r>
          </a:p>
          <a:p>
            <a:r>
              <a:rPr lang="en-US" dirty="0"/>
              <a:t>Down select the best natural fiber and sustainably derived resin</a:t>
            </a:r>
          </a:p>
          <a:p>
            <a:pPr lvl="1"/>
            <a:r>
              <a:rPr lang="en-US" dirty="0">
                <a:latin typeface="Aptos" panose="020B0004020202020204" pitchFamily="34" charset="0"/>
              </a:rPr>
              <a:t>Create a composite with it, and compare with carbon and glass fiber composites</a:t>
            </a:r>
          </a:p>
          <a:p>
            <a:r>
              <a:rPr lang="en-US" dirty="0">
                <a:sym typeface="Wingdings" panose="05000000000000000000" pitchFamily="2" charset="2"/>
              </a:rPr>
              <a:t>SUMAC is broadening. Every discovery leads to more questions, there is a big future ahead for SUMAC. </a:t>
            </a:r>
            <a:endParaRPr lang="en-US" dirty="0">
              <a:latin typeface="Aptos" panose="020B0004020202020204" pitchFamily="34" charset="0"/>
            </a:endParaRPr>
          </a:p>
        </p:txBody>
      </p:sp>
      <p:sp>
        <p:nvSpPr>
          <p:cNvPr id="4" name="Slide Number Placeholder 3"/>
          <p:cNvSpPr>
            <a:spLocks noGrp="1"/>
          </p:cNvSpPr>
          <p:nvPr>
            <p:ph type="sldNum" sz="quarter" idx="12"/>
          </p:nvPr>
        </p:nvSpPr>
        <p:spPr/>
        <p:txBody>
          <a:bodyPr/>
          <a:lstStyle/>
          <a:p>
            <a:fld id="{224C0C37-3CEC-4CB4-B902-37F94E20E969}" type="slidenum">
              <a:rPr lang="en-US" smtClean="0"/>
              <a:pPr/>
              <a:t>18</a:t>
            </a:fld>
            <a:endParaRPr lang="en-US"/>
          </a:p>
        </p:txBody>
      </p:sp>
    </p:spTree>
    <p:extLst>
      <p:ext uri="{BB962C8B-B14F-4D97-AF65-F5344CB8AC3E}">
        <p14:creationId xmlns:p14="http://schemas.microsoft.com/office/powerpoint/2010/main" val="1818800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ptos" panose="020B0004020202020204" pitchFamily="34" charset="0"/>
              </a:rPr>
              <a:t>Acknowledgements</a:t>
            </a:r>
          </a:p>
        </p:txBody>
      </p:sp>
      <p:sp>
        <p:nvSpPr>
          <p:cNvPr id="3" name="Content Placeholder 2"/>
          <p:cNvSpPr>
            <a:spLocks noGrp="1"/>
          </p:cNvSpPr>
          <p:nvPr>
            <p:ph idx="1"/>
          </p:nvPr>
        </p:nvSpPr>
        <p:spPr>
          <a:xfrm>
            <a:off x="838199" y="1571625"/>
            <a:ext cx="5257801" cy="4591670"/>
          </a:xfrm>
        </p:spPr>
        <p:txBody>
          <a:bodyPr>
            <a:normAutofit fontScale="62500" lnSpcReduction="20000"/>
          </a:bodyPr>
          <a:lstStyle/>
          <a:p>
            <a:pPr marL="0" indent="0">
              <a:buNone/>
            </a:pPr>
            <a:r>
              <a:rPr lang="en-US" dirty="0"/>
              <a:t>Thank you to,</a:t>
            </a:r>
          </a:p>
          <a:p>
            <a:r>
              <a:rPr lang="en-US" dirty="0"/>
              <a:t>my mentors Dr. Cheol Park and Dr. Sang-Hyon Chu who taught me and assisted me greatly throughout the internship </a:t>
            </a:r>
          </a:p>
          <a:p>
            <a:r>
              <a:rPr lang="en-US" dirty="0"/>
              <a:t>all the interns I have met and worked with including Jenny Campbell, Jerry Marrero, and Francisco de Jesús especially who also worked on SUMAC.</a:t>
            </a:r>
          </a:p>
          <a:p>
            <a:r>
              <a:rPr lang="en-US" dirty="0"/>
              <a:t>all faculty and researchers who have helped me: Glen King, Keith Gordon, Jin Ho Kang, Alex Hatfield, Jeffrey Hinkley</a:t>
            </a:r>
          </a:p>
          <a:p>
            <a:r>
              <a:rPr lang="en-US" dirty="0"/>
              <a:t>NASA’s Office of STEM Engagement and especially Ashley Gonzalez for helping make this opportunity a reality </a:t>
            </a:r>
          </a:p>
          <a:p>
            <a:r>
              <a:rPr lang="en-US" dirty="0">
                <a:latin typeface="Aptos" panose="020B0004020202020204" pitchFamily="34" charset="0"/>
              </a:rPr>
              <a:t>Hogan Choi for being great roommate &amp; fellow intern</a:t>
            </a:r>
          </a:p>
          <a:p>
            <a:r>
              <a:rPr lang="en-US" dirty="0">
                <a:latin typeface="Aptos" panose="020B0004020202020204" pitchFamily="34" charset="0"/>
              </a:rPr>
              <a:t>my amazing supportive parents, who helped me experience this great internship</a:t>
            </a:r>
          </a:p>
        </p:txBody>
      </p:sp>
      <p:sp>
        <p:nvSpPr>
          <p:cNvPr id="4" name="Slide Number Placeholder 3"/>
          <p:cNvSpPr>
            <a:spLocks noGrp="1"/>
          </p:cNvSpPr>
          <p:nvPr>
            <p:ph type="sldNum" sz="quarter" idx="12"/>
          </p:nvPr>
        </p:nvSpPr>
        <p:spPr/>
        <p:txBody>
          <a:bodyPr/>
          <a:lstStyle/>
          <a:p>
            <a:fld id="{224C0C37-3CEC-4CB4-B902-37F94E20E969}" type="slidenum">
              <a:rPr lang="en-US" smtClean="0"/>
              <a:pPr/>
              <a:t>19</a:t>
            </a:fld>
            <a:endParaRPr lang="en-US"/>
          </a:p>
        </p:txBody>
      </p:sp>
      <p:pic>
        <p:nvPicPr>
          <p:cNvPr id="7" name="Picture 6">
            <a:extLst>
              <a:ext uri="{FF2B5EF4-FFF2-40B4-BE49-F238E27FC236}">
                <a16:creationId xmlns:a16="http://schemas.microsoft.com/office/drawing/2014/main" id="{1D366538-0BAA-D19B-7EA6-76389DB608A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145086" y="3608350"/>
            <a:ext cx="2798284" cy="2098713"/>
          </a:xfrm>
          <a:prstGeom prst="rect">
            <a:avLst/>
          </a:prstGeom>
        </p:spPr>
      </p:pic>
      <p:pic>
        <p:nvPicPr>
          <p:cNvPr id="8" name="Picture 7" descr="A group of men posing for a photo&#10;&#10;AI-generated content may be incorrect.">
            <a:extLst>
              <a:ext uri="{FF2B5EF4-FFF2-40B4-BE49-F238E27FC236}">
                <a16:creationId xmlns:a16="http://schemas.microsoft.com/office/drawing/2014/main" id="{7BC6C4CA-018F-97EC-87CE-2742589566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45087" y="1448519"/>
            <a:ext cx="2798284" cy="2098713"/>
          </a:xfrm>
          <a:prstGeom prst="rect">
            <a:avLst/>
          </a:prstGeom>
        </p:spPr>
      </p:pic>
      <p:pic>
        <p:nvPicPr>
          <p:cNvPr id="2050" name="Picture 2">
            <a:extLst>
              <a:ext uri="{FF2B5EF4-FFF2-40B4-BE49-F238E27FC236}">
                <a16:creationId xmlns:a16="http://schemas.microsoft.com/office/drawing/2014/main" id="{2C4E5968-1B63-E351-E6C9-072A0572095E}"/>
              </a:ext>
            </a:extLst>
          </p:cNvPr>
          <p:cNvPicPr>
            <a:picLocks noChangeAspect="1" noChangeArrowheads="1"/>
          </p:cNvPicPr>
          <p:nvPr/>
        </p:nvPicPr>
        <p:blipFill rotWithShape="1">
          <a:blip r:embed="rId5" cstate="screen">
            <a:extLst>
              <a:ext uri="{BEBA8EAE-BF5A-486C-A8C5-ECC9F3942E4B}">
                <a14:imgProps xmlns:a14="http://schemas.microsoft.com/office/drawing/2010/main">
                  <a14:imgLayer r:embed="rId6">
                    <a14:imgEffect>
                      <a14:brightnessContrast contrast="20000"/>
                    </a14:imgEffect>
                  </a14:imgLayer>
                </a14:imgProps>
              </a:ext>
              <a:ext uri="{28A0092B-C50C-407E-A947-70E740481C1C}">
                <a14:useLocalDpi xmlns:a14="http://schemas.microsoft.com/office/drawing/2010/main"/>
              </a:ext>
            </a:extLst>
          </a:blip>
          <a:srcRect/>
          <a:stretch/>
        </p:blipFill>
        <p:spPr bwMode="auto">
          <a:xfrm>
            <a:off x="7620931" y="1448520"/>
            <a:ext cx="1428067" cy="2648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9BFD2ECD-EE06-5830-C1A6-F1052BA46DEF}"/>
              </a:ext>
            </a:extLst>
          </p:cNvPr>
          <p:cNvPicPr>
            <a:picLocks noChangeAspect="1" noChangeArrowheads="1"/>
          </p:cNvPicPr>
          <p:nvPr/>
        </p:nvPicPr>
        <p:blipFill rotWithShape="1">
          <a:blip r:embed="rId7" cstate="screen">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a:ext>
            </a:extLst>
          </a:blip>
          <a:srcRect l="-2"/>
          <a:stretch/>
        </p:blipFill>
        <p:spPr bwMode="auto">
          <a:xfrm>
            <a:off x="6096000" y="3065195"/>
            <a:ext cx="1428067" cy="2648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59954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2D71F3C3AD162418168A3D1EEC31C68" ma:contentTypeVersion="13" ma:contentTypeDescription="Create a new document." ma:contentTypeScope="" ma:versionID="bd4f02a2ef4b175d17b1596f2aa4b6ce">
  <xsd:schema xmlns:xsd="http://www.w3.org/2001/XMLSchema" xmlns:xs="http://www.w3.org/2001/XMLSchema" xmlns:p="http://schemas.microsoft.com/office/2006/metadata/properties" xmlns:ns1="http://schemas.microsoft.com/sharepoint/v3" xmlns:ns3="3cb15ddf-dbe9-47ea-851d-c70642058130" xmlns:ns4="4817ca35-7031-43a6-bda2-0d9832ef6347" targetNamespace="http://schemas.microsoft.com/office/2006/metadata/properties" ma:root="true" ma:fieldsID="75eaf6942e3198bc47429d20a20f83bf" ns1:_="" ns3:_="" ns4:_="">
    <xsd:import namespace="http://schemas.microsoft.com/sharepoint/v3"/>
    <xsd:import namespace="3cb15ddf-dbe9-47ea-851d-c70642058130"/>
    <xsd:import namespace="4817ca35-7031-43a6-bda2-0d9832ef634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4:SharedWithUsers" minOccurs="0"/>
                <xsd:element ref="ns4:SharedWithDetails" minOccurs="0"/>
                <xsd:element ref="ns4:SharingHintHash" minOccurs="0"/>
                <xsd:element ref="ns1:_ip_UnifiedCompliancePolicyProperties" minOccurs="0"/>
                <xsd:element ref="ns1:_ip_UnifiedCompliancePolicyUIActio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b15ddf-dbe9-47ea-851d-c706420581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817ca35-7031-43a6-bda2-0d9832ef634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357579D-3170-4028-9FF6-2B00D8EF8E36}">
  <ds:schemaRefs>
    <ds:schemaRef ds:uri="http://schemas.microsoft.com/sharepoint/v3/contenttype/forms"/>
  </ds:schemaRefs>
</ds:datastoreItem>
</file>

<file path=customXml/itemProps2.xml><?xml version="1.0" encoding="utf-8"?>
<ds:datastoreItem xmlns:ds="http://schemas.openxmlformats.org/officeDocument/2006/customXml" ds:itemID="{71A5D04F-A9C1-4A1D-87B5-0846A027D9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cb15ddf-dbe9-47ea-851d-c70642058130"/>
    <ds:schemaRef ds:uri="4817ca35-7031-43a6-bda2-0d9832ef63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72883E6-4E45-469D-A6CD-CBF4B7EC55C4}">
  <ds:schemaRefs>
    <ds:schemaRef ds:uri="4817ca35-7031-43a6-bda2-0d9832ef6347"/>
    <ds:schemaRef ds:uri="http://schemas.microsoft.com/sharepoint/v3"/>
    <ds:schemaRef ds:uri="http://purl.org/dc/terms/"/>
    <ds:schemaRef ds:uri="3cb15ddf-dbe9-47ea-851d-c70642058130"/>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7005d458-45be-48ae-8140-d43da96dd17b}" enabled="0" method="" siteId="{7005d458-45be-48ae-8140-d43da96dd17b}" removed="1"/>
</clbl:labelList>
</file>

<file path=docProps/app.xml><?xml version="1.0" encoding="utf-8"?>
<Properties xmlns="http://schemas.openxmlformats.org/officeDocument/2006/extended-properties" xmlns:vt="http://schemas.openxmlformats.org/officeDocument/2006/docPropsVTypes">
  <Template/>
  <TotalTime>39957</TotalTime>
  <Words>3006</Words>
  <Application>Microsoft Macintosh PowerPoint</Application>
  <PresentationFormat>Widescreen</PresentationFormat>
  <Paragraphs>553</Paragraphs>
  <Slides>19</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Aptos</vt:lpstr>
      <vt:lpstr>Arial</vt:lpstr>
      <vt:lpstr>Calibri</vt:lpstr>
      <vt:lpstr>Calibri Light</vt:lpstr>
      <vt:lpstr>Cambria Math</vt:lpstr>
      <vt:lpstr>Times New Roman</vt:lpstr>
      <vt:lpstr>Wingdings</vt:lpstr>
      <vt:lpstr>Office Theme</vt:lpstr>
      <vt:lpstr>2_Office Theme</vt:lpstr>
      <vt:lpstr>Mechanical Analysis of Sustainably Derived Resins &amp; Individual Natural Fibers for SUstainable Manufacturing of AirCraft (SUMAC) Composites</vt:lpstr>
      <vt:lpstr>Challenge</vt:lpstr>
      <vt:lpstr>Objective</vt:lpstr>
      <vt:lpstr>Approach</vt:lpstr>
      <vt:lpstr>Mechanical Testing of Individual Natural Fibers</vt:lpstr>
      <vt:lpstr>A Closer Look at Natural Fibers</vt:lpstr>
      <vt:lpstr>A Closer Look at Natural Fibers</vt:lpstr>
      <vt:lpstr>A Closer Look at Natural Fibers</vt:lpstr>
      <vt:lpstr>Individual Natural Fiber Tensile Testing Procedure</vt:lpstr>
      <vt:lpstr>Natural Fiber Mechanical Properties</vt:lpstr>
      <vt:lpstr>Natural Fiber Mechanical Properties</vt:lpstr>
      <vt:lpstr>PowerPoint Presentation</vt:lpstr>
      <vt:lpstr>Sustainably Derived Resins Mechanical Properties</vt:lpstr>
      <vt:lpstr>Image Segmentation &amp; Analysis</vt:lpstr>
      <vt:lpstr>DragonFly Software Image Segmentation</vt:lpstr>
      <vt:lpstr>Yarn Twist Angle Mechanical &amp; Image Analysis</vt:lpstr>
      <vt:lpstr>Results &amp; Analysis</vt:lpstr>
      <vt:lpstr>Next Steps/Outlook/Future Work</vt:lpstr>
      <vt:lpstr>Acknowledgements</vt:lpstr>
    </vt:vector>
  </TitlesOfParts>
  <Company>HPES ACES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Robbins, Samuel J. (LARC-D307)[UNIVERSITIES SPACE RESEARCH ASSOCIATION]</dc:creator>
  <cp:lastModifiedBy>Chu</cp:lastModifiedBy>
  <cp:revision>439</cp:revision>
  <dcterms:created xsi:type="dcterms:W3CDTF">2016-08-05T18:34:48Z</dcterms:created>
  <dcterms:modified xsi:type="dcterms:W3CDTF">2025-08-04T13:40:13Z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0x010100E2D71F3C3AD162418168A3D1EEC31C68</vt:lpwstr>
  </property>
</Properties>
</file>